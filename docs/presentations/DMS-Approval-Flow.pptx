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המשתמש בדף ה-DMS. 4 SharePoint. 5 ו-9 שירות התהליכים מזיז את הקובץ ונועל. 6-7 אישור לפי מטריצת המאשרים, בפיילוט במסך האישורים בדף ובייצור ב-Teams. 8 סטטוס מאושר. 10 מעקב. דחייה מחזירה לשלב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רישום, 2 הגשה, 3 הטריגר מזהה, 4 קריאת המטריצה, 5 מאשרי חובה, 6 מאשר סופי, 7 נעילה, 8 יומן ביקורת. דחייה בכל שלב מחזירה לבעבודה ונרשמת ביומן.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6F73"/>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457200"/>
          </a:xfrm>
          <a:prstGeom prst="rect">
            <a:avLst/>
          </a:prstGeom>
          <a:noFill/>
          <a:ln/>
        </p:spPr>
        <p:txBody>
          <a:bodyPr wrap="square" lIns="0" tIns="0" rIns="0" bIns="0" rtlCol="0" anchor="ctr"/>
          <a:lstStyle/>
          <a:p>
            <a:pPr rtl="1" algn="r" indent="0" marL="0">
              <a:buNone/>
            </a:pPr>
            <a:r>
              <a:rPr lang="he-IL" altLang="en-US" sz="1800" b="1" dirty="0">
                <a:solidFill>
                  <a:srgbClr val="CFE9E9"/>
                </a:solidFill>
                <a:latin typeface="Arial" pitchFamily="34" charset="0"/>
                <a:ea typeface="Arial" pitchFamily="34" charset="-122"/>
                <a:cs typeface="Arial" pitchFamily="34" charset="-120"/>
              </a:rPr>
              <a:t>DMS · פיילוט</a:t>
            </a:r>
            <a:endParaRPr lang="he-IL" sz="1800" dirty="0"/>
          </a:p>
        </p:txBody>
      </p:sp>
      <p:sp>
        <p:nvSpPr>
          <p:cNvPr id="3" name="Text 1"/>
          <p:cNvSpPr txBox="1"/>
          <p:nvPr/>
        </p:nvSpPr>
        <p:spPr>
          <a:xfrm>
            <a:off x="731520" y="2011680"/>
            <a:ext cx="10698480" cy="109728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תהליך הפיילוט</a:t>
            </a:r>
            <a:endParaRPr lang="he-IL" sz="4800" dirty="0"/>
          </a:p>
        </p:txBody>
      </p:sp>
      <p:sp>
        <p:nvSpPr>
          <p:cNvPr id="4" name="Text 2"/>
          <p:cNvSpPr txBox="1"/>
          <p:nvPr/>
        </p:nvSpPr>
        <p:spPr>
          <a:xfrm>
            <a:off x="731520" y="3200400"/>
            <a:ext cx="10698480" cy="548640"/>
          </a:xfrm>
          <a:prstGeom prst="rect">
            <a:avLst/>
          </a:prstGeom>
          <a:noFill/>
          <a:ln/>
        </p:spPr>
        <p:txBody>
          <a:bodyPr wrap="square" lIns="0" tIns="0" rIns="0" bIns="0" rtlCol="0" anchor="ctr"/>
          <a:lstStyle/>
          <a:p>
            <a:pPr rtl="1" algn="r" indent="0" marL="0">
              <a:buNone/>
            </a:pPr>
            <a:r>
              <a:rPr lang="he-IL" altLang="en-US" sz="2000" dirty="0">
                <a:solidFill>
                  <a:srgbClr val="E6F4F4"/>
                </a:solidFill>
                <a:latin typeface="Arial" pitchFamily="34" charset="0"/>
                <a:ea typeface="Arial" pitchFamily="34" charset="-122"/>
                <a:cs typeface="Arial" pitchFamily="34" charset="-120"/>
              </a:rPr>
              <a:t>RH - מערכת ניהול מסמכים: מהקובץ בשרת, דרך דף ה-DMS והאישור ב-Teams, ועד נעילה לקריאה בלבד</a:t>
            </a:r>
            <a:endParaRPr lang="he-IL" sz="2000" dirty="0"/>
          </a:p>
        </p:txBody>
      </p:sp>
      <p:sp>
        <p:nvSpPr>
          <p:cNvPr id="5" name="Text 3"/>
          <p:cNvSpPr txBox="1"/>
          <p:nvPr/>
        </p:nvSpPr>
        <p:spPr>
          <a:xfrm>
            <a:off x="731520" y="5760720"/>
            <a:ext cx="10698480" cy="365760"/>
          </a:xfrm>
          <a:prstGeom prst="rect">
            <a:avLst/>
          </a:prstGeom>
          <a:noFill/>
          <a:ln/>
        </p:spPr>
        <p:txBody>
          <a:bodyPr wrap="square" lIns="0" tIns="0" rIns="0" bIns="0" rtlCol="0" anchor="ctr"/>
          <a:lstStyle/>
          <a:p>
            <a:pPr algn="r" indent="0" marL="0">
              <a:buNone/>
            </a:pPr>
            <a:r>
              <a:rPr lang="en-US" sz="1400" dirty="0">
                <a:solidFill>
                  <a:srgbClr val="CFE9E9"/>
                </a:solidFill>
                <a:latin typeface="Arial" pitchFamily="34" charset="0"/>
                <a:ea typeface="Arial" pitchFamily="34" charset="-122"/>
                <a:cs typeface="Arial" pitchFamily="34" charset="-120"/>
              </a:rPr>
              <a:t>DMS page · SharePoint · Power Automate · Teams Approvals · Workflow Service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274320"/>
            <a:ext cx="11430000" cy="594360"/>
          </a:xfrm>
          <a:prstGeom prst="rect">
            <a:avLst/>
          </a:prstGeom>
          <a:noFill/>
          <a:ln/>
        </p:spPr>
        <p:txBody>
          <a:bodyPr wrap="square" lIns="0" tIns="0" rIns="0" bIns="0" rtlCol="0" anchor="ctr"/>
          <a:lstStyle/>
          <a:p>
            <a:pPr rtl="1" algn="r" indent="0" marL="0">
              <a:buNone/>
            </a:pPr>
            <a:r>
              <a:rPr lang="he-IL" altLang="en-US" sz="3000" b="1" dirty="0">
                <a:solidFill>
                  <a:srgbClr val="1B2A33"/>
                </a:solidFill>
                <a:latin typeface="Arial" pitchFamily="34" charset="0"/>
                <a:ea typeface="Arial" pitchFamily="34" charset="-122"/>
                <a:cs typeface="Arial" pitchFamily="34" charset="-120"/>
              </a:rPr>
              <a:t>תהליך הפיילוט מקצה לקצה</a:t>
            </a:r>
            <a:endParaRPr lang="he-IL" sz="3000" dirty="0"/>
          </a:p>
        </p:txBody>
      </p:sp>
      <p:sp>
        <p:nvSpPr>
          <p:cNvPr id="3" name="Text 1"/>
          <p:cNvSpPr txBox="1"/>
          <p:nvPr/>
        </p:nvSpPr>
        <p:spPr>
          <a:xfrm>
            <a:off x="365760" y="841248"/>
            <a:ext cx="11430000" cy="365760"/>
          </a:xfrm>
          <a:prstGeom prst="rect">
            <a:avLst/>
          </a:prstGeom>
          <a:noFill/>
          <a:ln/>
        </p:spPr>
        <p:txBody>
          <a:bodyPr wrap="square" lIns="0" tIns="0" rIns="0" bIns="0" rtlCol="0" anchor="ctr"/>
          <a:lstStyle/>
          <a:p>
            <a:pPr rtl="1" algn="r" indent="0" marL="0">
              <a:buNone/>
            </a:pPr>
            <a:r>
              <a:rPr lang="he-IL" altLang="en-US" sz="1400" dirty="0">
                <a:solidFill>
                  <a:srgbClr val="5D6F7A"/>
                </a:solidFill>
                <a:latin typeface="Arial" pitchFamily="34" charset="0"/>
                <a:ea typeface="Arial" pitchFamily="34" charset="-122"/>
                <a:cs typeface="Arial" pitchFamily="34" charset="-120"/>
              </a:rPr>
              <a:t>מהקובץ בשרת הקבצים, דרך דף ה-DMS והאישור ב-Teams, ועד הגרסה המאושרת לקריאה בלבד</a:t>
            </a:r>
            <a:endParaRPr lang="he-IL" sz="1400" dirty="0"/>
          </a:p>
        </p:txBody>
      </p:sp>
      <p:sp>
        <p:nvSpPr>
          <p:cNvPr id="4" name="Shape 2"/>
          <p:cNvSpPr/>
          <p:nvPr/>
        </p:nvSpPr>
        <p:spPr>
          <a:xfrm>
            <a:off x="9637776" y="1554480"/>
            <a:ext cx="1965960" cy="1463040"/>
          </a:xfrm>
          <a:prstGeom prst="roundRect">
            <a:avLst>
              <a:gd name="adj" fmla="val 5000"/>
            </a:avLst>
          </a:prstGeom>
          <a:solidFill>
            <a:srgbClr val="FFFFFF"/>
          </a:solidFill>
          <a:ln w="19050">
            <a:solidFill>
              <a:srgbClr val="0E6F73"/>
            </a:solidFill>
            <a:prstDash val="solid"/>
          </a:ln>
        </p:spPr>
      </p:sp>
      <p:sp>
        <p:nvSpPr>
          <p:cNvPr id="5" name="Shape 3"/>
          <p:cNvSpPr/>
          <p:nvPr/>
        </p:nvSpPr>
        <p:spPr>
          <a:xfrm>
            <a:off x="9656064" y="1572768"/>
            <a:ext cx="1929384" cy="310896"/>
          </a:xfrm>
          <a:prstGeom prst="rect">
            <a:avLst/>
          </a:prstGeom>
          <a:solidFill>
            <a:srgbClr val="0E6F73"/>
          </a:solidFill>
          <a:ln w="12700">
            <a:solidFill>
              <a:srgbClr val="0E6F73"/>
            </a:solidFill>
            <a:prstDash val="solid"/>
          </a:ln>
        </p:spPr>
      </p:sp>
      <p:sp>
        <p:nvSpPr>
          <p:cNvPr id="6" name="Text 4"/>
          <p:cNvSpPr txBox="1"/>
          <p:nvPr/>
        </p:nvSpPr>
        <p:spPr>
          <a:xfrm>
            <a:off x="9683496"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7" name="Shape 5"/>
          <p:cNvSpPr/>
          <p:nvPr/>
        </p:nvSpPr>
        <p:spPr>
          <a:xfrm>
            <a:off x="9710928" y="1591056"/>
            <a:ext cx="274320" cy="274320"/>
          </a:xfrm>
          <a:prstGeom prst="ellipse">
            <a:avLst/>
          </a:prstGeom>
          <a:solidFill>
            <a:srgbClr val="FFFFFF"/>
          </a:solidFill>
          <a:ln w="12700">
            <a:solidFill>
              <a:srgbClr val="FFFFFF"/>
            </a:solidFill>
            <a:prstDash val="solid"/>
          </a:ln>
        </p:spPr>
      </p:sp>
      <p:sp>
        <p:nvSpPr>
          <p:cNvPr id="8" name="Text 6"/>
          <p:cNvSpPr txBox="1"/>
          <p:nvPr/>
        </p:nvSpPr>
        <p:spPr>
          <a:xfrm>
            <a:off x="9710928"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1</a:t>
            </a:r>
            <a:endParaRPr lang="en-US" sz="1100" dirty="0"/>
          </a:p>
        </p:txBody>
      </p:sp>
      <p:sp>
        <p:nvSpPr>
          <p:cNvPr id="9" name="Text 7"/>
          <p:cNvSpPr txBox="1"/>
          <p:nvPr/>
        </p:nvSpPr>
        <p:spPr>
          <a:xfrm>
            <a:off x="9729216"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בחירת מיקום</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לקוח › תיקייה לפי עץ הבלופרינט, רק מה ש-AD מאפשר</a:t>
            </a:r>
            <a:endParaRPr lang="he-IL" sz="1250" dirty="0"/>
          </a:p>
        </p:txBody>
      </p:sp>
      <p:sp>
        <p:nvSpPr>
          <p:cNvPr id="10" name="Shape 8"/>
          <p:cNvSpPr/>
          <p:nvPr/>
        </p:nvSpPr>
        <p:spPr>
          <a:xfrm>
            <a:off x="7370064" y="1554480"/>
            <a:ext cx="1965960" cy="1463040"/>
          </a:xfrm>
          <a:prstGeom prst="roundRect">
            <a:avLst>
              <a:gd name="adj" fmla="val 5000"/>
            </a:avLst>
          </a:prstGeom>
          <a:solidFill>
            <a:srgbClr val="FFFFFF"/>
          </a:solidFill>
          <a:ln w="19050">
            <a:solidFill>
              <a:srgbClr val="0E6F73"/>
            </a:solidFill>
            <a:prstDash val="solid"/>
          </a:ln>
        </p:spPr>
      </p:sp>
      <p:sp>
        <p:nvSpPr>
          <p:cNvPr id="11" name="Shape 9"/>
          <p:cNvSpPr/>
          <p:nvPr/>
        </p:nvSpPr>
        <p:spPr>
          <a:xfrm>
            <a:off x="7388352" y="1572768"/>
            <a:ext cx="1929384" cy="310896"/>
          </a:xfrm>
          <a:prstGeom prst="rect">
            <a:avLst/>
          </a:prstGeom>
          <a:solidFill>
            <a:srgbClr val="0E6F73"/>
          </a:solidFill>
          <a:ln w="12700">
            <a:solidFill>
              <a:srgbClr val="0E6F73"/>
            </a:solidFill>
            <a:prstDash val="solid"/>
          </a:ln>
        </p:spPr>
      </p:sp>
      <p:sp>
        <p:nvSpPr>
          <p:cNvPr id="12" name="Text 10"/>
          <p:cNvSpPr txBox="1"/>
          <p:nvPr/>
        </p:nvSpPr>
        <p:spPr>
          <a:xfrm>
            <a:off x="7415784"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13" name="Shape 11"/>
          <p:cNvSpPr/>
          <p:nvPr/>
        </p:nvSpPr>
        <p:spPr>
          <a:xfrm>
            <a:off x="7443216" y="1591056"/>
            <a:ext cx="274320" cy="274320"/>
          </a:xfrm>
          <a:prstGeom prst="ellipse">
            <a:avLst/>
          </a:prstGeom>
          <a:solidFill>
            <a:srgbClr val="FFFFFF"/>
          </a:solidFill>
          <a:ln w="12700">
            <a:solidFill>
              <a:srgbClr val="FFFFFF"/>
            </a:solidFill>
            <a:prstDash val="solid"/>
          </a:ln>
        </p:spPr>
      </p:sp>
      <p:sp>
        <p:nvSpPr>
          <p:cNvPr id="14" name="Text 12"/>
          <p:cNvSpPr txBox="1"/>
          <p:nvPr/>
        </p:nvSpPr>
        <p:spPr>
          <a:xfrm>
            <a:off x="7443216"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2</a:t>
            </a:r>
            <a:endParaRPr lang="en-US" sz="1100" dirty="0"/>
          </a:p>
        </p:txBody>
      </p:sp>
      <p:sp>
        <p:nvSpPr>
          <p:cNvPr id="15" name="Text 13"/>
          <p:cNvSpPr txBox="1"/>
          <p:nvPr/>
        </p:nvSpPr>
        <p:spPr>
          <a:xfrm>
            <a:off x="7461504"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שמירת הקובץ</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העלאה לתיקייה (או "מה שומרים?"). הקובץ בתיקייה, בעבודה</a:t>
            </a:r>
            <a:endParaRPr lang="he-IL" sz="1250" dirty="0"/>
          </a:p>
        </p:txBody>
      </p:sp>
      <p:sp>
        <p:nvSpPr>
          <p:cNvPr id="16" name="Shape 14"/>
          <p:cNvSpPr/>
          <p:nvPr/>
        </p:nvSpPr>
        <p:spPr>
          <a:xfrm>
            <a:off x="5102352" y="1554480"/>
            <a:ext cx="1965960" cy="1463040"/>
          </a:xfrm>
          <a:prstGeom prst="roundRect">
            <a:avLst>
              <a:gd name="adj" fmla="val 5000"/>
            </a:avLst>
          </a:prstGeom>
          <a:solidFill>
            <a:srgbClr val="FFFFFF"/>
          </a:solidFill>
          <a:ln w="19050">
            <a:solidFill>
              <a:srgbClr val="0E6F73"/>
            </a:solidFill>
            <a:prstDash val="solid"/>
          </a:ln>
        </p:spPr>
      </p:sp>
      <p:sp>
        <p:nvSpPr>
          <p:cNvPr id="17" name="Shape 15"/>
          <p:cNvSpPr/>
          <p:nvPr/>
        </p:nvSpPr>
        <p:spPr>
          <a:xfrm>
            <a:off x="5120640" y="1572768"/>
            <a:ext cx="1929384" cy="310896"/>
          </a:xfrm>
          <a:prstGeom prst="rect">
            <a:avLst/>
          </a:prstGeom>
          <a:solidFill>
            <a:srgbClr val="0E6F73"/>
          </a:solidFill>
          <a:ln w="12700">
            <a:solidFill>
              <a:srgbClr val="0E6F73"/>
            </a:solidFill>
            <a:prstDash val="solid"/>
          </a:ln>
        </p:spPr>
      </p:sp>
      <p:sp>
        <p:nvSpPr>
          <p:cNvPr id="18" name="Text 16"/>
          <p:cNvSpPr txBox="1"/>
          <p:nvPr/>
        </p:nvSpPr>
        <p:spPr>
          <a:xfrm>
            <a:off x="5148072"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19" name="Shape 17"/>
          <p:cNvSpPr/>
          <p:nvPr/>
        </p:nvSpPr>
        <p:spPr>
          <a:xfrm>
            <a:off x="5175504" y="1591056"/>
            <a:ext cx="274320" cy="274320"/>
          </a:xfrm>
          <a:prstGeom prst="ellipse">
            <a:avLst/>
          </a:prstGeom>
          <a:solidFill>
            <a:srgbClr val="FFFFFF"/>
          </a:solidFill>
          <a:ln w="12700">
            <a:solidFill>
              <a:srgbClr val="FFFFFF"/>
            </a:solidFill>
            <a:prstDash val="solid"/>
          </a:ln>
        </p:spPr>
      </p:sp>
      <p:sp>
        <p:nvSpPr>
          <p:cNvPr id="20" name="Text 18"/>
          <p:cNvSpPr txBox="1"/>
          <p:nvPr/>
        </p:nvSpPr>
        <p:spPr>
          <a:xfrm>
            <a:off x="5175504" y="159105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3</a:t>
            </a:r>
            <a:endParaRPr lang="en-US" sz="1100" dirty="0"/>
          </a:p>
        </p:txBody>
      </p:sp>
      <p:sp>
        <p:nvSpPr>
          <p:cNvPr id="21" name="Text 19"/>
          <p:cNvSpPr txBox="1"/>
          <p:nvPr/>
        </p:nvSpPr>
        <p:spPr>
          <a:xfrm>
            <a:off x="5193792"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שליחה לאישור</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Start workflow: סוג מסמך, תחום, רישום והגשה</a:t>
            </a:r>
            <a:endParaRPr lang="he-IL" sz="1250" dirty="0"/>
          </a:p>
        </p:txBody>
      </p:sp>
      <p:sp>
        <p:nvSpPr>
          <p:cNvPr id="22" name="Shape 20"/>
          <p:cNvSpPr/>
          <p:nvPr/>
        </p:nvSpPr>
        <p:spPr>
          <a:xfrm>
            <a:off x="2834640" y="1554480"/>
            <a:ext cx="1965960" cy="1463040"/>
          </a:xfrm>
          <a:prstGeom prst="roundRect">
            <a:avLst>
              <a:gd name="adj" fmla="val 5000"/>
            </a:avLst>
          </a:prstGeom>
          <a:solidFill>
            <a:srgbClr val="FFFFFF"/>
          </a:solidFill>
          <a:ln w="19050">
            <a:solidFill>
              <a:srgbClr val="1F5FA8"/>
            </a:solidFill>
            <a:prstDash val="solid"/>
          </a:ln>
        </p:spPr>
      </p:sp>
      <p:sp>
        <p:nvSpPr>
          <p:cNvPr id="23" name="Shape 21"/>
          <p:cNvSpPr/>
          <p:nvPr/>
        </p:nvSpPr>
        <p:spPr>
          <a:xfrm>
            <a:off x="2852928" y="1572768"/>
            <a:ext cx="1929384" cy="310896"/>
          </a:xfrm>
          <a:prstGeom prst="rect">
            <a:avLst/>
          </a:prstGeom>
          <a:solidFill>
            <a:srgbClr val="1F5FA8"/>
          </a:solidFill>
          <a:ln w="12700">
            <a:solidFill>
              <a:srgbClr val="1F5FA8"/>
            </a:solidFill>
            <a:prstDash val="solid"/>
          </a:ln>
        </p:spPr>
      </p:sp>
      <p:sp>
        <p:nvSpPr>
          <p:cNvPr id="24" name="Text 22"/>
          <p:cNvSpPr txBox="1"/>
          <p:nvPr/>
        </p:nvSpPr>
        <p:spPr>
          <a:xfrm>
            <a:off x="2880360"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SharePoint</a:t>
            </a:r>
            <a:endParaRPr lang="he-IL" sz="1000" dirty="0"/>
          </a:p>
        </p:txBody>
      </p:sp>
      <p:sp>
        <p:nvSpPr>
          <p:cNvPr id="25" name="Shape 23"/>
          <p:cNvSpPr/>
          <p:nvPr/>
        </p:nvSpPr>
        <p:spPr>
          <a:xfrm>
            <a:off x="2907792" y="1591056"/>
            <a:ext cx="274320" cy="274320"/>
          </a:xfrm>
          <a:prstGeom prst="ellipse">
            <a:avLst/>
          </a:prstGeom>
          <a:solidFill>
            <a:srgbClr val="FFFFFF"/>
          </a:solidFill>
          <a:ln w="12700">
            <a:solidFill>
              <a:srgbClr val="FFFFFF"/>
            </a:solidFill>
            <a:prstDash val="solid"/>
          </a:ln>
        </p:spPr>
      </p:sp>
      <p:sp>
        <p:nvSpPr>
          <p:cNvPr id="26" name="Text 24"/>
          <p:cNvSpPr txBox="1"/>
          <p:nvPr/>
        </p:nvSpPr>
        <p:spPr>
          <a:xfrm>
            <a:off x="2907792" y="1591056"/>
            <a:ext cx="274320" cy="274320"/>
          </a:xfrm>
          <a:prstGeom prst="rect">
            <a:avLst/>
          </a:prstGeom>
          <a:noFill/>
          <a:ln/>
        </p:spPr>
        <p:txBody>
          <a:bodyPr wrap="square" lIns="0" tIns="0" rIns="0" bIns="0" rtlCol="0" anchor="ctr"/>
          <a:lstStyle/>
          <a:p>
            <a:pPr algn="ctr" indent="0" marL="0">
              <a:buNone/>
            </a:pPr>
            <a:r>
              <a:rPr lang="en-US" sz="1100" b="1" dirty="0">
                <a:solidFill>
                  <a:srgbClr val="1F5FA8"/>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2926080"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רשומה במרשם</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מזהה DMS-xxxxx, סטטוס: הוגש לאישור, יומן: נוצר + הוגש</a:t>
            </a:r>
            <a:endParaRPr lang="he-IL" sz="1250" dirty="0"/>
          </a:p>
        </p:txBody>
      </p:sp>
      <p:sp>
        <p:nvSpPr>
          <p:cNvPr id="28" name="Shape 26"/>
          <p:cNvSpPr/>
          <p:nvPr/>
        </p:nvSpPr>
        <p:spPr>
          <a:xfrm>
            <a:off x="566928" y="1554480"/>
            <a:ext cx="1965960" cy="1463040"/>
          </a:xfrm>
          <a:prstGeom prst="roundRect">
            <a:avLst>
              <a:gd name="adj" fmla="val 5000"/>
            </a:avLst>
          </a:prstGeom>
          <a:solidFill>
            <a:srgbClr val="FFFFFF"/>
          </a:solidFill>
          <a:ln w="19050">
            <a:solidFill>
              <a:srgbClr val="A86400"/>
            </a:solidFill>
            <a:prstDash val="solid"/>
          </a:ln>
        </p:spPr>
      </p:sp>
      <p:sp>
        <p:nvSpPr>
          <p:cNvPr id="29" name="Shape 27"/>
          <p:cNvSpPr/>
          <p:nvPr/>
        </p:nvSpPr>
        <p:spPr>
          <a:xfrm>
            <a:off x="585216" y="1572768"/>
            <a:ext cx="1929384" cy="310896"/>
          </a:xfrm>
          <a:prstGeom prst="rect">
            <a:avLst/>
          </a:prstGeom>
          <a:solidFill>
            <a:srgbClr val="A86400"/>
          </a:solidFill>
          <a:ln w="12700">
            <a:solidFill>
              <a:srgbClr val="A86400"/>
            </a:solidFill>
            <a:prstDash val="solid"/>
          </a:ln>
        </p:spPr>
      </p:sp>
      <p:sp>
        <p:nvSpPr>
          <p:cNvPr id="30" name="Text 28"/>
          <p:cNvSpPr txBox="1"/>
          <p:nvPr/>
        </p:nvSpPr>
        <p:spPr>
          <a:xfrm>
            <a:off x="612648" y="157276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שירות התהליכים</a:t>
            </a:r>
            <a:endParaRPr lang="he-IL" sz="1000" dirty="0"/>
          </a:p>
        </p:txBody>
      </p:sp>
      <p:sp>
        <p:nvSpPr>
          <p:cNvPr id="31" name="Shape 29"/>
          <p:cNvSpPr/>
          <p:nvPr/>
        </p:nvSpPr>
        <p:spPr>
          <a:xfrm>
            <a:off x="640080" y="1591056"/>
            <a:ext cx="274320" cy="274320"/>
          </a:xfrm>
          <a:prstGeom prst="ellipse">
            <a:avLst/>
          </a:prstGeom>
          <a:solidFill>
            <a:srgbClr val="FFFFFF"/>
          </a:solidFill>
          <a:ln w="12700">
            <a:solidFill>
              <a:srgbClr val="FFFFFF"/>
            </a:solidFill>
            <a:prstDash val="solid"/>
          </a:ln>
        </p:spPr>
      </p:sp>
      <p:sp>
        <p:nvSpPr>
          <p:cNvPr id="32" name="Text 30"/>
          <p:cNvSpPr txBox="1"/>
          <p:nvPr/>
        </p:nvSpPr>
        <p:spPr>
          <a:xfrm>
            <a:off x="640080" y="1591056"/>
            <a:ext cx="274320" cy="274320"/>
          </a:xfrm>
          <a:prstGeom prst="rect">
            <a:avLst/>
          </a:prstGeom>
          <a:noFill/>
          <a:ln/>
        </p:spPr>
        <p:txBody>
          <a:bodyPr wrap="square" lIns="0" tIns="0" rIns="0" bIns="0" rtlCol="0" anchor="ctr"/>
          <a:lstStyle/>
          <a:p>
            <a:pPr algn="ctr" indent="0" marL="0">
              <a:buNone/>
            </a:pPr>
            <a:r>
              <a:rPr lang="en-US" sz="1100" b="1" dirty="0">
                <a:solidFill>
                  <a:srgbClr val="A86400"/>
                </a:solidFill>
                <a:latin typeface="Arial" pitchFamily="34" charset="0"/>
                <a:ea typeface="Arial" pitchFamily="34" charset="-122"/>
                <a:cs typeface="Arial" pitchFamily="34" charset="-120"/>
              </a:rPr>
              <a:t>5</a:t>
            </a:r>
            <a:endParaRPr lang="en-US" sz="1100" dirty="0"/>
          </a:p>
        </p:txBody>
      </p:sp>
      <p:sp>
        <p:nvSpPr>
          <p:cNvPr id="33" name="Text 31"/>
          <p:cNvSpPr txBox="1"/>
          <p:nvPr/>
        </p:nvSpPr>
        <p:spPr>
          <a:xfrm>
            <a:off x="658368" y="193852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נעילה להגשה</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הקובץ עובר ל-Submitted, קריאה בלבד, SHA-256</a:t>
            </a:r>
            <a:endParaRPr lang="he-IL" sz="1250" dirty="0"/>
          </a:p>
        </p:txBody>
      </p:sp>
      <p:sp>
        <p:nvSpPr>
          <p:cNvPr id="34" name="Shape 32"/>
          <p:cNvSpPr/>
          <p:nvPr/>
        </p:nvSpPr>
        <p:spPr>
          <a:xfrm flipH="1">
            <a:off x="9336024" y="2286000"/>
            <a:ext cx="301752" cy="0"/>
          </a:xfrm>
          <a:prstGeom prst="line">
            <a:avLst/>
          </a:prstGeom>
          <a:noFill/>
          <a:ln w="22225">
            <a:solidFill>
              <a:srgbClr val="1B2A33"/>
            </a:solidFill>
            <a:prstDash val="solid"/>
            <a:tailEnd type="triangle"/>
          </a:ln>
        </p:spPr>
      </p:sp>
      <p:sp>
        <p:nvSpPr>
          <p:cNvPr id="35" name="Shape 33"/>
          <p:cNvSpPr/>
          <p:nvPr/>
        </p:nvSpPr>
        <p:spPr>
          <a:xfrm flipH="1">
            <a:off x="7068312" y="2286000"/>
            <a:ext cx="301752" cy="0"/>
          </a:xfrm>
          <a:prstGeom prst="line">
            <a:avLst/>
          </a:prstGeom>
          <a:noFill/>
          <a:ln w="22225">
            <a:solidFill>
              <a:srgbClr val="1B2A33"/>
            </a:solidFill>
            <a:prstDash val="solid"/>
            <a:tailEnd type="triangle"/>
          </a:ln>
        </p:spPr>
      </p:sp>
      <p:sp>
        <p:nvSpPr>
          <p:cNvPr id="36" name="Shape 34"/>
          <p:cNvSpPr/>
          <p:nvPr/>
        </p:nvSpPr>
        <p:spPr>
          <a:xfrm flipH="1">
            <a:off x="4800600" y="2286000"/>
            <a:ext cx="301752" cy="0"/>
          </a:xfrm>
          <a:prstGeom prst="line">
            <a:avLst/>
          </a:prstGeom>
          <a:noFill/>
          <a:ln w="22225">
            <a:solidFill>
              <a:srgbClr val="1B2A33"/>
            </a:solidFill>
            <a:prstDash val="solid"/>
            <a:tailEnd type="triangle"/>
          </a:ln>
        </p:spPr>
      </p:sp>
      <p:sp>
        <p:nvSpPr>
          <p:cNvPr id="37" name="Shape 35"/>
          <p:cNvSpPr/>
          <p:nvPr/>
        </p:nvSpPr>
        <p:spPr>
          <a:xfrm flipH="1">
            <a:off x="2532888" y="2286000"/>
            <a:ext cx="301752" cy="0"/>
          </a:xfrm>
          <a:prstGeom prst="line">
            <a:avLst/>
          </a:prstGeom>
          <a:noFill/>
          <a:ln w="22225">
            <a:solidFill>
              <a:srgbClr val="1B2A33"/>
            </a:solidFill>
            <a:prstDash val="solid"/>
            <a:tailEnd type="triangle"/>
          </a:ln>
        </p:spPr>
      </p:sp>
      <p:sp>
        <p:nvSpPr>
          <p:cNvPr id="38" name="Shape 36"/>
          <p:cNvSpPr/>
          <p:nvPr/>
        </p:nvSpPr>
        <p:spPr>
          <a:xfrm>
            <a:off x="1549908" y="3017520"/>
            <a:ext cx="0" cy="868680"/>
          </a:xfrm>
          <a:prstGeom prst="line">
            <a:avLst/>
          </a:prstGeom>
          <a:noFill/>
          <a:ln w="22225">
            <a:solidFill>
              <a:srgbClr val="1B2A33"/>
            </a:solidFill>
            <a:prstDash val="solid"/>
            <a:tailEnd type="triangle"/>
          </a:ln>
        </p:spPr>
      </p:sp>
      <p:sp>
        <p:nvSpPr>
          <p:cNvPr id="39" name="Shape 37"/>
          <p:cNvSpPr/>
          <p:nvPr/>
        </p:nvSpPr>
        <p:spPr>
          <a:xfrm>
            <a:off x="566928" y="3886200"/>
            <a:ext cx="1965960" cy="1463040"/>
          </a:xfrm>
          <a:prstGeom prst="roundRect">
            <a:avLst>
              <a:gd name="adj" fmla="val 5000"/>
            </a:avLst>
          </a:prstGeom>
          <a:solidFill>
            <a:srgbClr val="FFFFFF"/>
          </a:solidFill>
          <a:ln w="19050">
            <a:solidFill>
              <a:srgbClr val="6D3FC0"/>
            </a:solidFill>
            <a:prstDash val="solid"/>
          </a:ln>
        </p:spPr>
      </p:sp>
      <p:sp>
        <p:nvSpPr>
          <p:cNvPr id="40" name="Shape 38"/>
          <p:cNvSpPr/>
          <p:nvPr/>
        </p:nvSpPr>
        <p:spPr>
          <a:xfrm>
            <a:off x="585216" y="3904488"/>
            <a:ext cx="1929384" cy="310896"/>
          </a:xfrm>
          <a:prstGeom prst="rect">
            <a:avLst/>
          </a:prstGeom>
          <a:solidFill>
            <a:srgbClr val="6D3FC0"/>
          </a:solidFill>
          <a:ln w="12700">
            <a:solidFill>
              <a:srgbClr val="6D3FC0"/>
            </a:solidFill>
            <a:prstDash val="solid"/>
          </a:ln>
        </p:spPr>
      </p:sp>
      <p:sp>
        <p:nvSpPr>
          <p:cNvPr id="41" name="Text 39"/>
          <p:cNvSpPr txBox="1"/>
          <p:nvPr/>
        </p:nvSpPr>
        <p:spPr>
          <a:xfrm>
            <a:off x="612648"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מאשרים · דף DMS / Teams</a:t>
            </a:r>
            <a:endParaRPr lang="he-IL" sz="1000" dirty="0"/>
          </a:p>
        </p:txBody>
      </p:sp>
      <p:sp>
        <p:nvSpPr>
          <p:cNvPr id="42" name="Shape 40"/>
          <p:cNvSpPr/>
          <p:nvPr/>
        </p:nvSpPr>
        <p:spPr>
          <a:xfrm>
            <a:off x="640080" y="3922776"/>
            <a:ext cx="274320" cy="274320"/>
          </a:xfrm>
          <a:prstGeom prst="ellipse">
            <a:avLst/>
          </a:prstGeom>
          <a:solidFill>
            <a:srgbClr val="FFFFFF"/>
          </a:solidFill>
          <a:ln w="12700">
            <a:solidFill>
              <a:srgbClr val="FFFFFF"/>
            </a:solidFill>
            <a:prstDash val="solid"/>
          </a:ln>
        </p:spPr>
      </p:sp>
      <p:sp>
        <p:nvSpPr>
          <p:cNvPr id="43" name="Text 41"/>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100" b="1" dirty="0">
                <a:solidFill>
                  <a:srgbClr val="6D3FC0"/>
                </a:solidFill>
                <a:latin typeface="Arial" pitchFamily="34" charset="0"/>
                <a:ea typeface="Arial" pitchFamily="34" charset="-122"/>
                <a:cs typeface="Arial" pitchFamily="34" charset="-120"/>
              </a:rPr>
              <a:t>6</a:t>
            </a:r>
            <a:endParaRPr lang="en-US" sz="1100" dirty="0"/>
          </a:p>
        </p:txBody>
      </p:sp>
      <p:sp>
        <p:nvSpPr>
          <p:cNvPr id="44" name="Text 42"/>
          <p:cNvSpPr txBox="1"/>
          <p:nvPr/>
        </p:nvSpPr>
        <p:spPr>
          <a:xfrm>
            <a:off x="658368"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אישור שלב 1</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כל מאשרי החובה לפי מטריצת המאשרים, במסך האישורים בדף</a:t>
            </a:r>
            <a:endParaRPr lang="he-IL" sz="1250" dirty="0"/>
          </a:p>
        </p:txBody>
      </p:sp>
      <p:sp>
        <p:nvSpPr>
          <p:cNvPr id="45" name="Shape 43"/>
          <p:cNvSpPr/>
          <p:nvPr/>
        </p:nvSpPr>
        <p:spPr>
          <a:xfrm>
            <a:off x="2834640" y="3886200"/>
            <a:ext cx="1965960" cy="1463040"/>
          </a:xfrm>
          <a:prstGeom prst="roundRect">
            <a:avLst>
              <a:gd name="adj" fmla="val 5000"/>
            </a:avLst>
          </a:prstGeom>
          <a:solidFill>
            <a:srgbClr val="FFFFFF"/>
          </a:solidFill>
          <a:ln w="19050">
            <a:solidFill>
              <a:srgbClr val="6D3FC0"/>
            </a:solidFill>
            <a:prstDash val="solid"/>
          </a:ln>
        </p:spPr>
      </p:sp>
      <p:sp>
        <p:nvSpPr>
          <p:cNvPr id="46" name="Shape 44"/>
          <p:cNvSpPr/>
          <p:nvPr/>
        </p:nvSpPr>
        <p:spPr>
          <a:xfrm>
            <a:off x="2852928" y="3904488"/>
            <a:ext cx="1929384" cy="310896"/>
          </a:xfrm>
          <a:prstGeom prst="rect">
            <a:avLst/>
          </a:prstGeom>
          <a:solidFill>
            <a:srgbClr val="6D3FC0"/>
          </a:solidFill>
          <a:ln w="12700">
            <a:solidFill>
              <a:srgbClr val="6D3FC0"/>
            </a:solidFill>
            <a:prstDash val="solid"/>
          </a:ln>
        </p:spPr>
      </p:sp>
      <p:sp>
        <p:nvSpPr>
          <p:cNvPr id="47" name="Text 45"/>
          <p:cNvSpPr txBox="1"/>
          <p:nvPr/>
        </p:nvSpPr>
        <p:spPr>
          <a:xfrm>
            <a:off x="2880360"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מאשרים · דף DMS / Teams</a:t>
            </a:r>
            <a:endParaRPr lang="he-IL" sz="1000" dirty="0"/>
          </a:p>
        </p:txBody>
      </p:sp>
      <p:sp>
        <p:nvSpPr>
          <p:cNvPr id="48" name="Shape 46"/>
          <p:cNvSpPr/>
          <p:nvPr/>
        </p:nvSpPr>
        <p:spPr>
          <a:xfrm>
            <a:off x="2907792" y="3922776"/>
            <a:ext cx="274320" cy="274320"/>
          </a:xfrm>
          <a:prstGeom prst="ellipse">
            <a:avLst/>
          </a:prstGeom>
          <a:solidFill>
            <a:srgbClr val="FFFFFF"/>
          </a:solidFill>
          <a:ln w="12700">
            <a:solidFill>
              <a:srgbClr val="FFFFFF"/>
            </a:solidFill>
            <a:prstDash val="solid"/>
          </a:ln>
        </p:spPr>
      </p:sp>
      <p:sp>
        <p:nvSpPr>
          <p:cNvPr id="49" name="Text 47"/>
          <p:cNvSpPr txBox="1"/>
          <p:nvPr/>
        </p:nvSpPr>
        <p:spPr>
          <a:xfrm>
            <a:off x="2907792" y="3922776"/>
            <a:ext cx="274320" cy="274320"/>
          </a:xfrm>
          <a:prstGeom prst="rect">
            <a:avLst/>
          </a:prstGeom>
          <a:noFill/>
          <a:ln/>
        </p:spPr>
        <p:txBody>
          <a:bodyPr wrap="square" lIns="0" tIns="0" rIns="0" bIns="0" rtlCol="0" anchor="ctr"/>
          <a:lstStyle/>
          <a:p>
            <a:pPr algn="ctr" indent="0" marL="0">
              <a:buNone/>
            </a:pPr>
            <a:r>
              <a:rPr lang="en-US" sz="1100" b="1" dirty="0">
                <a:solidFill>
                  <a:srgbClr val="6D3FC0"/>
                </a:solidFill>
                <a:latin typeface="Arial" pitchFamily="34" charset="0"/>
                <a:ea typeface="Arial" pitchFamily="34" charset="-122"/>
                <a:cs typeface="Arial" pitchFamily="34" charset="-120"/>
              </a:rPr>
              <a:t>7</a:t>
            </a:r>
            <a:endParaRPr lang="en-US" sz="1100" dirty="0"/>
          </a:p>
        </p:txBody>
      </p:sp>
      <p:sp>
        <p:nvSpPr>
          <p:cNvPr id="50" name="Text 48"/>
          <p:cNvSpPr txBox="1"/>
          <p:nvPr/>
        </p:nvSpPr>
        <p:spPr>
          <a:xfrm>
            <a:off x="2926080"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אישור סופי</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המאשר הסופי, במסך האישורים בדף</a:t>
            </a:r>
            <a:endParaRPr lang="he-IL" sz="1250" dirty="0"/>
          </a:p>
        </p:txBody>
      </p:sp>
      <p:sp>
        <p:nvSpPr>
          <p:cNvPr id="51" name="Shape 49"/>
          <p:cNvSpPr/>
          <p:nvPr/>
        </p:nvSpPr>
        <p:spPr>
          <a:xfrm>
            <a:off x="5102352" y="3886200"/>
            <a:ext cx="1965960" cy="1463040"/>
          </a:xfrm>
          <a:prstGeom prst="roundRect">
            <a:avLst>
              <a:gd name="adj" fmla="val 5000"/>
            </a:avLst>
          </a:prstGeom>
          <a:solidFill>
            <a:srgbClr val="FFFFFF"/>
          </a:solidFill>
          <a:ln w="19050">
            <a:solidFill>
              <a:srgbClr val="1F5FA8"/>
            </a:solidFill>
            <a:prstDash val="solid"/>
          </a:ln>
        </p:spPr>
      </p:sp>
      <p:sp>
        <p:nvSpPr>
          <p:cNvPr id="52" name="Shape 50"/>
          <p:cNvSpPr/>
          <p:nvPr/>
        </p:nvSpPr>
        <p:spPr>
          <a:xfrm>
            <a:off x="5120640" y="3904488"/>
            <a:ext cx="1929384" cy="310896"/>
          </a:xfrm>
          <a:prstGeom prst="rect">
            <a:avLst/>
          </a:prstGeom>
          <a:solidFill>
            <a:srgbClr val="1F5FA8"/>
          </a:solidFill>
          <a:ln w="12700">
            <a:solidFill>
              <a:srgbClr val="1F5FA8"/>
            </a:solidFill>
            <a:prstDash val="solid"/>
          </a:ln>
        </p:spPr>
      </p:sp>
      <p:sp>
        <p:nvSpPr>
          <p:cNvPr id="53" name="Text 51"/>
          <p:cNvSpPr txBox="1"/>
          <p:nvPr/>
        </p:nvSpPr>
        <p:spPr>
          <a:xfrm>
            <a:off x="5148072"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SharePoint</a:t>
            </a:r>
            <a:endParaRPr lang="he-IL" sz="1000" dirty="0"/>
          </a:p>
        </p:txBody>
      </p:sp>
      <p:sp>
        <p:nvSpPr>
          <p:cNvPr id="54" name="Shape 52"/>
          <p:cNvSpPr/>
          <p:nvPr/>
        </p:nvSpPr>
        <p:spPr>
          <a:xfrm>
            <a:off x="5175504" y="3922776"/>
            <a:ext cx="274320" cy="274320"/>
          </a:xfrm>
          <a:prstGeom prst="ellipse">
            <a:avLst/>
          </a:prstGeom>
          <a:solidFill>
            <a:srgbClr val="FFFFFF"/>
          </a:solidFill>
          <a:ln w="12700">
            <a:solidFill>
              <a:srgbClr val="FFFFFF"/>
            </a:solidFill>
            <a:prstDash val="solid"/>
          </a:ln>
        </p:spPr>
      </p:sp>
      <p:sp>
        <p:nvSpPr>
          <p:cNvPr id="55" name="Text 53"/>
          <p:cNvSpPr txBox="1"/>
          <p:nvPr/>
        </p:nvSpPr>
        <p:spPr>
          <a:xfrm>
            <a:off x="5175504" y="3922776"/>
            <a:ext cx="274320" cy="274320"/>
          </a:xfrm>
          <a:prstGeom prst="rect">
            <a:avLst/>
          </a:prstGeom>
          <a:noFill/>
          <a:ln/>
        </p:spPr>
        <p:txBody>
          <a:bodyPr wrap="square" lIns="0" tIns="0" rIns="0" bIns="0" rtlCol="0" anchor="ctr"/>
          <a:lstStyle/>
          <a:p>
            <a:pPr algn="ctr" indent="0" marL="0">
              <a:buNone/>
            </a:pPr>
            <a:r>
              <a:rPr lang="en-US" sz="1100" b="1" dirty="0">
                <a:solidFill>
                  <a:srgbClr val="1F5FA8"/>
                </a:solidFill>
                <a:latin typeface="Arial" pitchFamily="34" charset="0"/>
                <a:ea typeface="Arial" pitchFamily="34" charset="-122"/>
                <a:cs typeface="Arial" pitchFamily="34" charset="-120"/>
              </a:rPr>
              <a:t>8</a:t>
            </a:r>
            <a:endParaRPr lang="en-US" sz="1100" dirty="0"/>
          </a:p>
        </p:txBody>
      </p:sp>
      <p:sp>
        <p:nvSpPr>
          <p:cNvPr id="56" name="Text 54"/>
          <p:cNvSpPr txBox="1"/>
          <p:nvPr/>
        </p:nvSpPr>
        <p:spPr>
          <a:xfrm>
            <a:off x="5193792"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מאושר</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סטטוס: מאושר - קריאה בלבד, ההחלטה ביומן הביקורת</a:t>
            </a:r>
            <a:endParaRPr lang="he-IL" sz="1250" dirty="0"/>
          </a:p>
        </p:txBody>
      </p:sp>
      <p:sp>
        <p:nvSpPr>
          <p:cNvPr id="57" name="Shape 55"/>
          <p:cNvSpPr/>
          <p:nvPr/>
        </p:nvSpPr>
        <p:spPr>
          <a:xfrm>
            <a:off x="7370064" y="3886200"/>
            <a:ext cx="1965960" cy="1463040"/>
          </a:xfrm>
          <a:prstGeom prst="roundRect">
            <a:avLst>
              <a:gd name="adj" fmla="val 5000"/>
            </a:avLst>
          </a:prstGeom>
          <a:solidFill>
            <a:srgbClr val="FFFFFF"/>
          </a:solidFill>
          <a:ln w="19050">
            <a:solidFill>
              <a:srgbClr val="A86400"/>
            </a:solidFill>
            <a:prstDash val="solid"/>
          </a:ln>
        </p:spPr>
      </p:sp>
      <p:sp>
        <p:nvSpPr>
          <p:cNvPr id="58" name="Shape 56"/>
          <p:cNvSpPr/>
          <p:nvPr/>
        </p:nvSpPr>
        <p:spPr>
          <a:xfrm>
            <a:off x="7388352" y="3904488"/>
            <a:ext cx="1929384" cy="310896"/>
          </a:xfrm>
          <a:prstGeom prst="rect">
            <a:avLst/>
          </a:prstGeom>
          <a:solidFill>
            <a:srgbClr val="A86400"/>
          </a:solidFill>
          <a:ln w="12700">
            <a:solidFill>
              <a:srgbClr val="A86400"/>
            </a:solidFill>
            <a:prstDash val="solid"/>
          </a:ln>
        </p:spPr>
      </p:sp>
      <p:sp>
        <p:nvSpPr>
          <p:cNvPr id="59" name="Text 57"/>
          <p:cNvSpPr txBox="1"/>
          <p:nvPr/>
        </p:nvSpPr>
        <p:spPr>
          <a:xfrm>
            <a:off x="7415784"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שירות התהליכים</a:t>
            </a:r>
            <a:endParaRPr lang="he-IL" sz="1000" dirty="0"/>
          </a:p>
        </p:txBody>
      </p:sp>
      <p:sp>
        <p:nvSpPr>
          <p:cNvPr id="60" name="Shape 58"/>
          <p:cNvSpPr/>
          <p:nvPr/>
        </p:nvSpPr>
        <p:spPr>
          <a:xfrm>
            <a:off x="7443216" y="3922776"/>
            <a:ext cx="274320" cy="274320"/>
          </a:xfrm>
          <a:prstGeom prst="ellipse">
            <a:avLst/>
          </a:prstGeom>
          <a:solidFill>
            <a:srgbClr val="FFFFFF"/>
          </a:solidFill>
          <a:ln w="12700">
            <a:solidFill>
              <a:srgbClr val="FFFFFF"/>
            </a:solidFill>
            <a:prstDash val="solid"/>
          </a:ln>
        </p:spPr>
      </p:sp>
      <p:sp>
        <p:nvSpPr>
          <p:cNvPr id="61" name="Text 59"/>
          <p:cNvSpPr txBox="1"/>
          <p:nvPr/>
        </p:nvSpPr>
        <p:spPr>
          <a:xfrm>
            <a:off x="7443216" y="3922776"/>
            <a:ext cx="274320" cy="274320"/>
          </a:xfrm>
          <a:prstGeom prst="rect">
            <a:avLst/>
          </a:prstGeom>
          <a:noFill/>
          <a:ln/>
        </p:spPr>
        <p:txBody>
          <a:bodyPr wrap="square" lIns="0" tIns="0" rIns="0" bIns="0" rtlCol="0" anchor="ctr"/>
          <a:lstStyle/>
          <a:p>
            <a:pPr algn="ctr" indent="0" marL="0">
              <a:buNone/>
            </a:pPr>
            <a:r>
              <a:rPr lang="en-US" sz="1100" b="1" dirty="0">
                <a:solidFill>
                  <a:srgbClr val="A86400"/>
                </a:solidFill>
                <a:latin typeface="Arial" pitchFamily="34" charset="0"/>
                <a:ea typeface="Arial" pitchFamily="34" charset="-122"/>
                <a:cs typeface="Arial" pitchFamily="34" charset="-120"/>
              </a:rPr>
              <a:t>9</a:t>
            </a:r>
            <a:endParaRPr lang="en-US" sz="1100" dirty="0"/>
          </a:p>
        </p:txBody>
      </p:sp>
      <p:sp>
        <p:nvSpPr>
          <p:cNvPr id="62" name="Text 60"/>
          <p:cNvSpPr txBox="1"/>
          <p:nvPr/>
        </p:nvSpPr>
        <p:spPr>
          <a:xfrm>
            <a:off x="7461504"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גרסה נוכחית</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הקובץ ל-Current_ReadOnly, הקודם ל-Obsolete_ReadOnly, נתיב + SHA-256 למרשם</a:t>
            </a:r>
            <a:endParaRPr lang="he-IL" sz="1250" dirty="0"/>
          </a:p>
        </p:txBody>
      </p:sp>
      <p:sp>
        <p:nvSpPr>
          <p:cNvPr id="63" name="Shape 61"/>
          <p:cNvSpPr/>
          <p:nvPr/>
        </p:nvSpPr>
        <p:spPr>
          <a:xfrm>
            <a:off x="9637776" y="3886200"/>
            <a:ext cx="1965960" cy="1463040"/>
          </a:xfrm>
          <a:prstGeom prst="roundRect">
            <a:avLst>
              <a:gd name="adj" fmla="val 5000"/>
            </a:avLst>
          </a:prstGeom>
          <a:solidFill>
            <a:srgbClr val="FFFFFF"/>
          </a:solidFill>
          <a:ln w="19050">
            <a:solidFill>
              <a:srgbClr val="0E6F73"/>
            </a:solidFill>
            <a:prstDash val="solid"/>
          </a:ln>
        </p:spPr>
      </p:sp>
      <p:sp>
        <p:nvSpPr>
          <p:cNvPr id="64" name="Shape 62"/>
          <p:cNvSpPr/>
          <p:nvPr/>
        </p:nvSpPr>
        <p:spPr>
          <a:xfrm>
            <a:off x="9656064" y="3904488"/>
            <a:ext cx="1929384" cy="310896"/>
          </a:xfrm>
          <a:prstGeom prst="rect">
            <a:avLst/>
          </a:prstGeom>
          <a:solidFill>
            <a:srgbClr val="0E6F73"/>
          </a:solidFill>
          <a:ln w="12700">
            <a:solidFill>
              <a:srgbClr val="0E6F73"/>
            </a:solidFill>
            <a:prstDash val="solid"/>
          </a:ln>
        </p:spPr>
      </p:sp>
      <p:sp>
        <p:nvSpPr>
          <p:cNvPr id="65" name="Text 63"/>
          <p:cNvSpPr txBox="1"/>
          <p:nvPr/>
        </p:nvSpPr>
        <p:spPr>
          <a:xfrm>
            <a:off x="9683496" y="3904488"/>
            <a:ext cx="1463040" cy="310896"/>
          </a:xfrm>
          <a:prstGeom prst="rect">
            <a:avLst/>
          </a:prstGeom>
          <a:noFill/>
          <a:ln/>
        </p:spPr>
        <p:txBody>
          <a:bodyPr wrap="square" lIns="0" tIns="0" rIns="0" bIns="0" rtlCol="0" anchor="ctr"/>
          <a:lstStyle/>
          <a:p>
            <a:pPr rtl="1" algn="r" indent="0" marL="0">
              <a:buNone/>
            </a:pPr>
            <a:r>
              <a:rPr lang="he-IL" altLang="en-US" sz="1000" b="1" dirty="0">
                <a:solidFill>
                  <a:srgbClr val="FFFFFF"/>
                </a:solidFill>
                <a:latin typeface="Arial" pitchFamily="34" charset="0"/>
                <a:ea typeface="Arial" pitchFamily="34" charset="-122"/>
                <a:cs typeface="Arial" pitchFamily="34" charset="-120"/>
              </a:rPr>
              <a:t>משתמש · דף DMS</a:t>
            </a:r>
            <a:endParaRPr lang="he-IL" sz="1000" dirty="0"/>
          </a:p>
        </p:txBody>
      </p:sp>
      <p:sp>
        <p:nvSpPr>
          <p:cNvPr id="66" name="Shape 64"/>
          <p:cNvSpPr/>
          <p:nvPr/>
        </p:nvSpPr>
        <p:spPr>
          <a:xfrm>
            <a:off x="9710928" y="3922776"/>
            <a:ext cx="274320" cy="274320"/>
          </a:xfrm>
          <a:prstGeom prst="ellipse">
            <a:avLst/>
          </a:prstGeom>
          <a:solidFill>
            <a:srgbClr val="FFFFFF"/>
          </a:solidFill>
          <a:ln w="12700">
            <a:solidFill>
              <a:srgbClr val="FFFFFF"/>
            </a:solidFill>
            <a:prstDash val="solid"/>
          </a:ln>
        </p:spPr>
      </p:sp>
      <p:sp>
        <p:nvSpPr>
          <p:cNvPr id="67" name="Text 65"/>
          <p:cNvSpPr txBox="1"/>
          <p:nvPr/>
        </p:nvSpPr>
        <p:spPr>
          <a:xfrm>
            <a:off x="9710928" y="3922776"/>
            <a:ext cx="274320" cy="274320"/>
          </a:xfrm>
          <a:prstGeom prst="rect">
            <a:avLst/>
          </a:prstGeom>
          <a:noFill/>
          <a:ln/>
        </p:spPr>
        <p:txBody>
          <a:bodyPr wrap="square" lIns="0" tIns="0" rIns="0" bIns="0" rtlCol="0" anchor="ctr"/>
          <a:lstStyle/>
          <a:p>
            <a:pPr algn="ctr" indent="0" marL="0">
              <a:buNone/>
            </a:pPr>
            <a:r>
              <a:rPr lang="en-US" sz="1100" b="1" dirty="0">
                <a:solidFill>
                  <a:srgbClr val="0E6F73"/>
                </a:solidFill>
                <a:latin typeface="Arial" pitchFamily="34" charset="0"/>
                <a:ea typeface="Arial" pitchFamily="34" charset="-122"/>
                <a:cs typeface="Arial" pitchFamily="34" charset="-120"/>
              </a:rPr>
              <a:t>10</a:t>
            </a:r>
            <a:endParaRPr lang="en-US" sz="1100" dirty="0"/>
          </a:p>
        </p:txBody>
      </p:sp>
      <p:sp>
        <p:nvSpPr>
          <p:cNvPr id="68" name="Text 66"/>
          <p:cNvSpPr txBox="1"/>
          <p:nvPr/>
        </p:nvSpPr>
        <p:spPr>
          <a:xfrm>
            <a:off x="9729216" y="4270248"/>
            <a:ext cx="1783080" cy="1005840"/>
          </a:xfrm>
          <a:prstGeom prst="rect">
            <a:avLst/>
          </a:prstGeom>
          <a:noFill/>
          <a:ln/>
        </p:spPr>
        <p:txBody>
          <a:bodyPr wrap="square" lIns="0" tIns="0" rIns="0" bIns="0" rtlCol="0" anchor="t"/>
          <a:lstStyle/>
          <a:p>
            <a:pPr algn="r" indent="0" marL="0">
              <a:buNone/>
            </a:pPr>
            <a:r>
              <a:rPr lang="he-IL" altLang="en-US" sz="1250" b="1" dirty="0">
                <a:solidFill>
                  <a:srgbClr val="1B2A33"/>
                </a:solidFill>
                <a:latin typeface="Arial" pitchFamily="34" charset="0"/>
                <a:ea typeface="Arial" pitchFamily="34" charset="-122"/>
                <a:cs typeface="Arial" pitchFamily="34" charset="-120"/>
              </a:rPr>
              <a:t>מעקב וחיפוש</a:t>
            </a:r>
            <a:endParaRPr lang="he-IL" sz="1250" dirty="0"/>
          </a:p>
          <a:p>
            <a:pPr algn="r" indent="0" marL="0">
              <a:buNone/>
            </a:pPr>
            <a:r>
              <a:rPr lang="he-IL" altLang="en-US" sz="1000" dirty="0">
                <a:solidFill>
                  <a:srgbClr val="5D6F7A"/>
                </a:solidFill>
                <a:latin typeface="Arial" pitchFamily="34" charset="0"/>
                <a:ea typeface="Arial" pitchFamily="34" charset="-122"/>
                <a:cs typeface="Arial" pitchFamily="34" charset="-120"/>
              </a:rPr>
              <a:t>תהליכי האישור שלי, סטטוס על כל קובץ, חיפוש ו-AI Insights</a:t>
            </a:r>
            <a:endParaRPr lang="he-IL" sz="1250" dirty="0"/>
          </a:p>
        </p:txBody>
      </p:sp>
      <p:sp>
        <p:nvSpPr>
          <p:cNvPr id="69" name="Shape 67"/>
          <p:cNvSpPr/>
          <p:nvPr/>
        </p:nvSpPr>
        <p:spPr>
          <a:xfrm>
            <a:off x="2532888" y="4617720"/>
            <a:ext cx="301752" cy="0"/>
          </a:xfrm>
          <a:prstGeom prst="line">
            <a:avLst/>
          </a:prstGeom>
          <a:noFill/>
          <a:ln w="22225">
            <a:solidFill>
              <a:srgbClr val="2F7D32"/>
            </a:solidFill>
            <a:prstDash val="solid"/>
            <a:tailEnd type="triangle"/>
          </a:ln>
        </p:spPr>
      </p:sp>
      <p:sp>
        <p:nvSpPr>
          <p:cNvPr id="70" name="Shape 68"/>
          <p:cNvSpPr/>
          <p:nvPr/>
        </p:nvSpPr>
        <p:spPr>
          <a:xfrm>
            <a:off x="4800600" y="4617720"/>
            <a:ext cx="301752" cy="0"/>
          </a:xfrm>
          <a:prstGeom prst="line">
            <a:avLst/>
          </a:prstGeom>
          <a:noFill/>
          <a:ln w="22225">
            <a:solidFill>
              <a:srgbClr val="2F7D32"/>
            </a:solidFill>
            <a:prstDash val="solid"/>
            <a:tailEnd type="triangle"/>
          </a:ln>
        </p:spPr>
      </p:sp>
      <p:sp>
        <p:nvSpPr>
          <p:cNvPr id="71" name="Shape 69"/>
          <p:cNvSpPr/>
          <p:nvPr/>
        </p:nvSpPr>
        <p:spPr>
          <a:xfrm>
            <a:off x="7068312" y="4617720"/>
            <a:ext cx="301752" cy="0"/>
          </a:xfrm>
          <a:prstGeom prst="line">
            <a:avLst/>
          </a:prstGeom>
          <a:noFill/>
          <a:ln w="22225">
            <a:solidFill>
              <a:srgbClr val="1B2A33"/>
            </a:solidFill>
            <a:prstDash val="solid"/>
            <a:tailEnd type="triangle"/>
          </a:ln>
        </p:spPr>
      </p:sp>
      <p:sp>
        <p:nvSpPr>
          <p:cNvPr id="72" name="Shape 70"/>
          <p:cNvSpPr/>
          <p:nvPr/>
        </p:nvSpPr>
        <p:spPr>
          <a:xfrm>
            <a:off x="9336024" y="4617720"/>
            <a:ext cx="301752" cy="0"/>
          </a:xfrm>
          <a:prstGeom prst="line">
            <a:avLst/>
          </a:prstGeom>
          <a:noFill/>
          <a:ln w="22225">
            <a:solidFill>
              <a:srgbClr val="1B2A33"/>
            </a:solidFill>
            <a:prstDash val="solid"/>
            <a:tailEnd type="triangle"/>
          </a:ln>
        </p:spPr>
      </p:sp>
      <p:sp>
        <p:nvSpPr>
          <p:cNvPr id="73" name="Shape 71"/>
          <p:cNvSpPr/>
          <p:nvPr/>
        </p:nvSpPr>
        <p:spPr>
          <a:xfrm>
            <a:off x="566928" y="5641848"/>
            <a:ext cx="4233672" cy="566928"/>
          </a:xfrm>
          <a:prstGeom prst="roundRect">
            <a:avLst>
              <a:gd name="adj" fmla="val 12903"/>
            </a:avLst>
          </a:prstGeom>
          <a:solidFill>
            <a:srgbClr val="FBE4E2"/>
          </a:solidFill>
          <a:ln w="15875">
            <a:solidFill>
              <a:srgbClr val="B3261E"/>
            </a:solidFill>
            <a:prstDash val="dash"/>
          </a:ln>
        </p:spPr>
      </p:sp>
      <p:sp>
        <p:nvSpPr>
          <p:cNvPr id="74" name="Text 72"/>
          <p:cNvSpPr txBox="1"/>
          <p:nvPr/>
        </p:nvSpPr>
        <p:spPr>
          <a:xfrm>
            <a:off x="658368" y="5641848"/>
            <a:ext cx="4050792" cy="566928"/>
          </a:xfrm>
          <a:prstGeom prst="rect">
            <a:avLst/>
          </a:prstGeom>
          <a:noFill/>
          <a:ln/>
        </p:spPr>
        <p:txBody>
          <a:bodyPr wrap="square" lIns="0" tIns="0" rIns="0" bIns="0" rtlCol="0" anchor="ctr"/>
          <a:lstStyle/>
          <a:p>
            <a:pPr rtl="1" algn="r" indent="0" marL="0">
              <a:buNone/>
            </a:pPr>
            <a:r>
              <a:rPr lang="he-IL" altLang="en-US" sz="1000" dirty="0">
                <a:solidFill>
                  <a:srgbClr val="B3261E"/>
                </a:solidFill>
                <a:latin typeface="Arial" pitchFamily="34" charset="0"/>
                <a:ea typeface="Arial" pitchFamily="34" charset="-122"/>
                <a:cs typeface="Arial" pitchFamily="34" charset="-120"/>
              </a:rPr>
              <a:t>נדחה בשלב 1 או 2: הסטטוס חוזר לבעבודה, הקובץ חוזר למקומו וניתן לעריכה, ההערה מופיעה בתהליכי האישור שלי. מתקנים ושולחים שוב (שלב 3).</a:t>
            </a:r>
            <a:endParaRPr lang="he-IL" sz="1000" dirty="0"/>
          </a:p>
        </p:txBody>
      </p:sp>
      <p:sp>
        <p:nvSpPr>
          <p:cNvPr id="75" name="Shape 73"/>
          <p:cNvSpPr/>
          <p:nvPr/>
        </p:nvSpPr>
        <p:spPr>
          <a:xfrm>
            <a:off x="1549908" y="5349240"/>
            <a:ext cx="0" cy="292608"/>
          </a:xfrm>
          <a:prstGeom prst="line">
            <a:avLst/>
          </a:prstGeom>
          <a:noFill/>
          <a:ln w="22225">
            <a:solidFill>
              <a:srgbClr val="B3261E"/>
            </a:solidFill>
            <a:prstDash val="dash"/>
            <a:tailEnd type="triangle"/>
          </a:ln>
        </p:spPr>
      </p:sp>
      <p:sp>
        <p:nvSpPr>
          <p:cNvPr id="76" name="Shape 74"/>
          <p:cNvSpPr/>
          <p:nvPr/>
        </p:nvSpPr>
        <p:spPr>
          <a:xfrm>
            <a:off x="3817620" y="5349240"/>
            <a:ext cx="0" cy="292608"/>
          </a:xfrm>
          <a:prstGeom prst="line">
            <a:avLst/>
          </a:prstGeom>
          <a:noFill/>
          <a:ln w="22225">
            <a:solidFill>
              <a:srgbClr val="B3261E"/>
            </a:solidFill>
            <a:prstDash val="dash"/>
            <a:tailEnd type="triangle"/>
          </a:ln>
        </p:spPr>
      </p:sp>
      <p:sp>
        <p:nvSpPr>
          <p:cNvPr id="77" name="Shape 75"/>
          <p:cNvSpPr/>
          <p:nvPr/>
        </p:nvSpPr>
        <p:spPr>
          <a:xfrm>
            <a:off x="11905488" y="6355080"/>
            <a:ext cx="201168" cy="201168"/>
          </a:xfrm>
          <a:prstGeom prst="rect">
            <a:avLst/>
          </a:prstGeom>
          <a:solidFill>
            <a:srgbClr val="0E6F73"/>
          </a:solidFill>
          <a:ln w="12700">
            <a:solidFill>
              <a:srgbClr val="0E6F73"/>
            </a:solidFill>
            <a:prstDash val="solid"/>
          </a:ln>
        </p:spPr>
      </p:sp>
      <p:sp>
        <p:nvSpPr>
          <p:cNvPr id="78" name="Text 76"/>
          <p:cNvSpPr txBox="1"/>
          <p:nvPr/>
        </p:nvSpPr>
        <p:spPr>
          <a:xfrm>
            <a:off x="104698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משתמש · דף DMS</a:t>
            </a:r>
            <a:endParaRPr lang="he-IL" sz="1000" dirty="0"/>
          </a:p>
        </p:txBody>
      </p:sp>
      <p:sp>
        <p:nvSpPr>
          <p:cNvPr id="79" name="Shape 77"/>
          <p:cNvSpPr/>
          <p:nvPr/>
        </p:nvSpPr>
        <p:spPr>
          <a:xfrm>
            <a:off x="10076688" y="6355080"/>
            <a:ext cx="201168" cy="201168"/>
          </a:xfrm>
          <a:prstGeom prst="rect">
            <a:avLst/>
          </a:prstGeom>
          <a:solidFill>
            <a:srgbClr val="6B7684"/>
          </a:solidFill>
          <a:ln w="12700">
            <a:solidFill>
              <a:srgbClr val="6B7684"/>
            </a:solidFill>
            <a:prstDash val="solid"/>
          </a:ln>
        </p:spPr>
      </p:sp>
      <p:sp>
        <p:nvSpPr>
          <p:cNvPr id="80" name="Text 78"/>
          <p:cNvSpPr txBox="1"/>
          <p:nvPr/>
        </p:nvSpPr>
        <p:spPr>
          <a:xfrm>
            <a:off x="86410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שרת הקבצים</a:t>
            </a:r>
            <a:endParaRPr lang="he-IL" sz="1000" dirty="0"/>
          </a:p>
        </p:txBody>
      </p:sp>
      <p:sp>
        <p:nvSpPr>
          <p:cNvPr id="81" name="Shape 79"/>
          <p:cNvSpPr/>
          <p:nvPr/>
        </p:nvSpPr>
        <p:spPr>
          <a:xfrm>
            <a:off x="8247888" y="6355080"/>
            <a:ext cx="201168" cy="201168"/>
          </a:xfrm>
          <a:prstGeom prst="rect">
            <a:avLst/>
          </a:prstGeom>
          <a:solidFill>
            <a:srgbClr val="1F5FA8"/>
          </a:solidFill>
          <a:ln w="12700">
            <a:solidFill>
              <a:srgbClr val="1F5FA8"/>
            </a:solidFill>
            <a:prstDash val="solid"/>
          </a:ln>
        </p:spPr>
      </p:sp>
      <p:sp>
        <p:nvSpPr>
          <p:cNvPr id="82" name="Text 80"/>
          <p:cNvSpPr txBox="1"/>
          <p:nvPr/>
        </p:nvSpPr>
        <p:spPr>
          <a:xfrm>
            <a:off x="68122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SharePoint</a:t>
            </a:r>
            <a:endParaRPr lang="he-IL" sz="1000" dirty="0"/>
          </a:p>
        </p:txBody>
      </p:sp>
      <p:sp>
        <p:nvSpPr>
          <p:cNvPr id="83" name="Shape 81"/>
          <p:cNvSpPr/>
          <p:nvPr/>
        </p:nvSpPr>
        <p:spPr>
          <a:xfrm>
            <a:off x="6419088" y="6355080"/>
            <a:ext cx="201168" cy="201168"/>
          </a:xfrm>
          <a:prstGeom prst="rect">
            <a:avLst/>
          </a:prstGeom>
          <a:solidFill>
            <a:srgbClr val="6D3FC0"/>
          </a:solidFill>
          <a:ln w="12700">
            <a:solidFill>
              <a:srgbClr val="6D3FC0"/>
            </a:solidFill>
            <a:prstDash val="solid"/>
          </a:ln>
        </p:spPr>
      </p:sp>
      <p:sp>
        <p:nvSpPr>
          <p:cNvPr id="84" name="Text 82"/>
          <p:cNvSpPr txBox="1"/>
          <p:nvPr/>
        </p:nvSpPr>
        <p:spPr>
          <a:xfrm>
            <a:off x="49834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מאשרים · דף DMS / Teams</a:t>
            </a:r>
            <a:endParaRPr lang="he-IL" sz="1000" dirty="0"/>
          </a:p>
        </p:txBody>
      </p:sp>
      <p:sp>
        <p:nvSpPr>
          <p:cNvPr id="85" name="Shape 83"/>
          <p:cNvSpPr/>
          <p:nvPr/>
        </p:nvSpPr>
        <p:spPr>
          <a:xfrm>
            <a:off x="4590288" y="6355080"/>
            <a:ext cx="201168" cy="201168"/>
          </a:xfrm>
          <a:prstGeom prst="rect">
            <a:avLst/>
          </a:prstGeom>
          <a:solidFill>
            <a:srgbClr val="A86400"/>
          </a:solidFill>
          <a:ln w="12700">
            <a:solidFill>
              <a:srgbClr val="A86400"/>
            </a:solidFill>
            <a:prstDash val="solid"/>
          </a:ln>
        </p:spPr>
      </p:sp>
      <p:sp>
        <p:nvSpPr>
          <p:cNvPr id="86" name="Text 84"/>
          <p:cNvSpPr txBox="1"/>
          <p:nvPr/>
        </p:nvSpPr>
        <p:spPr>
          <a:xfrm>
            <a:off x="3154680" y="6309360"/>
            <a:ext cx="1389888" cy="292608"/>
          </a:xfrm>
          <a:prstGeom prst="rect">
            <a:avLst/>
          </a:prstGeom>
          <a:noFill/>
          <a:ln/>
        </p:spPr>
        <p:txBody>
          <a:bodyPr wrap="square" lIns="0" tIns="0" rIns="0" bIns="0" rtlCol="0" anchor="ctr"/>
          <a:lstStyle/>
          <a:p>
            <a:pPr rtl="1" algn="r" indent="0" marL="0">
              <a:buNone/>
            </a:pPr>
            <a:r>
              <a:rPr lang="he-IL" altLang="en-US" sz="1000" dirty="0">
                <a:solidFill>
                  <a:srgbClr val="5D6F7A"/>
                </a:solidFill>
                <a:latin typeface="Arial" pitchFamily="34" charset="0"/>
                <a:ea typeface="Arial" pitchFamily="34" charset="-122"/>
                <a:cs typeface="Arial" pitchFamily="34" charset="-120"/>
              </a:rPr>
              <a:t>שירות התהליכים</a:t>
            </a:r>
            <a:endParaRPr lang="he-IL" sz="1000" dirty="0"/>
          </a:p>
        </p:txBody>
      </p:sp>
      <p:sp>
        <p:nvSpPr>
          <p:cNvPr id="87" name="Text 85"/>
          <p:cNvSpPr txBox="1"/>
          <p:nvPr/>
        </p:nvSpPr>
        <p:spPr>
          <a:xfrm>
            <a:off x="6400800" y="5943600"/>
            <a:ext cx="5394960" cy="320040"/>
          </a:xfrm>
          <a:prstGeom prst="rect">
            <a:avLst/>
          </a:prstGeom>
          <a:noFill/>
          <a:ln/>
        </p:spPr>
        <p:txBody>
          <a:bodyPr wrap="square" lIns="0" tIns="0" rIns="0" bIns="0" rtlCol="0" anchor="ctr"/>
          <a:lstStyle/>
          <a:p>
            <a:pPr rtl="1" algn="r" indent="0" marL="0">
              <a:buNone/>
            </a:pPr>
            <a:r>
              <a:rPr lang="he-IL" altLang="en-US" sz="1050" dirty="0">
                <a:solidFill>
                  <a:srgbClr val="5D6F7A"/>
                </a:solidFill>
                <a:latin typeface="Arial" pitchFamily="34" charset="0"/>
                <a:ea typeface="Arial" pitchFamily="34" charset="-122"/>
                <a:cs typeface="Arial" pitchFamily="34" charset="-120"/>
              </a:rPr>
              <a:t>בפיילוט כל השלבים מתבצעים בדף ה-DMS, גם האישורים (תהליך DC-P1 כבוי). בייצור האישורים יגיעו ב-Teams.</a:t>
            </a:r>
            <a:endParaRPr lang="he-IL"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8580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איפה הקובץ בכל שלב</a:t>
            </a:r>
            <a:endParaRPr lang="he-IL"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463040"/>
                <a:gridCol w="6035040"/>
                <a:gridCol w="3200400"/>
              </a:tblGrid>
              <a:tr h="566928">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קריאה בלבד</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מיקום הקובץ (דוגמה: הצעות מחיר)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c>
                  <a:txBody>
                    <a:bodyPr/>
                    <a:lstStyle/>
                    <a:p>
                      <a:pPr algn="r" indent="0" marL="0">
                        <a:buNone/>
                      </a:pPr>
                      <a:r>
                        <a:rPr lang="en-US" sz="1400" b="1" dirty="0">
                          <a:solidFill>
                            <a:srgbClr val="FFFFFF"/>
                          </a:solidFill>
                          <a:latin typeface="Arial" pitchFamily="34" charset="0"/>
                          <a:ea typeface="Arial" pitchFamily="34" charset="-122"/>
                          <a:cs typeface="Arial" pitchFamily="34" charset="-120"/>
                        </a:rPr>
                        <a:t>סטטוס במרשם</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0E6F73"/>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לא</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...\Commercial\Quotations\Quote.xlsx (היכן שנשמר)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בעבודה</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...\Quotations\Submitted\Quote.xlsx</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הוגש לאישור</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...\Quotations\Current_ReadOnly\Quote.xlsx</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מאושר - קריאה בלבד</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כן</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...\Quotations\Obsolete_ReadOnly\...</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גרסה מאושרת קודמת</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r h="566928">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$Root\04_Workflow_System\Recycle\&lt;תאריך&gt;\&lt;משתמש&gt;\...</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3"/>
                          </a:solidFill>
                          <a:latin typeface="Arial" pitchFamily="34" charset="0"/>
                          <a:ea typeface="Arial" pitchFamily="34" charset="-122"/>
                          <a:cs typeface="Arial" pitchFamily="34" charset="-120"/>
                        </a:rPr>
                        <a:t>נמחק מהדף</a:t>
                      </a:r>
                      <a:endParaRPr lang="en-US" sz="1400" dirty="0">
                        <a:latin typeface="Arial" charset="0"/>
                        <a:ea typeface="Arial" charset="0"/>
                        <a:cs typeface="Arial" charset="0"/>
                      </a:endParaRPr>
                    </a:p>
                  </a:txBody>
                  <a:tcPr marL="91440" marR="91440" marT="45720" marB="45720" anchor="ctr">
                    <a:lnL w="12700" cap="flat" cmpd="sng" algn="ctr">
                      <a:solidFill>
                        <a:srgbClr val="C9D3D9"/>
                      </a:solidFill>
                      <a:prstDash val="solid"/>
                      <a:round/>
                      <a:headEnd type="none" w="med" len="med"/>
                      <a:tailEnd type="none" w="med" len="med"/>
                    </a:lnL>
                    <a:lnR w="12700" cap="flat" cmpd="sng" algn="ctr">
                      <a:solidFill>
                        <a:srgbClr val="C9D3D9"/>
                      </a:solidFill>
                      <a:prstDash val="solid"/>
                      <a:round/>
                      <a:headEnd type="none" w="med" len="med"/>
                      <a:tailEnd type="none" w="med" len="med"/>
                    </a:lnR>
                    <a:lnT w="12700" cap="flat" cmpd="sng" algn="ctr">
                      <a:solidFill>
                        <a:srgbClr val="C9D3D9"/>
                      </a:solidFill>
                      <a:prstDash val="solid"/>
                      <a:round/>
                      <a:headEnd type="none" w="med" len="med"/>
                      <a:tailEnd type="none" w="med" len="med"/>
                    </a:lnT>
                    <a:lnB w="12700" cap="flat" cmpd="sng" algn="ctr">
                      <a:solidFill>
                        <a:srgbClr val="C9D3D9"/>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5120640"/>
            <a:ext cx="10698480" cy="822960"/>
          </a:xfrm>
          <a:prstGeom prst="rect">
            <a:avLst/>
          </a:prstGeom>
          <a:noFill/>
          <a:ln/>
        </p:spPr>
        <p:txBody>
          <a:bodyPr wrap="square" lIns="0" tIns="0" rIns="0" bIns="0" rtlCol="0" anchor="t"/>
          <a:lstStyle/>
          <a:p>
            <a:pPr rtl="1" algn="r" indent="0" marL="0">
              <a:buNone/>
            </a:pPr>
            <a:r>
              <a:rPr lang="he-IL" altLang="en-US" sz="1400" dirty="0">
                <a:solidFill>
                  <a:srgbClr val="5D6F7A"/>
                </a:solidFill>
                <a:latin typeface="Arial" pitchFamily="34" charset="0"/>
                <a:ea typeface="Arial" pitchFamily="34" charset="-122"/>
                <a:cs typeface="Arial" pitchFamily="34" charset="-120"/>
              </a:rPr>
              <a:t>שירות התהליכים מזיז את הקובץ לפי הסטטוס, נועל אותו לקריאה בלבד ורושם כל העברה ביומן הביקורת. הוא לעולם לא מעדכן רשומה בזמן שהיא הוגשה לאישור, כך שתהליך האישור לא מופעל פעמיים.</a:t>
            </a:r>
            <a:endParaRPr lang="he-IL"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320040"/>
            <a:ext cx="11430000" cy="640080"/>
          </a:xfrm>
          <a:prstGeom prst="rect">
            <a:avLst/>
          </a:prstGeom>
          <a:noFill/>
          <a:ln/>
        </p:spPr>
        <p:txBody>
          <a:bodyPr wrap="square" lIns="0" tIns="0" rIns="0" bIns="0" rtlCol="0" anchor="ctr"/>
          <a:lstStyle/>
          <a:p>
            <a:pPr rtl="1" algn="r" indent="0" marL="0">
              <a:buNone/>
            </a:pPr>
            <a:r>
              <a:rPr lang="he-IL" altLang="en-US" sz="3200" b="1" dirty="0">
                <a:solidFill>
                  <a:srgbClr val="1B2A33"/>
                </a:solidFill>
                <a:latin typeface="Arial" pitchFamily="34" charset="0"/>
                <a:ea typeface="Arial" pitchFamily="34" charset="-122"/>
                <a:cs typeface="Arial" pitchFamily="34" charset="-120"/>
              </a:rPr>
              <a:t>תהליך האישור (פירוט)</a:t>
            </a:r>
            <a:endParaRPr lang="he-IL" sz="3200" dirty="0"/>
          </a:p>
        </p:txBody>
      </p:sp>
      <p:sp>
        <p:nvSpPr>
          <p:cNvPr id="3" name="Shape 1"/>
          <p:cNvSpPr/>
          <p:nvPr/>
        </p:nvSpPr>
        <p:spPr>
          <a:xfrm>
            <a:off x="365760" y="1188720"/>
            <a:ext cx="11301984" cy="1036015"/>
          </a:xfrm>
          <a:prstGeom prst="rect">
            <a:avLst/>
          </a:prstGeom>
          <a:solidFill>
            <a:srgbClr val="EEF3F5"/>
          </a:solidFill>
          <a:ln w="12700">
            <a:solidFill>
              <a:srgbClr val="EEF3F5"/>
            </a:solidFill>
            <a:prstDash val="solid"/>
          </a:ln>
        </p:spPr>
      </p:sp>
      <p:sp>
        <p:nvSpPr>
          <p:cNvPr id="4" name="Text 2"/>
          <p:cNvSpPr txBox="1"/>
          <p:nvPr/>
        </p:nvSpPr>
        <p:spPr>
          <a:xfrm>
            <a:off x="10490454" y="1188720"/>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בעל המסמך</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מגיש ומקבל תוצאה</a:t>
            </a:r>
            <a:endParaRPr lang="he-IL" sz="1300" dirty="0"/>
          </a:p>
        </p:txBody>
      </p:sp>
      <p:sp>
        <p:nvSpPr>
          <p:cNvPr id="5" name="Shape 3"/>
          <p:cNvSpPr/>
          <p:nvPr/>
        </p:nvSpPr>
        <p:spPr>
          <a:xfrm>
            <a:off x="365760" y="2224735"/>
            <a:ext cx="11301984" cy="1036015"/>
          </a:xfrm>
          <a:prstGeom prst="rect">
            <a:avLst/>
          </a:prstGeom>
          <a:solidFill>
            <a:srgbClr val="F8FAFB"/>
          </a:solidFill>
          <a:ln w="12700">
            <a:solidFill>
              <a:srgbClr val="F8FAFB"/>
            </a:solidFill>
            <a:prstDash val="solid"/>
          </a:ln>
        </p:spPr>
      </p:sp>
      <p:sp>
        <p:nvSpPr>
          <p:cNvPr id="6" name="Text 4"/>
          <p:cNvSpPr txBox="1"/>
          <p:nvPr/>
        </p:nvSpPr>
        <p:spPr>
          <a:xfrm>
            <a:off x="10490454" y="2224735"/>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SharePoint</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רשימות האתר</a:t>
            </a:r>
            <a:endParaRPr lang="he-IL" sz="1300" dirty="0"/>
          </a:p>
        </p:txBody>
      </p:sp>
      <p:sp>
        <p:nvSpPr>
          <p:cNvPr id="7" name="Shape 5"/>
          <p:cNvSpPr/>
          <p:nvPr/>
        </p:nvSpPr>
        <p:spPr>
          <a:xfrm>
            <a:off x="365760" y="3260750"/>
            <a:ext cx="11301984" cy="1036015"/>
          </a:xfrm>
          <a:prstGeom prst="rect">
            <a:avLst/>
          </a:prstGeom>
          <a:solidFill>
            <a:srgbClr val="EEF3F5"/>
          </a:solidFill>
          <a:ln w="12700">
            <a:solidFill>
              <a:srgbClr val="EEF3F5"/>
            </a:solidFill>
            <a:prstDash val="solid"/>
          </a:ln>
        </p:spPr>
      </p:sp>
      <p:sp>
        <p:nvSpPr>
          <p:cNvPr id="8" name="Text 6"/>
          <p:cNvSpPr txBox="1"/>
          <p:nvPr/>
        </p:nvSpPr>
        <p:spPr>
          <a:xfrm>
            <a:off x="10490454" y="3260750"/>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Power Automate</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DC-P1 Pilot Approval</a:t>
            </a:r>
            <a:endParaRPr lang="he-IL" sz="1300" dirty="0"/>
          </a:p>
        </p:txBody>
      </p:sp>
      <p:sp>
        <p:nvSpPr>
          <p:cNvPr id="9" name="Shape 7"/>
          <p:cNvSpPr/>
          <p:nvPr/>
        </p:nvSpPr>
        <p:spPr>
          <a:xfrm>
            <a:off x="365760" y="4296766"/>
            <a:ext cx="11301984" cy="1036015"/>
          </a:xfrm>
          <a:prstGeom prst="rect">
            <a:avLst/>
          </a:prstGeom>
          <a:solidFill>
            <a:srgbClr val="F8FAFB"/>
          </a:solidFill>
          <a:ln w="12700">
            <a:solidFill>
              <a:srgbClr val="F8FAFB"/>
            </a:solidFill>
            <a:prstDash val="solid"/>
          </a:ln>
        </p:spPr>
      </p:sp>
      <p:sp>
        <p:nvSpPr>
          <p:cNvPr id="10" name="Text 8"/>
          <p:cNvSpPr txBox="1"/>
          <p:nvPr/>
        </p:nvSpPr>
        <p:spPr>
          <a:xfrm>
            <a:off x="10490454" y="4296766"/>
            <a:ext cx="1130198" cy="1036015"/>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מאשרי חובה</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Teams ומייל</a:t>
            </a:r>
            <a:endParaRPr lang="he-IL" sz="1300" dirty="0"/>
          </a:p>
        </p:txBody>
      </p:sp>
      <p:sp>
        <p:nvSpPr>
          <p:cNvPr id="11" name="Shape 9"/>
          <p:cNvSpPr/>
          <p:nvPr/>
        </p:nvSpPr>
        <p:spPr>
          <a:xfrm>
            <a:off x="365760" y="5332781"/>
            <a:ext cx="11301984" cy="1130198"/>
          </a:xfrm>
          <a:prstGeom prst="rect">
            <a:avLst/>
          </a:prstGeom>
          <a:solidFill>
            <a:srgbClr val="EEF3F5"/>
          </a:solidFill>
          <a:ln w="12700">
            <a:solidFill>
              <a:srgbClr val="EEF3F5"/>
            </a:solidFill>
            <a:prstDash val="solid"/>
          </a:ln>
        </p:spPr>
      </p:sp>
      <p:sp>
        <p:nvSpPr>
          <p:cNvPr id="12" name="Text 10"/>
          <p:cNvSpPr txBox="1"/>
          <p:nvPr/>
        </p:nvSpPr>
        <p:spPr>
          <a:xfrm>
            <a:off x="10490454" y="5332781"/>
            <a:ext cx="1130198" cy="1130198"/>
          </a:xfrm>
          <a:prstGeom prst="rect">
            <a:avLst/>
          </a:prstGeom>
          <a:noFill/>
          <a:ln/>
        </p:spPr>
        <p:txBody>
          <a:bodyPr wrap="square" lIns="0" tIns="0" rIns="0" bIns="0" rtlCol="0" anchor="ctr"/>
          <a:lstStyle/>
          <a:p>
            <a:pPr algn="ctr" indent="0" marL="0">
              <a:buNone/>
            </a:pPr>
            <a:r>
              <a:rPr lang="he-IL" altLang="en-US" sz="1300" b="1" dirty="0">
                <a:solidFill>
                  <a:srgbClr val="1B2A33"/>
                </a:solidFill>
                <a:latin typeface="Arial" pitchFamily="34" charset="0"/>
                <a:ea typeface="Arial" pitchFamily="34" charset="-122"/>
                <a:cs typeface="Arial" pitchFamily="34" charset="-120"/>
              </a:rPr>
              <a:t>מאשר סופי</a:t>
            </a:r>
            <a:endParaRPr lang="he-IL" sz="1300" dirty="0"/>
          </a:p>
          <a:p>
            <a:pPr algn="ctr" indent="0" marL="0">
              <a:buNone/>
            </a:pPr>
            <a:r>
              <a:rPr lang="he-IL" altLang="en-US" sz="1000" dirty="0">
                <a:solidFill>
                  <a:srgbClr val="5D6F7A"/>
                </a:solidFill>
                <a:latin typeface="Arial" pitchFamily="34" charset="0"/>
                <a:ea typeface="Arial" pitchFamily="34" charset="-122"/>
                <a:cs typeface="Arial" pitchFamily="34" charset="-120"/>
              </a:rPr>
              <a:t>Teams ומייל</a:t>
            </a:r>
            <a:endParaRPr lang="he-IL" sz="1300" dirty="0"/>
          </a:p>
        </p:txBody>
      </p:sp>
      <p:sp>
        <p:nvSpPr>
          <p:cNvPr id="13" name="Shape 11"/>
          <p:cNvSpPr/>
          <p:nvPr/>
        </p:nvSpPr>
        <p:spPr>
          <a:xfrm>
            <a:off x="10443362" y="1188720"/>
            <a:ext cx="0" cy="5274259"/>
          </a:xfrm>
          <a:prstGeom prst="line">
            <a:avLst/>
          </a:prstGeom>
          <a:noFill/>
          <a:ln w="12700">
            <a:solidFill>
              <a:srgbClr val="C9D3D9"/>
            </a:solidFill>
            <a:prstDash val="solid"/>
          </a:ln>
        </p:spPr>
      </p:sp>
      <p:sp>
        <p:nvSpPr>
          <p:cNvPr id="14" name="Shape 12"/>
          <p:cNvSpPr/>
          <p:nvPr/>
        </p:nvSpPr>
        <p:spPr>
          <a:xfrm flipH="1">
            <a:off x="8955268" y="1706728"/>
            <a:ext cx="150693" cy="0"/>
          </a:xfrm>
          <a:prstGeom prst="line">
            <a:avLst/>
          </a:prstGeom>
          <a:noFill/>
          <a:ln w="22225">
            <a:solidFill>
              <a:srgbClr val="1B2A33"/>
            </a:solidFill>
            <a:prstDash val="solid"/>
            <a:tailEnd type="triangle"/>
          </a:ln>
        </p:spPr>
      </p:sp>
      <p:sp>
        <p:nvSpPr>
          <p:cNvPr id="15" name="Shape 13"/>
          <p:cNvSpPr/>
          <p:nvPr/>
        </p:nvSpPr>
        <p:spPr>
          <a:xfrm>
            <a:off x="8465515" y="1989277"/>
            <a:ext cx="0" cy="1789481"/>
          </a:xfrm>
          <a:prstGeom prst="line">
            <a:avLst/>
          </a:prstGeom>
          <a:noFill/>
          <a:ln w="22225">
            <a:solidFill>
              <a:srgbClr val="1B2A33"/>
            </a:solidFill>
            <a:prstDash val="solid"/>
          </a:ln>
        </p:spPr>
      </p:sp>
      <p:sp>
        <p:nvSpPr>
          <p:cNvPr id="16" name="Shape 14"/>
          <p:cNvSpPr/>
          <p:nvPr/>
        </p:nvSpPr>
        <p:spPr>
          <a:xfrm flipH="1">
            <a:off x="7825069" y="3778758"/>
            <a:ext cx="640446" cy="0"/>
          </a:xfrm>
          <a:prstGeom prst="line">
            <a:avLst/>
          </a:prstGeom>
          <a:noFill/>
          <a:ln w="22225">
            <a:solidFill>
              <a:srgbClr val="1B2A33"/>
            </a:solidFill>
            <a:prstDash val="solid"/>
            <a:tailEnd type="triangle"/>
          </a:ln>
        </p:spPr>
      </p:sp>
      <p:sp>
        <p:nvSpPr>
          <p:cNvPr id="17" name="Shape 15"/>
          <p:cNvSpPr/>
          <p:nvPr/>
        </p:nvSpPr>
        <p:spPr>
          <a:xfrm flipH="1">
            <a:off x="6694871" y="3778758"/>
            <a:ext cx="150693" cy="0"/>
          </a:xfrm>
          <a:prstGeom prst="line">
            <a:avLst/>
          </a:prstGeom>
          <a:noFill/>
          <a:ln w="22225">
            <a:solidFill>
              <a:srgbClr val="1B2A33"/>
            </a:solidFill>
            <a:prstDash val="solid"/>
            <a:tailEnd type="triangle"/>
          </a:ln>
        </p:spPr>
      </p:sp>
      <p:sp>
        <p:nvSpPr>
          <p:cNvPr id="18" name="Shape 16"/>
          <p:cNvSpPr/>
          <p:nvPr/>
        </p:nvSpPr>
        <p:spPr>
          <a:xfrm>
            <a:off x="6205118" y="4061308"/>
            <a:ext cx="0" cy="753466"/>
          </a:xfrm>
          <a:prstGeom prst="line">
            <a:avLst/>
          </a:prstGeom>
          <a:noFill/>
          <a:ln w="22225">
            <a:solidFill>
              <a:srgbClr val="1B2A33"/>
            </a:solidFill>
            <a:prstDash val="solid"/>
          </a:ln>
        </p:spPr>
      </p:sp>
      <p:sp>
        <p:nvSpPr>
          <p:cNvPr id="19" name="Shape 17"/>
          <p:cNvSpPr/>
          <p:nvPr/>
        </p:nvSpPr>
        <p:spPr>
          <a:xfrm flipH="1">
            <a:off x="5564673" y="4814773"/>
            <a:ext cx="640446" cy="0"/>
          </a:xfrm>
          <a:prstGeom prst="line">
            <a:avLst/>
          </a:prstGeom>
          <a:noFill/>
          <a:ln w="22225">
            <a:solidFill>
              <a:srgbClr val="1B2A33"/>
            </a:solidFill>
            <a:prstDash val="solid"/>
            <a:tailEnd type="triangle"/>
          </a:ln>
        </p:spPr>
      </p:sp>
      <p:sp>
        <p:nvSpPr>
          <p:cNvPr id="20" name="Shape 18"/>
          <p:cNvSpPr/>
          <p:nvPr/>
        </p:nvSpPr>
        <p:spPr>
          <a:xfrm>
            <a:off x="5074920" y="5097323"/>
            <a:ext cx="0" cy="753466"/>
          </a:xfrm>
          <a:prstGeom prst="line">
            <a:avLst/>
          </a:prstGeom>
          <a:noFill/>
          <a:ln w="22225">
            <a:solidFill>
              <a:srgbClr val="2F7D32"/>
            </a:solidFill>
            <a:prstDash val="solid"/>
          </a:ln>
        </p:spPr>
      </p:sp>
      <p:sp>
        <p:nvSpPr>
          <p:cNvPr id="21" name="Shape 19"/>
          <p:cNvSpPr/>
          <p:nvPr/>
        </p:nvSpPr>
        <p:spPr>
          <a:xfrm flipH="1">
            <a:off x="4434474" y="5850788"/>
            <a:ext cx="640446" cy="0"/>
          </a:xfrm>
          <a:prstGeom prst="line">
            <a:avLst/>
          </a:prstGeom>
          <a:noFill/>
          <a:ln w="22225">
            <a:solidFill>
              <a:srgbClr val="2F7D32"/>
            </a:solidFill>
            <a:prstDash val="solid"/>
            <a:tailEnd type="triangle"/>
          </a:ln>
        </p:spPr>
      </p:sp>
      <p:sp>
        <p:nvSpPr>
          <p:cNvPr id="22" name="Shape 20"/>
          <p:cNvSpPr/>
          <p:nvPr/>
        </p:nvSpPr>
        <p:spPr>
          <a:xfrm flipH="1">
            <a:off x="2814523" y="5850788"/>
            <a:ext cx="640446" cy="0"/>
          </a:xfrm>
          <a:prstGeom prst="line">
            <a:avLst/>
          </a:prstGeom>
          <a:noFill/>
          <a:ln w="22225">
            <a:solidFill>
              <a:srgbClr val="2F7D32"/>
            </a:solidFill>
            <a:prstDash val="solid"/>
          </a:ln>
        </p:spPr>
      </p:sp>
      <p:sp>
        <p:nvSpPr>
          <p:cNvPr id="23" name="Shape 21"/>
          <p:cNvSpPr/>
          <p:nvPr/>
        </p:nvSpPr>
        <p:spPr>
          <a:xfrm flipV="1">
            <a:off x="2814523" y="4061308"/>
            <a:ext cx="0" cy="1789481"/>
          </a:xfrm>
          <a:prstGeom prst="line">
            <a:avLst/>
          </a:prstGeom>
          <a:noFill/>
          <a:ln w="22225">
            <a:solidFill>
              <a:srgbClr val="2F7D32"/>
            </a:solidFill>
            <a:prstDash val="solid"/>
            <a:tailEnd type="triangle"/>
          </a:ln>
        </p:spPr>
      </p:sp>
      <p:sp>
        <p:nvSpPr>
          <p:cNvPr id="24" name="Shape 22"/>
          <p:cNvSpPr/>
          <p:nvPr/>
        </p:nvSpPr>
        <p:spPr>
          <a:xfrm flipV="1">
            <a:off x="2814523" y="2742743"/>
            <a:ext cx="0" cy="753466"/>
          </a:xfrm>
          <a:prstGeom prst="line">
            <a:avLst/>
          </a:prstGeom>
          <a:noFill/>
          <a:ln w="22225">
            <a:solidFill>
              <a:srgbClr val="1B2A33"/>
            </a:solidFill>
            <a:prstDash val="solid"/>
          </a:ln>
        </p:spPr>
      </p:sp>
      <p:sp>
        <p:nvSpPr>
          <p:cNvPr id="25" name="Shape 23"/>
          <p:cNvSpPr/>
          <p:nvPr/>
        </p:nvSpPr>
        <p:spPr>
          <a:xfrm flipH="1">
            <a:off x="2174077" y="2742743"/>
            <a:ext cx="640446" cy="0"/>
          </a:xfrm>
          <a:prstGeom prst="line">
            <a:avLst/>
          </a:prstGeom>
          <a:noFill/>
          <a:ln w="22225">
            <a:solidFill>
              <a:srgbClr val="1B2A33"/>
            </a:solidFill>
            <a:prstDash val="solid"/>
            <a:tailEnd type="triangle"/>
          </a:ln>
        </p:spPr>
      </p:sp>
      <p:sp>
        <p:nvSpPr>
          <p:cNvPr id="26" name="Shape 24"/>
          <p:cNvSpPr/>
          <p:nvPr/>
        </p:nvSpPr>
        <p:spPr>
          <a:xfrm flipV="1">
            <a:off x="5074920" y="4061308"/>
            <a:ext cx="0" cy="470916"/>
          </a:xfrm>
          <a:prstGeom prst="line">
            <a:avLst/>
          </a:prstGeom>
          <a:noFill/>
          <a:ln w="22225">
            <a:solidFill>
              <a:srgbClr val="B3261E"/>
            </a:solidFill>
            <a:prstDash val="dash"/>
            <a:tailEnd type="triangle"/>
          </a:ln>
        </p:spPr>
      </p:sp>
      <p:sp>
        <p:nvSpPr>
          <p:cNvPr id="27" name="Shape 25"/>
          <p:cNvSpPr/>
          <p:nvPr/>
        </p:nvSpPr>
        <p:spPr>
          <a:xfrm flipV="1">
            <a:off x="3944722" y="3778758"/>
            <a:ext cx="0" cy="1789481"/>
          </a:xfrm>
          <a:prstGeom prst="line">
            <a:avLst/>
          </a:prstGeom>
          <a:noFill/>
          <a:ln w="22225">
            <a:solidFill>
              <a:srgbClr val="B3261E"/>
            </a:solidFill>
            <a:prstDash val="dash"/>
          </a:ln>
        </p:spPr>
      </p:sp>
      <p:sp>
        <p:nvSpPr>
          <p:cNvPr id="28" name="Shape 26"/>
          <p:cNvSpPr/>
          <p:nvPr/>
        </p:nvSpPr>
        <p:spPr>
          <a:xfrm>
            <a:off x="3944722" y="3778758"/>
            <a:ext cx="640446" cy="0"/>
          </a:xfrm>
          <a:prstGeom prst="line">
            <a:avLst/>
          </a:prstGeom>
          <a:noFill/>
          <a:ln w="22225">
            <a:solidFill>
              <a:srgbClr val="B3261E"/>
            </a:solidFill>
            <a:prstDash val="dash"/>
            <a:tailEnd type="triangle"/>
          </a:ln>
        </p:spPr>
      </p:sp>
      <p:sp>
        <p:nvSpPr>
          <p:cNvPr id="29" name="Shape 27"/>
          <p:cNvSpPr/>
          <p:nvPr/>
        </p:nvSpPr>
        <p:spPr>
          <a:xfrm flipV="1">
            <a:off x="5074920" y="2337755"/>
            <a:ext cx="0" cy="1158453"/>
          </a:xfrm>
          <a:prstGeom prst="line">
            <a:avLst/>
          </a:prstGeom>
          <a:noFill/>
          <a:ln w="22225">
            <a:solidFill>
              <a:srgbClr val="B3261E"/>
            </a:solidFill>
            <a:prstDash val="dash"/>
          </a:ln>
        </p:spPr>
      </p:sp>
      <p:sp>
        <p:nvSpPr>
          <p:cNvPr id="30" name="Shape 28"/>
          <p:cNvSpPr/>
          <p:nvPr/>
        </p:nvSpPr>
        <p:spPr>
          <a:xfrm flipH="1">
            <a:off x="1684325" y="2337755"/>
            <a:ext cx="3390595" cy="0"/>
          </a:xfrm>
          <a:prstGeom prst="line">
            <a:avLst/>
          </a:prstGeom>
          <a:noFill/>
          <a:ln w="22225">
            <a:solidFill>
              <a:srgbClr val="B3261E"/>
            </a:solidFill>
            <a:prstDash val="dash"/>
          </a:ln>
        </p:spPr>
      </p:sp>
      <p:sp>
        <p:nvSpPr>
          <p:cNvPr id="31" name="Shape 29"/>
          <p:cNvSpPr/>
          <p:nvPr/>
        </p:nvSpPr>
        <p:spPr>
          <a:xfrm>
            <a:off x="1684325" y="2337755"/>
            <a:ext cx="0" cy="122438"/>
          </a:xfrm>
          <a:prstGeom prst="line">
            <a:avLst/>
          </a:prstGeom>
          <a:noFill/>
          <a:ln w="22225">
            <a:solidFill>
              <a:srgbClr val="B3261E"/>
            </a:solidFill>
            <a:prstDash val="dash"/>
            <a:tailEnd type="triangle"/>
          </a:ln>
        </p:spPr>
      </p:sp>
      <p:sp>
        <p:nvSpPr>
          <p:cNvPr id="32" name="Shape 30"/>
          <p:cNvSpPr/>
          <p:nvPr/>
        </p:nvSpPr>
        <p:spPr>
          <a:xfrm>
            <a:off x="6205118" y="3025292"/>
            <a:ext cx="0" cy="470916"/>
          </a:xfrm>
          <a:prstGeom prst="line">
            <a:avLst/>
          </a:prstGeom>
          <a:noFill/>
          <a:ln w="22225">
            <a:solidFill>
              <a:srgbClr val="5D6F7A"/>
            </a:solidFill>
            <a:prstDash val="sysDot"/>
          </a:ln>
        </p:spPr>
      </p:sp>
      <p:sp>
        <p:nvSpPr>
          <p:cNvPr id="33" name="Shape 31"/>
          <p:cNvSpPr/>
          <p:nvPr/>
        </p:nvSpPr>
        <p:spPr>
          <a:xfrm>
            <a:off x="9595714" y="1989277"/>
            <a:ext cx="0" cy="470916"/>
          </a:xfrm>
          <a:prstGeom prst="line">
            <a:avLst/>
          </a:prstGeom>
          <a:noFill/>
          <a:ln w="22225">
            <a:solidFill>
              <a:srgbClr val="5D6F7A"/>
            </a:solidFill>
            <a:prstDash val="sysDot"/>
          </a:ln>
        </p:spPr>
      </p:sp>
      <p:sp>
        <p:nvSpPr>
          <p:cNvPr id="34" name="Text 32"/>
          <p:cNvSpPr txBox="1"/>
          <p:nvPr/>
        </p:nvSpPr>
        <p:spPr>
          <a:xfrm>
            <a:off x="4396801" y="5624749"/>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2F7D32"/>
                </a:solidFill>
                <a:latin typeface="Arial" pitchFamily="34" charset="0"/>
                <a:ea typeface="Arial" pitchFamily="34" charset="-122"/>
                <a:cs typeface="Arial" pitchFamily="34" charset="-120"/>
              </a:rPr>
              <a:t>אושר</a:t>
            </a:r>
            <a:endParaRPr lang="he-IL" sz="1000" dirty="0"/>
          </a:p>
        </p:txBody>
      </p:sp>
      <p:sp>
        <p:nvSpPr>
          <p:cNvPr id="35" name="Text 33"/>
          <p:cNvSpPr txBox="1"/>
          <p:nvPr/>
        </p:nvSpPr>
        <p:spPr>
          <a:xfrm>
            <a:off x="2739177" y="5624749"/>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2F7D32"/>
                </a:solidFill>
                <a:latin typeface="Arial" pitchFamily="34" charset="0"/>
                <a:ea typeface="Arial" pitchFamily="34" charset="-122"/>
                <a:cs typeface="Arial" pitchFamily="34" charset="-120"/>
              </a:rPr>
              <a:t>אושר</a:t>
            </a:r>
            <a:endParaRPr lang="he-IL" sz="1000" dirty="0"/>
          </a:p>
        </p:txBody>
      </p:sp>
      <p:sp>
        <p:nvSpPr>
          <p:cNvPr id="36" name="Text 34"/>
          <p:cNvSpPr txBox="1"/>
          <p:nvPr/>
        </p:nvSpPr>
        <p:spPr>
          <a:xfrm>
            <a:off x="4999573" y="4202582"/>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B3261E"/>
                </a:solidFill>
                <a:latin typeface="Arial" pitchFamily="34" charset="0"/>
                <a:ea typeface="Arial" pitchFamily="34" charset="-122"/>
                <a:cs typeface="Arial" pitchFamily="34" charset="-120"/>
              </a:rPr>
              <a:t>נדחה</a:t>
            </a:r>
            <a:endParaRPr lang="he-IL" sz="1000" dirty="0"/>
          </a:p>
        </p:txBody>
      </p:sp>
      <p:sp>
        <p:nvSpPr>
          <p:cNvPr id="37" name="Text 35"/>
          <p:cNvSpPr txBox="1"/>
          <p:nvPr/>
        </p:nvSpPr>
        <p:spPr>
          <a:xfrm>
            <a:off x="3304276" y="4805355"/>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B3261E"/>
                </a:solidFill>
                <a:latin typeface="Arial" pitchFamily="34" charset="0"/>
                <a:ea typeface="Arial" pitchFamily="34" charset="-122"/>
                <a:cs typeface="Arial" pitchFamily="34" charset="-120"/>
              </a:rPr>
              <a:t>נדחה</a:t>
            </a:r>
            <a:endParaRPr lang="he-IL" sz="1000" dirty="0"/>
          </a:p>
        </p:txBody>
      </p:sp>
      <p:sp>
        <p:nvSpPr>
          <p:cNvPr id="38" name="Text 36"/>
          <p:cNvSpPr txBox="1"/>
          <p:nvPr/>
        </p:nvSpPr>
        <p:spPr>
          <a:xfrm>
            <a:off x="6167445" y="3166567"/>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5D6F7A"/>
                </a:solidFill>
                <a:latin typeface="Arial" pitchFamily="34" charset="0"/>
                <a:ea typeface="Arial" pitchFamily="34" charset="-122"/>
                <a:cs typeface="Arial" pitchFamily="34" charset="-120"/>
              </a:rPr>
              <a:t>קריאה</a:t>
            </a:r>
            <a:endParaRPr lang="he-IL" sz="1000" dirty="0"/>
          </a:p>
        </p:txBody>
      </p:sp>
      <p:sp>
        <p:nvSpPr>
          <p:cNvPr id="39" name="Text 37"/>
          <p:cNvSpPr txBox="1"/>
          <p:nvPr/>
        </p:nvSpPr>
        <p:spPr>
          <a:xfrm>
            <a:off x="9558040" y="2130552"/>
            <a:ext cx="753466" cy="169530"/>
          </a:xfrm>
          <a:prstGeom prst="rect">
            <a:avLst/>
          </a:prstGeom>
          <a:noFill/>
          <a:ln/>
        </p:spPr>
        <p:txBody>
          <a:bodyPr wrap="square" lIns="0" tIns="0" rIns="0" bIns="0" rtlCol="0" anchor="ctr"/>
          <a:lstStyle/>
          <a:p>
            <a:pPr rtl="1" algn="ctr" indent="0" marL="0">
              <a:buNone/>
            </a:pPr>
            <a:r>
              <a:rPr lang="he-IL" altLang="en-US" sz="1000" b="1" dirty="0">
                <a:solidFill>
                  <a:srgbClr val="5D6F7A"/>
                </a:solidFill>
                <a:latin typeface="Arial" pitchFamily="34" charset="0"/>
                <a:ea typeface="Arial" pitchFamily="34" charset="-122"/>
                <a:cs typeface="Arial" pitchFamily="34" charset="-120"/>
              </a:rPr>
              <a:t>רשומה</a:t>
            </a:r>
            <a:endParaRPr lang="he-IL" sz="1000" dirty="0"/>
          </a:p>
        </p:txBody>
      </p:sp>
      <p:sp>
        <p:nvSpPr>
          <p:cNvPr id="40" name="Shape 38"/>
          <p:cNvSpPr/>
          <p:nvPr/>
        </p:nvSpPr>
        <p:spPr>
          <a:xfrm>
            <a:off x="9105961" y="1424178"/>
            <a:ext cx="979505" cy="565099"/>
          </a:xfrm>
          <a:prstGeom prst="roundRect">
            <a:avLst>
              <a:gd name="adj" fmla="val 12945"/>
            </a:avLst>
          </a:prstGeom>
          <a:solidFill>
            <a:srgbClr val="0E6F73"/>
          </a:solidFill>
          <a:ln w="19050">
            <a:solidFill>
              <a:srgbClr val="0E6F73"/>
            </a:solidFill>
            <a:prstDash val="solid"/>
          </a:ln>
        </p:spPr>
      </p:sp>
      <p:sp>
        <p:nvSpPr>
          <p:cNvPr id="41" name="Text 39"/>
          <p:cNvSpPr txBox="1"/>
          <p:nvPr/>
        </p:nvSpPr>
        <p:spPr>
          <a:xfrm>
            <a:off x="9105961" y="142417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FFFFFF"/>
                </a:solidFill>
                <a:latin typeface="Arial" pitchFamily="34" charset="0"/>
                <a:ea typeface="Arial" pitchFamily="34" charset="-122"/>
                <a:cs typeface="Arial" pitchFamily="34" charset="-120"/>
              </a:rPr>
              <a:t>רישום המסמך</a:t>
            </a:r>
            <a:endParaRPr lang="he-IL" sz="1100" dirty="0"/>
          </a:p>
          <a:p>
            <a:pPr algn="ctr" indent="0" marL="0">
              <a:buNone/>
            </a:pPr>
            <a:r>
              <a:rPr lang="he-IL" altLang="en-US" sz="900" dirty="0">
                <a:solidFill>
                  <a:srgbClr val="E6F4F4"/>
                </a:solidFill>
                <a:latin typeface="Arial" pitchFamily="34" charset="0"/>
                <a:ea typeface="Arial" pitchFamily="34" charset="-122"/>
                <a:cs typeface="Arial" pitchFamily="34" charset="-120"/>
              </a:rPr>
              <a:t>סטטוס: בעבודה</a:t>
            </a:r>
            <a:endParaRPr lang="he-IL" sz="1100" dirty="0"/>
          </a:p>
        </p:txBody>
      </p:sp>
      <p:sp>
        <p:nvSpPr>
          <p:cNvPr id="42" name="Shape 40"/>
          <p:cNvSpPr/>
          <p:nvPr/>
        </p:nvSpPr>
        <p:spPr>
          <a:xfrm>
            <a:off x="9991283" y="1329995"/>
            <a:ext cx="188366" cy="188366"/>
          </a:xfrm>
          <a:prstGeom prst="ellipse">
            <a:avLst/>
          </a:prstGeom>
          <a:solidFill>
            <a:srgbClr val="0E6F73"/>
          </a:solidFill>
          <a:ln w="12700">
            <a:solidFill>
              <a:srgbClr val="FFFFFF"/>
            </a:solidFill>
            <a:prstDash val="solid"/>
          </a:ln>
        </p:spPr>
      </p:sp>
      <p:sp>
        <p:nvSpPr>
          <p:cNvPr id="43" name="Text 41"/>
          <p:cNvSpPr txBox="1"/>
          <p:nvPr/>
        </p:nvSpPr>
        <p:spPr>
          <a:xfrm>
            <a:off x="9991283" y="132999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44" name="Shape 42"/>
          <p:cNvSpPr/>
          <p:nvPr/>
        </p:nvSpPr>
        <p:spPr>
          <a:xfrm>
            <a:off x="7975763" y="1424178"/>
            <a:ext cx="979505" cy="565099"/>
          </a:xfrm>
          <a:prstGeom prst="roundRect">
            <a:avLst>
              <a:gd name="adj" fmla="val 12945"/>
            </a:avLst>
          </a:prstGeom>
          <a:solidFill>
            <a:srgbClr val="FFFFFF"/>
          </a:solidFill>
          <a:ln w="19050">
            <a:solidFill>
              <a:srgbClr val="0E6F73"/>
            </a:solidFill>
            <a:prstDash val="solid"/>
          </a:ln>
        </p:spPr>
      </p:sp>
      <p:sp>
        <p:nvSpPr>
          <p:cNvPr id="45" name="Text 43"/>
          <p:cNvSpPr txBox="1"/>
          <p:nvPr/>
        </p:nvSpPr>
        <p:spPr>
          <a:xfrm>
            <a:off x="7975763" y="142417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הגשה לאישור</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הוגש לאישור</a:t>
            </a:r>
            <a:endParaRPr lang="he-IL" sz="1100" dirty="0"/>
          </a:p>
        </p:txBody>
      </p:sp>
      <p:sp>
        <p:nvSpPr>
          <p:cNvPr id="46" name="Shape 44"/>
          <p:cNvSpPr/>
          <p:nvPr/>
        </p:nvSpPr>
        <p:spPr>
          <a:xfrm>
            <a:off x="8861085" y="1329995"/>
            <a:ext cx="188366" cy="188366"/>
          </a:xfrm>
          <a:prstGeom prst="ellipse">
            <a:avLst/>
          </a:prstGeom>
          <a:solidFill>
            <a:srgbClr val="0E6F73"/>
          </a:solidFill>
          <a:ln w="12700">
            <a:solidFill>
              <a:srgbClr val="FFFFFF"/>
            </a:solidFill>
            <a:prstDash val="solid"/>
          </a:ln>
        </p:spPr>
      </p:sp>
      <p:sp>
        <p:nvSpPr>
          <p:cNvPr id="47" name="Text 45"/>
          <p:cNvSpPr txBox="1"/>
          <p:nvPr/>
        </p:nvSpPr>
        <p:spPr>
          <a:xfrm>
            <a:off x="8861085" y="132999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48" name="Shape 46"/>
          <p:cNvSpPr/>
          <p:nvPr/>
        </p:nvSpPr>
        <p:spPr>
          <a:xfrm>
            <a:off x="9105961" y="2460193"/>
            <a:ext cx="979505" cy="565099"/>
          </a:xfrm>
          <a:prstGeom prst="roundRect">
            <a:avLst>
              <a:gd name="adj" fmla="val 12945"/>
            </a:avLst>
          </a:prstGeom>
          <a:solidFill>
            <a:srgbClr val="D9EEEE"/>
          </a:solidFill>
          <a:ln w="19050">
            <a:solidFill>
              <a:srgbClr val="0E6F73"/>
            </a:solidFill>
            <a:prstDash val="solid"/>
          </a:ln>
        </p:spPr>
      </p:sp>
      <p:sp>
        <p:nvSpPr>
          <p:cNvPr id="49" name="Text 47"/>
          <p:cNvSpPr txBox="1"/>
          <p:nvPr/>
        </p:nvSpPr>
        <p:spPr>
          <a:xfrm>
            <a:off x="9105961"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מרשם מסמכים</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רשומת המסמך</a:t>
            </a:r>
            <a:endParaRPr lang="he-IL" sz="1100" dirty="0"/>
          </a:p>
        </p:txBody>
      </p:sp>
      <p:sp>
        <p:nvSpPr>
          <p:cNvPr id="50" name="Shape 48"/>
          <p:cNvSpPr/>
          <p:nvPr/>
        </p:nvSpPr>
        <p:spPr>
          <a:xfrm>
            <a:off x="5715366" y="2460193"/>
            <a:ext cx="979505" cy="565099"/>
          </a:xfrm>
          <a:prstGeom prst="roundRect">
            <a:avLst>
              <a:gd name="adj" fmla="val 12945"/>
            </a:avLst>
          </a:prstGeom>
          <a:solidFill>
            <a:srgbClr val="D9EEEE"/>
          </a:solidFill>
          <a:ln w="19050">
            <a:solidFill>
              <a:srgbClr val="0E6F73"/>
            </a:solidFill>
            <a:prstDash val="solid"/>
          </a:ln>
        </p:spPr>
      </p:sp>
      <p:sp>
        <p:nvSpPr>
          <p:cNvPr id="51" name="Text 49"/>
          <p:cNvSpPr txBox="1"/>
          <p:nvPr/>
        </p:nvSpPr>
        <p:spPr>
          <a:xfrm>
            <a:off x="5715366"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מטריצת מאשרים</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לפי סוג מסמך</a:t>
            </a:r>
            <a:endParaRPr lang="he-IL" sz="1100" dirty="0"/>
          </a:p>
        </p:txBody>
      </p:sp>
      <p:sp>
        <p:nvSpPr>
          <p:cNvPr id="52" name="Shape 50"/>
          <p:cNvSpPr/>
          <p:nvPr/>
        </p:nvSpPr>
        <p:spPr>
          <a:xfrm>
            <a:off x="1194572" y="2460193"/>
            <a:ext cx="979505" cy="565099"/>
          </a:xfrm>
          <a:prstGeom prst="roundRect">
            <a:avLst>
              <a:gd name="adj" fmla="val 12945"/>
            </a:avLst>
          </a:prstGeom>
          <a:solidFill>
            <a:srgbClr val="D9EEEE"/>
          </a:solidFill>
          <a:ln w="19050">
            <a:solidFill>
              <a:srgbClr val="0E6F73"/>
            </a:solidFill>
            <a:prstDash val="solid"/>
          </a:ln>
        </p:spPr>
      </p:sp>
      <p:sp>
        <p:nvSpPr>
          <p:cNvPr id="53" name="Text 51"/>
          <p:cNvSpPr txBox="1"/>
          <p:nvPr/>
        </p:nvSpPr>
        <p:spPr>
          <a:xfrm>
            <a:off x="1194572" y="2460193"/>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יומן ביקורת</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אושר / נדחה</a:t>
            </a:r>
            <a:endParaRPr lang="he-IL" sz="1100" dirty="0"/>
          </a:p>
        </p:txBody>
      </p:sp>
      <p:sp>
        <p:nvSpPr>
          <p:cNvPr id="54" name="Shape 52"/>
          <p:cNvSpPr/>
          <p:nvPr/>
        </p:nvSpPr>
        <p:spPr>
          <a:xfrm>
            <a:off x="2079894" y="2366010"/>
            <a:ext cx="188366" cy="188366"/>
          </a:xfrm>
          <a:prstGeom prst="ellipse">
            <a:avLst/>
          </a:prstGeom>
          <a:solidFill>
            <a:srgbClr val="0E6F73"/>
          </a:solidFill>
          <a:ln w="12700">
            <a:solidFill>
              <a:srgbClr val="FFFFFF"/>
            </a:solidFill>
            <a:prstDash val="solid"/>
          </a:ln>
        </p:spPr>
      </p:sp>
      <p:sp>
        <p:nvSpPr>
          <p:cNvPr id="55" name="Text 53"/>
          <p:cNvSpPr txBox="1"/>
          <p:nvPr/>
        </p:nvSpPr>
        <p:spPr>
          <a:xfrm>
            <a:off x="2079894" y="2366010"/>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56" name="Shape 54"/>
          <p:cNvSpPr/>
          <p:nvPr/>
        </p:nvSpPr>
        <p:spPr>
          <a:xfrm>
            <a:off x="6845564" y="3496208"/>
            <a:ext cx="979505" cy="565099"/>
          </a:xfrm>
          <a:prstGeom prst="roundRect">
            <a:avLst>
              <a:gd name="adj" fmla="val 12945"/>
            </a:avLst>
          </a:prstGeom>
          <a:solidFill>
            <a:srgbClr val="FFFFFF"/>
          </a:solidFill>
          <a:ln w="19050">
            <a:solidFill>
              <a:srgbClr val="0E6F73"/>
            </a:solidFill>
            <a:prstDash val="solid"/>
          </a:ln>
        </p:spPr>
      </p:sp>
      <p:sp>
        <p:nvSpPr>
          <p:cNvPr id="57" name="Text 55"/>
          <p:cNvSpPr txBox="1"/>
          <p:nvPr/>
        </p:nvSpPr>
        <p:spPr>
          <a:xfrm>
            <a:off x="6845564"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זיהוי ההגשה</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בדיקה כל דקה</a:t>
            </a:r>
            <a:endParaRPr lang="he-IL" sz="1100" dirty="0"/>
          </a:p>
        </p:txBody>
      </p:sp>
      <p:sp>
        <p:nvSpPr>
          <p:cNvPr id="58" name="Shape 56"/>
          <p:cNvSpPr/>
          <p:nvPr/>
        </p:nvSpPr>
        <p:spPr>
          <a:xfrm>
            <a:off x="7730886" y="3402025"/>
            <a:ext cx="188366" cy="188366"/>
          </a:xfrm>
          <a:prstGeom prst="ellipse">
            <a:avLst/>
          </a:prstGeom>
          <a:solidFill>
            <a:srgbClr val="0E6F73"/>
          </a:solidFill>
          <a:ln w="12700">
            <a:solidFill>
              <a:srgbClr val="FFFFFF"/>
            </a:solidFill>
            <a:prstDash val="solid"/>
          </a:ln>
        </p:spPr>
      </p:sp>
      <p:sp>
        <p:nvSpPr>
          <p:cNvPr id="59" name="Text 57"/>
          <p:cNvSpPr txBox="1"/>
          <p:nvPr/>
        </p:nvSpPr>
        <p:spPr>
          <a:xfrm>
            <a:off x="7730886"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60" name="Shape 58"/>
          <p:cNvSpPr/>
          <p:nvPr/>
        </p:nvSpPr>
        <p:spPr>
          <a:xfrm>
            <a:off x="5715366" y="3496208"/>
            <a:ext cx="979505" cy="565099"/>
          </a:xfrm>
          <a:prstGeom prst="roundRect">
            <a:avLst>
              <a:gd name="adj" fmla="val 12945"/>
            </a:avLst>
          </a:prstGeom>
          <a:solidFill>
            <a:srgbClr val="FFFFFF"/>
          </a:solidFill>
          <a:ln w="19050">
            <a:solidFill>
              <a:srgbClr val="0E6F73"/>
            </a:solidFill>
            <a:prstDash val="solid"/>
          </a:ln>
        </p:spPr>
      </p:sp>
      <p:sp>
        <p:nvSpPr>
          <p:cNvPr id="61" name="Text 59"/>
          <p:cNvSpPr txBox="1"/>
          <p:nvPr/>
        </p:nvSpPr>
        <p:spPr>
          <a:xfrm>
            <a:off x="5715366"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איתור הכלל</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מי מאשר</a:t>
            </a:r>
            <a:endParaRPr lang="he-IL" sz="1100" dirty="0"/>
          </a:p>
        </p:txBody>
      </p:sp>
      <p:sp>
        <p:nvSpPr>
          <p:cNvPr id="62" name="Shape 60"/>
          <p:cNvSpPr/>
          <p:nvPr/>
        </p:nvSpPr>
        <p:spPr>
          <a:xfrm>
            <a:off x="6600688" y="3402025"/>
            <a:ext cx="188366" cy="188366"/>
          </a:xfrm>
          <a:prstGeom prst="ellipse">
            <a:avLst/>
          </a:prstGeom>
          <a:solidFill>
            <a:srgbClr val="0E6F73"/>
          </a:solidFill>
          <a:ln w="12700">
            <a:solidFill>
              <a:srgbClr val="FFFFFF"/>
            </a:solidFill>
            <a:prstDash val="solid"/>
          </a:ln>
        </p:spPr>
      </p:sp>
      <p:sp>
        <p:nvSpPr>
          <p:cNvPr id="63" name="Text 61"/>
          <p:cNvSpPr txBox="1"/>
          <p:nvPr/>
        </p:nvSpPr>
        <p:spPr>
          <a:xfrm>
            <a:off x="6600688"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64" name="Shape 62"/>
          <p:cNvSpPr/>
          <p:nvPr/>
        </p:nvSpPr>
        <p:spPr>
          <a:xfrm>
            <a:off x="4585167" y="3496208"/>
            <a:ext cx="979505" cy="565099"/>
          </a:xfrm>
          <a:prstGeom prst="roundRect">
            <a:avLst>
              <a:gd name="adj" fmla="val 12945"/>
            </a:avLst>
          </a:prstGeom>
          <a:solidFill>
            <a:srgbClr val="FBE4E2"/>
          </a:solidFill>
          <a:ln w="19050">
            <a:solidFill>
              <a:srgbClr val="B3261E"/>
            </a:solidFill>
            <a:prstDash val="solid"/>
          </a:ln>
        </p:spPr>
      </p:sp>
      <p:sp>
        <p:nvSpPr>
          <p:cNvPr id="65" name="Text 63"/>
          <p:cNvSpPr txBox="1"/>
          <p:nvPr/>
        </p:nvSpPr>
        <p:spPr>
          <a:xfrm>
            <a:off x="4585167"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חזרה לעבודה</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סטטוס: בעבודה</a:t>
            </a:r>
            <a:endParaRPr lang="he-IL" sz="1100" dirty="0"/>
          </a:p>
        </p:txBody>
      </p:sp>
      <p:sp>
        <p:nvSpPr>
          <p:cNvPr id="66" name="Shape 64"/>
          <p:cNvSpPr/>
          <p:nvPr/>
        </p:nvSpPr>
        <p:spPr>
          <a:xfrm>
            <a:off x="2324771" y="3496208"/>
            <a:ext cx="979505" cy="565099"/>
          </a:xfrm>
          <a:prstGeom prst="roundRect">
            <a:avLst>
              <a:gd name="adj" fmla="val 12945"/>
            </a:avLst>
          </a:prstGeom>
          <a:solidFill>
            <a:srgbClr val="FFFFFF"/>
          </a:solidFill>
          <a:ln w="19050">
            <a:solidFill>
              <a:srgbClr val="0E6F73"/>
            </a:solidFill>
            <a:prstDash val="solid"/>
          </a:ln>
        </p:spPr>
      </p:sp>
      <p:sp>
        <p:nvSpPr>
          <p:cNvPr id="67" name="Text 65"/>
          <p:cNvSpPr txBox="1"/>
          <p:nvPr/>
        </p:nvSpPr>
        <p:spPr>
          <a:xfrm>
            <a:off x="2324771" y="3496208"/>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נעילת המסמך</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מאושר - קריאה בלבד</a:t>
            </a:r>
            <a:endParaRPr lang="he-IL" sz="1100" dirty="0"/>
          </a:p>
        </p:txBody>
      </p:sp>
      <p:sp>
        <p:nvSpPr>
          <p:cNvPr id="68" name="Shape 66"/>
          <p:cNvSpPr/>
          <p:nvPr/>
        </p:nvSpPr>
        <p:spPr>
          <a:xfrm>
            <a:off x="3210093" y="3402025"/>
            <a:ext cx="188366" cy="188366"/>
          </a:xfrm>
          <a:prstGeom prst="ellipse">
            <a:avLst/>
          </a:prstGeom>
          <a:solidFill>
            <a:srgbClr val="0E6F73"/>
          </a:solidFill>
          <a:ln w="12700">
            <a:solidFill>
              <a:srgbClr val="FFFFFF"/>
            </a:solidFill>
            <a:prstDash val="solid"/>
          </a:ln>
        </p:spPr>
      </p:sp>
      <p:sp>
        <p:nvSpPr>
          <p:cNvPr id="69" name="Text 67"/>
          <p:cNvSpPr txBox="1"/>
          <p:nvPr/>
        </p:nvSpPr>
        <p:spPr>
          <a:xfrm>
            <a:off x="3210093" y="3402025"/>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70" name="Shape 68"/>
          <p:cNvSpPr/>
          <p:nvPr/>
        </p:nvSpPr>
        <p:spPr>
          <a:xfrm>
            <a:off x="4585167" y="4532224"/>
            <a:ext cx="979505" cy="565099"/>
          </a:xfrm>
          <a:prstGeom prst="roundRect">
            <a:avLst>
              <a:gd name="adj" fmla="val 12945"/>
            </a:avLst>
          </a:prstGeom>
          <a:solidFill>
            <a:srgbClr val="FFFFFF"/>
          </a:solidFill>
          <a:ln w="19050">
            <a:solidFill>
              <a:srgbClr val="0E6F73"/>
            </a:solidFill>
            <a:prstDash val="solid"/>
          </a:ln>
        </p:spPr>
      </p:sp>
      <p:sp>
        <p:nvSpPr>
          <p:cNvPr id="71" name="Text 69"/>
          <p:cNvSpPr txBox="1"/>
          <p:nvPr/>
        </p:nvSpPr>
        <p:spPr>
          <a:xfrm>
            <a:off x="4585167" y="4532224"/>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אישור שלב 1</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כולם חייבים לאשר</a:t>
            </a:r>
            <a:endParaRPr lang="he-IL" sz="1100" dirty="0"/>
          </a:p>
        </p:txBody>
      </p:sp>
      <p:sp>
        <p:nvSpPr>
          <p:cNvPr id="72" name="Shape 70"/>
          <p:cNvSpPr/>
          <p:nvPr/>
        </p:nvSpPr>
        <p:spPr>
          <a:xfrm>
            <a:off x="5470489" y="4438040"/>
            <a:ext cx="188366" cy="188366"/>
          </a:xfrm>
          <a:prstGeom prst="ellipse">
            <a:avLst/>
          </a:prstGeom>
          <a:solidFill>
            <a:srgbClr val="0E6F73"/>
          </a:solidFill>
          <a:ln w="12700">
            <a:solidFill>
              <a:srgbClr val="FFFFFF"/>
            </a:solidFill>
            <a:prstDash val="solid"/>
          </a:ln>
        </p:spPr>
      </p:sp>
      <p:sp>
        <p:nvSpPr>
          <p:cNvPr id="73" name="Text 71"/>
          <p:cNvSpPr txBox="1"/>
          <p:nvPr/>
        </p:nvSpPr>
        <p:spPr>
          <a:xfrm>
            <a:off x="5470489" y="4438040"/>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74" name="Shape 72"/>
          <p:cNvSpPr/>
          <p:nvPr/>
        </p:nvSpPr>
        <p:spPr>
          <a:xfrm>
            <a:off x="3454969" y="5568239"/>
            <a:ext cx="979505" cy="565099"/>
          </a:xfrm>
          <a:prstGeom prst="roundRect">
            <a:avLst>
              <a:gd name="adj" fmla="val 12945"/>
            </a:avLst>
          </a:prstGeom>
          <a:solidFill>
            <a:srgbClr val="FFFFFF"/>
          </a:solidFill>
          <a:ln w="19050">
            <a:solidFill>
              <a:srgbClr val="0E6F73"/>
            </a:solidFill>
            <a:prstDash val="solid"/>
          </a:ln>
        </p:spPr>
      </p:sp>
      <p:sp>
        <p:nvSpPr>
          <p:cNvPr id="75" name="Text 73"/>
          <p:cNvSpPr txBox="1"/>
          <p:nvPr/>
        </p:nvSpPr>
        <p:spPr>
          <a:xfrm>
            <a:off x="3454969" y="5568239"/>
            <a:ext cx="979505" cy="565099"/>
          </a:xfrm>
          <a:prstGeom prst="rect">
            <a:avLst/>
          </a:prstGeom>
          <a:noFill/>
          <a:ln/>
        </p:spPr>
        <p:txBody>
          <a:bodyPr wrap="square" lIns="25400" tIns="25400" rIns="25400" bIns="25400" rtlCol="0" anchor="ctr"/>
          <a:lstStyle/>
          <a:p>
            <a:pPr algn="ctr" indent="0" marL="0">
              <a:buNone/>
            </a:pPr>
            <a:r>
              <a:rPr lang="he-IL" altLang="en-US" sz="1100" b="1" dirty="0">
                <a:solidFill>
                  <a:srgbClr val="1B2A33"/>
                </a:solidFill>
                <a:latin typeface="Arial" pitchFamily="34" charset="0"/>
                <a:ea typeface="Arial" pitchFamily="34" charset="-122"/>
                <a:cs typeface="Arial" pitchFamily="34" charset="-120"/>
              </a:rPr>
              <a:t>אישור סופי</a:t>
            </a:r>
            <a:endParaRPr lang="he-IL" sz="1100" dirty="0"/>
          </a:p>
          <a:p>
            <a:pPr algn="ctr" indent="0" marL="0">
              <a:buNone/>
            </a:pPr>
            <a:r>
              <a:rPr lang="he-IL" altLang="en-US" sz="900" dirty="0">
                <a:solidFill>
                  <a:srgbClr val="5D6F7A"/>
                </a:solidFill>
                <a:latin typeface="Arial" pitchFamily="34" charset="0"/>
                <a:ea typeface="Arial" pitchFamily="34" charset="-122"/>
                <a:cs typeface="Arial" pitchFamily="34" charset="-120"/>
              </a:rPr>
              <a:t>הראשון שמגיב</a:t>
            </a:r>
            <a:endParaRPr lang="he-IL" sz="1100" dirty="0"/>
          </a:p>
        </p:txBody>
      </p:sp>
      <p:sp>
        <p:nvSpPr>
          <p:cNvPr id="76" name="Shape 74"/>
          <p:cNvSpPr/>
          <p:nvPr/>
        </p:nvSpPr>
        <p:spPr>
          <a:xfrm>
            <a:off x="4340291" y="5474056"/>
            <a:ext cx="188366" cy="188366"/>
          </a:xfrm>
          <a:prstGeom prst="ellipse">
            <a:avLst/>
          </a:prstGeom>
          <a:solidFill>
            <a:srgbClr val="0E6F73"/>
          </a:solidFill>
          <a:ln w="12700">
            <a:solidFill>
              <a:srgbClr val="FFFFFF"/>
            </a:solidFill>
            <a:prstDash val="solid"/>
          </a:ln>
        </p:spPr>
      </p:sp>
      <p:sp>
        <p:nvSpPr>
          <p:cNvPr id="77" name="Text 75"/>
          <p:cNvSpPr txBox="1"/>
          <p:nvPr/>
        </p:nvSpPr>
        <p:spPr>
          <a:xfrm>
            <a:off x="4340291" y="5474056"/>
            <a:ext cx="188366" cy="18836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548640" y="457200"/>
            <a:ext cx="11064240" cy="731520"/>
          </a:xfrm>
          <a:prstGeom prst="rect">
            <a:avLst/>
          </a:prstGeom>
          <a:noFill/>
          <a:ln/>
        </p:spPr>
        <p:txBody>
          <a:bodyPr wrap="square" lIns="0" tIns="0" rIns="0" bIns="0" rtlCol="0" anchor="ctr"/>
          <a:lstStyle/>
          <a:p>
            <a:pPr rtl="1" algn="r" indent="0" marL="0">
              <a:buNone/>
            </a:pPr>
            <a:r>
              <a:rPr lang="he-IL" altLang="en-US" sz="3600" b="1" dirty="0">
                <a:solidFill>
                  <a:srgbClr val="1B2A33"/>
                </a:solidFill>
                <a:latin typeface="Arial" pitchFamily="34" charset="0"/>
                <a:ea typeface="Arial" pitchFamily="34" charset="-122"/>
                <a:cs typeface="Arial" pitchFamily="34" charset="-120"/>
              </a:rPr>
              <a:t>עקרונות</a:t>
            </a:r>
            <a:endParaRPr lang="he-IL" sz="3600" dirty="0"/>
          </a:p>
        </p:txBody>
      </p:sp>
      <p:sp>
        <p:nvSpPr>
          <p:cNvPr id="3" name="Shape 1"/>
          <p:cNvSpPr/>
          <p:nvPr/>
        </p:nvSpPr>
        <p:spPr>
          <a:xfrm>
            <a:off x="800100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52760" y="1920240"/>
            <a:ext cx="548640" cy="548640"/>
          </a:xfrm>
          <a:prstGeom prst="ellipse">
            <a:avLst/>
          </a:prstGeom>
          <a:solidFill>
            <a:srgbClr val="0E6F73"/>
          </a:solidFill>
          <a:ln w="12700">
            <a:solidFill>
              <a:srgbClr val="0E6F73"/>
            </a:solidFill>
            <a:prstDash val="solid"/>
          </a:ln>
        </p:spPr>
      </p:sp>
      <p:sp>
        <p:nvSpPr>
          <p:cNvPr id="5" name="Text 3"/>
          <p:cNvSpPr txBox="1"/>
          <p:nvPr/>
        </p:nvSpPr>
        <p:spPr>
          <a:xfrm>
            <a:off x="1065276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27532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מי מאשר</a:t>
            </a:r>
            <a:endParaRPr lang="he-IL" sz="2200" dirty="0"/>
          </a:p>
        </p:txBody>
      </p:sp>
      <p:sp>
        <p:nvSpPr>
          <p:cNvPr id="7" name="Text 5"/>
          <p:cNvSpPr txBox="1"/>
          <p:nvPr/>
        </p:nvSpPr>
        <p:spPr>
          <a:xfrm>
            <a:off x="827532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מטריצת המאשרים קובעת לכל סוג מסמך את מאשרי החובה ואת המאשר הסופי. שינוי שם במטריצה חל מההגשה הבאה, בלי לגעת בתהליך.</a:t>
            </a:r>
            <a:endParaRPr lang="he-IL" sz="1500" dirty="0"/>
          </a:p>
        </p:txBody>
      </p:sp>
      <p:sp>
        <p:nvSpPr>
          <p:cNvPr id="8" name="Shape 6"/>
          <p:cNvSpPr/>
          <p:nvPr/>
        </p:nvSpPr>
        <p:spPr>
          <a:xfrm>
            <a:off x="425196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6903720" y="1920240"/>
            <a:ext cx="548640" cy="548640"/>
          </a:xfrm>
          <a:prstGeom prst="ellipse">
            <a:avLst/>
          </a:prstGeom>
          <a:solidFill>
            <a:srgbClr val="0E6F73"/>
          </a:solidFill>
          <a:ln w="12700">
            <a:solidFill>
              <a:srgbClr val="0E6F73"/>
            </a:solidFill>
            <a:prstDash val="solid"/>
          </a:ln>
        </p:spPr>
      </p:sp>
      <p:sp>
        <p:nvSpPr>
          <p:cNvPr id="10" name="Text 8"/>
          <p:cNvSpPr txBox="1"/>
          <p:nvPr/>
        </p:nvSpPr>
        <p:spPr>
          <a:xfrm>
            <a:off x="690372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52628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איך מאשרים</a:t>
            </a:r>
            <a:endParaRPr lang="he-IL" sz="2200" dirty="0"/>
          </a:p>
        </p:txBody>
      </p:sp>
      <p:sp>
        <p:nvSpPr>
          <p:cNvPr id="12" name="Text 10"/>
          <p:cNvSpPr txBox="1"/>
          <p:nvPr/>
        </p:nvSpPr>
        <p:spPr>
          <a:xfrm>
            <a:off x="452628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בקשה ב-Teams (Approvals) ובמייל, עם קישור לרשומת המסמך. דחייה אחת מחזירה את המסמך לבעלים.</a:t>
            </a:r>
            <a:endParaRPr lang="he-IL" sz="1500" dirty="0"/>
          </a:p>
        </p:txBody>
      </p:sp>
      <p:sp>
        <p:nvSpPr>
          <p:cNvPr id="13" name="Shape 11"/>
          <p:cNvSpPr/>
          <p:nvPr/>
        </p:nvSpPr>
        <p:spPr>
          <a:xfrm>
            <a:off x="502920" y="1645920"/>
            <a:ext cx="3474720" cy="4023360"/>
          </a:xfrm>
          <a:prstGeom prst="roundRect">
            <a:avLst>
              <a:gd name="adj" fmla="val 2632"/>
            </a:avLst>
          </a:prstGeom>
          <a:solidFill>
            <a:srgbClr val="FFFFFF"/>
          </a:solidFill>
          <a:ln w="12700">
            <a:solidFill>
              <a:srgbClr val="C9D3D9"/>
            </a:solidFill>
            <a:prstDash val="solid"/>
          </a:ln>
          <a:effectLst>
            <a:outerShdw sx="100000" sy="100000" kx="0" ky="0" algn="bl" rotWithShape="0" blurRad="76200" dist="25400" dir="5400000">
              <a:srgbClr val="000000">
                <a:alpha val="12000"/>
              </a:srgbClr>
            </a:outerShdw>
          </a:effectLst>
        </p:spPr>
      </p:sp>
      <p:sp>
        <p:nvSpPr>
          <p:cNvPr id="14" name="Shape 12"/>
          <p:cNvSpPr/>
          <p:nvPr/>
        </p:nvSpPr>
        <p:spPr>
          <a:xfrm>
            <a:off x="3154680" y="1920240"/>
            <a:ext cx="548640" cy="548640"/>
          </a:xfrm>
          <a:prstGeom prst="ellipse">
            <a:avLst/>
          </a:prstGeom>
          <a:solidFill>
            <a:srgbClr val="0E6F73"/>
          </a:solidFill>
          <a:ln w="12700">
            <a:solidFill>
              <a:srgbClr val="0E6F73"/>
            </a:solidFill>
            <a:prstDash val="solid"/>
          </a:ln>
        </p:spPr>
      </p:sp>
      <p:sp>
        <p:nvSpPr>
          <p:cNvPr id="15" name="Text 13"/>
          <p:cNvSpPr txBox="1"/>
          <p:nvPr/>
        </p:nvSpPr>
        <p:spPr>
          <a:xfrm>
            <a:off x="315468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777240" y="2651760"/>
            <a:ext cx="2926080" cy="548640"/>
          </a:xfrm>
          <a:prstGeom prst="rect">
            <a:avLst/>
          </a:prstGeom>
          <a:noFill/>
          <a:ln/>
        </p:spPr>
        <p:txBody>
          <a:bodyPr wrap="square" lIns="0" tIns="0" rIns="0" bIns="0" rtlCol="0" anchor="ctr"/>
          <a:lstStyle/>
          <a:p>
            <a:pPr rtl="1" algn="r" indent="0" marL="0">
              <a:buNone/>
            </a:pPr>
            <a:r>
              <a:rPr lang="he-IL" altLang="en-US" sz="2200" b="1" dirty="0">
                <a:solidFill>
                  <a:srgbClr val="1B2A33"/>
                </a:solidFill>
                <a:latin typeface="Arial" pitchFamily="34" charset="0"/>
                <a:ea typeface="Arial" pitchFamily="34" charset="-122"/>
                <a:cs typeface="Arial" pitchFamily="34" charset="-120"/>
              </a:rPr>
              <a:t>מה נשמר</a:t>
            </a:r>
            <a:endParaRPr lang="he-IL" sz="2200" dirty="0"/>
          </a:p>
        </p:txBody>
      </p:sp>
      <p:sp>
        <p:nvSpPr>
          <p:cNvPr id="17" name="Text 15"/>
          <p:cNvSpPr txBox="1"/>
          <p:nvPr/>
        </p:nvSpPr>
        <p:spPr>
          <a:xfrm>
            <a:off x="777240" y="3291840"/>
            <a:ext cx="2926080" cy="2194560"/>
          </a:xfrm>
          <a:prstGeom prst="rect">
            <a:avLst/>
          </a:prstGeom>
          <a:noFill/>
          <a:ln/>
        </p:spPr>
        <p:txBody>
          <a:bodyPr wrap="square" lIns="0" tIns="0" rIns="0" bIns="0" rtlCol="0" anchor="t"/>
          <a:lstStyle/>
          <a:p>
            <a:pPr rtl="1" algn="r" indent="0" marL="0">
              <a:buNone/>
            </a:pPr>
            <a:r>
              <a:rPr lang="he-IL" altLang="en-US" sz="1500" dirty="0">
                <a:solidFill>
                  <a:srgbClr val="5D6F7A"/>
                </a:solidFill>
                <a:latin typeface="Arial" pitchFamily="34" charset="0"/>
                <a:ea typeface="Arial" pitchFamily="34" charset="-122"/>
                <a:cs typeface="Arial" pitchFamily="34" charset="-120"/>
              </a:rPr>
              <a:t>כל החלטה נרשמת ביומן הביקורת עם זמן, מבצע ופרטי התגובות. הקובץ עצמו נשאר בשרת הקבצים ואינו עובר דרך Power Automate.</a:t>
            </a:r>
            <a:endParaRPr lang="he-IL"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DMS approval flow</dc:title>
  <dc:subject>PptxGenJS Presentation</dc:subject>
  <dc:creator>PptxGenJS</dc:creator>
  <cp:lastModifiedBy>PptxGenJS</cp:lastModifiedBy>
  <cp:revision>1</cp:revision>
  <dcterms:created xsi:type="dcterms:W3CDTF">2026-10-01T07:06:19Z</dcterms:created>
  <dcterms:modified xsi:type="dcterms:W3CDTF">2026-10-01T07:06:19Z</dcterms:modified>
</cp:coreProperties>
</file>