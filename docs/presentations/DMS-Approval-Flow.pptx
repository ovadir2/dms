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המשתמש בדף ה-DMS. 4 SharePoint. 5 ו-9 שירות התהליכים מזיז את הקובץ ונועל. 6-7 אישור לפי מטריצת המאשרים, בפיילוט במסך האישורים בדף ובייצור ב-Teams. 8 סטטוס מאושר. 10 מעקב. דחייה מחזירה לשלב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רישום, 2 הגשה, 3 הטריגר מזהה, 4 קריאת המטריצה, 5 מאשרי חובה, 6 מאשר סופי, 7 נעילה, 8 יומן ביקורת. דחייה בכל שלב מחזירה לבעבודה ונרשמת ביומן.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כ-45 דקות: 10 דקות הצגה, 30 דקות תרגול בדף ה-DMS על DocumentControl-TEST, 5 דקות שאלות.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6F73"/>
        </a:solidFill>
      </p:bgPr>
    </p:bg>
    <p:spTree>
      <p:nvGrpSpPr>
        <p:cNvPr id="1" name=""/>
        <p:cNvGrpSpPr/>
        <p:nvPr/>
      </p:nvGrpSpPr>
      <p:grpSpPr>
        <a:xfrm>
          <a:off x="0" y="0"/>
          <a:ext cx="0" cy="0"/>
          <a:chOff x="0" y="0"/>
          <a:chExt cx="0" cy="0"/>
        </a:xfrm>
      </p:grpSpPr>
      <p:sp>
        <p:nvSpPr>
          <p:cNvPr id="2" name="Text 0"/>
          <p:cNvSpPr txBox="1"/>
          <p:nvPr/>
        </p:nvSpPr>
        <p:spPr>
          <a:xfrm>
            <a:off x="731520" y="1463040"/>
            <a:ext cx="10698480" cy="457200"/>
          </a:xfrm>
          <a:prstGeom prst="rect">
            <a:avLst/>
          </a:prstGeom>
          <a:noFill/>
          <a:ln/>
        </p:spPr>
        <p:txBody>
          <a:bodyPr wrap="square" lIns="0" tIns="0" rIns="0" bIns="0" rtlCol="0" anchor="ctr"/>
          <a:lstStyle/>
          <a:p>
            <a:pPr rtl="1" algn="r" indent="0" marL="0">
              <a:buNone/>
            </a:pPr>
            <a:r>
              <a:rPr lang="he-IL" altLang="en-US" sz="1800" b="1" dirty="0">
                <a:solidFill>
                  <a:srgbClr val="CFE9E9"/>
                </a:solidFill>
                <a:latin typeface="Arial" pitchFamily="34" charset="0"/>
                <a:ea typeface="Arial" pitchFamily="34" charset="-122"/>
                <a:cs typeface="Arial" pitchFamily="34" charset="-120"/>
              </a:rPr>
              <a:t>DMS · פיילוט</a:t>
            </a:r>
            <a:endParaRPr lang="he-IL" sz="1800" dirty="0"/>
          </a:p>
        </p:txBody>
      </p:sp>
      <p:sp>
        <p:nvSpPr>
          <p:cNvPr id="3" name="Text 1"/>
          <p:cNvSpPr txBox="1"/>
          <p:nvPr/>
        </p:nvSpPr>
        <p:spPr>
          <a:xfrm>
            <a:off x="731520" y="2011680"/>
            <a:ext cx="10698480" cy="1097280"/>
          </a:xfrm>
          <a:prstGeom prst="rect">
            <a:avLst/>
          </a:prstGeom>
          <a:noFill/>
          <a:ln/>
        </p:spPr>
        <p:txBody>
          <a:bodyPr wrap="square" lIns="0" tIns="0" rIns="0" bIns="0" rtlCol="0" anchor="ctr"/>
          <a:lstStyle/>
          <a:p>
            <a:pPr rtl="1" algn="r" indent="0" marL="0">
              <a:buNone/>
            </a:pPr>
            <a:r>
              <a:rPr lang="he-IL" altLang="en-US" sz="4800" b="1" dirty="0">
                <a:solidFill>
                  <a:srgbClr val="FFFFFF"/>
                </a:solidFill>
                <a:latin typeface="Arial" pitchFamily="34" charset="0"/>
                <a:ea typeface="Arial" pitchFamily="34" charset="-122"/>
                <a:cs typeface="Arial" pitchFamily="34" charset="-120"/>
              </a:rPr>
              <a:t>תהליך הפיילוט והדרכת משתמשים</a:t>
            </a:r>
            <a:endParaRPr lang="he-IL" sz="4800" dirty="0"/>
          </a:p>
        </p:txBody>
      </p:sp>
      <p:sp>
        <p:nvSpPr>
          <p:cNvPr id="4" name="Text 2"/>
          <p:cNvSpPr txBox="1"/>
          <p:nvPr/>
        </p:nvSpPr>
        <p:spPr>
          <a:xfrm>
            <a:off x="731520" y="3200400"/>
            <a:ext cx="10698480" cy="868680"/>
          </a:xfrm>
          <a:prstGeom prst="rect">
            <a:avLst/>
          </a:prstGeom>
          <a:noFill/>
          <a:ln/>
        </p:spPr>
        <p:txBody>
          <a:bodyPr wrap="square" lIns="0" tIns="0" rIns="0" bIns="0" rtlCol="0" anchor="ctr"/>
          <a:lstStyle/>
          <a:p>
            <a:pPr rtl="1" algn="r" indent="0" marL="0">
              <a:buNone/>
            </a:pPr>
            <a:r>
              <a:rPr lang="he-IL" altLang="en-US" sz="2000" dirty="0">
                <a:solidFill>
                  <a:srgbClr val="E6F4F4"/>
                </a:solidFill>
                <a:latin typeface="Arial" pitchFamily="34" charset="0"/>
                <a:ea typeface="Arial" pitchFamily="34" charset="-122"/>
                <a:cs typeface="Arial" pitchFamily="34" charset="-120"/>
              </a:rPr>
              <a:t>RH - מערכת ניהול מסמכים: מהקובץ בשרת, דרך דף ה-DMS והאישור, ועד נעילה לקריאה בלבד ושיתוף עם לקוחות</a:t>
            </a:r>
            <a:endParaRPr lang="he-IL" sz="2000" dirty="0"/>
          </a:p>
        </p:txBody>
      </p:sp>
      <p:sp>
        <p:nvSpPr>
          <p:cNvPr id="5" name="Text 3"/>
          <p:cNvSpPr txBox="1"/>
          <p:nvPr/>
        </p:nvSpPr>
        <p:spPr>
          <a:xfrm>
            <a:off x="731520" y="5760720"/>
            <a:ext cx="10698480" cy="365760"/>
          </a:xfrm>
          <a:prstGeom prst="rect">
            <a:avLst/>
          </a:prstGeom>
          <a:noFill/>
          <a:ln/>
        </p:spPr>
        <p:txBody>
          <a:bodyPr wrap="square" lIns="0" tIns="0" rIns="0" bIns="0" rtlCol="0" anchor="ctr"/>
          <a:lstStyle/>
          <a:p>
            <a:pPr algn="r" indent="0" marL="0">
              <a:buNone/>
            </a:pPr>
            <a:r>
              <a:rPr lang="en-US" sz="1400" dirty="0">
                <a:solidFill>
                  <a:srgbClr val="CFE9E9"/>
                </a:solidFill>
                <a:latin typeface="Arial" pitchFamily="34" charset="0"/>
                <a:ea typeface="Arial" pitchFamily="34" charset="-122"/>
                <a:cs typeface="Arial" pitchFamily="34" charset="-120"/>
              </a:rPr>
              <a:t>DMS page · SharePoint · Power Automate · Large File Exchange · OneDrive · AI Insights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274320"/>
            <a:ext cx="11430000" cy="594360"/>
          </a:xfrm>
          <a:prstGeom prst="rect">
            <a:avLst/>
          </a:prstGeom>
          <a:noFill/>
          <a:ln/>
        </p:spPr>
        <p:txBody>
          <a:bodyPr wrap="square" lIns="0" tIns="0" rIns="0" bIns="0" rtlCol="0" anchor="ctr"/>
          <a:lstStyle/>
          <a:p>
            <a:pPr rtl="1" algn="r" indent="0" marL="0">
              <a:buNone/>
            </a:pPr>
            <a:r>
              <a:rPr lang="he-IL" altLang="en-US" sz="3000" b="1" dirty="0">
                <a:solidFill>
                  <a:srgbClr val="1B2A33"/>
                </a:solidFill>
                <a:latin typeface="Arial" pitchFamily="34" charset="0"/>
                <a:ea typeface="Arial" pitchFamily="34" charset="-122"/>
                <a:cs typeface="Arial" pitchFamily="34" charset="-120"/>
              </a:rPr>
              <a:t>תהליך הפיילוט מקצה לקצה</a:t>
            </a:r>
            <a:endParaRPr lang="he-IL" sz="3000" dirty="0"/>
          </a:p>
        </p:txBody>
      </p:sp>
      <p:sp>
        <p:nvSpPr>
          <p:cNvPr id="3" name="Text 1"/>
          <p:cNvSpPr txBox="1"/>
          <p:nvPr/>
        </p:nvSpPr>
        <p:spPr>
          <a:xfrm>
            <a:off x="365760" y="841248"/>
            <a:ext cx="11430000" cy="365760"/>
          </a:xfrm>
          <a:prstGeom prst="rect">
            <a:avLst/>
          </a:prstGeom>
          <a:noFill/>
          <a:ln/>
        </p:spPr>
        <p:txBody>
          <a:bodyPr wrap="square" lIns="0" tIns="0" rIns="0" bIns="0" rtlCol="0" anchor="ctr"/>
          <a:lstStyle/>
          <a:p>
            <a:pPr rtl="1" algn="r" indent="0" marL="0">
              <a:buNone/>
            </a:pPr>
            <a:r>
              <a:rPr lang="he-IL" altLang="en-US" sz="1400" dirty="0">
                <a:solidFill>
                  <a:srgbClr val="5D6F7A"/>
                </a:solidFill>
                <a:latin typeface="Arial" pitchFamily="34" charset="0"/>
                <a:ea typeface="Arial" pitchFamily="34" charset="-122"/>
                <a:cs typeface="Arial" pitchFamily="34" charset="-120"/>
              </a:rPr>
              <a:t>מהקובץ בשרת הקבצים, דרך דף ה-DMS ומסך האישורים, ועד הגרסה המאושרת לקריאה בלבד</a:t>
            </a:r>
            <a:endParaRPr lang="he-IL" sz="1400" dirty="0"/>
          </a:p>
        </p:txBody>
      </p:sp>
      <p:sp>
        <p:nvSpPr>
          <p:cNvPr id="4" name="Shape 2"/>
          <p:cNvSpPr/>
          <p:nvPr/>
        </p:nvSpPr>
        <p:spPr>
          <a:xfrm>
            <a:off x="9637776" y="1554480"/>
            <a:ext cx="1965960" cy="1463040"/>
          </a:xfrm>
          <a:prstGeom prst="roundRect">
            <a:avLst>
              <a:gd name="adj" fmla="val 5000"/>
            </a:avLst>
          </a:prstGeom>
          <a:solidFill>
            <a:srgbClr val="FFFFFF"/>
          </a:solidFill>
          <a:ln w="19050">
            <a:solidFill>
              <a:srgbClr val="0E6F73"/>
            </a:solidFill>
            <a:prstDash val="solid"/>
          </a:ln>
        </p:spPr>
      </p:sp>
      <p:sp>
        <p:nvSpPr>
          <p:cNvPr id="5" name="Shape 3"/>
          <p:cNvSpPr/>
          <p:nvPr/>
        </p:nvSpPr>
        <p:spPr>
          <a:xfrm>
            <a:off x="9656064" y="1572768"/>
            <a:ext cx="1929384" cy="310896"/>
          </a:xfrm>
          <a:prstGeom prst="rect">
            <a:avLst/>
          </a:prstGeom>
          <a:solidFill>
            <a:srgbClr val="0E6F73"/>
          </a:solidFill>
          <a:ln w="12700">
            <a:solidFill>
              <a:srgbClr val="0E6F73"/>
            </a:solidFill>
            <a:prstDash val="solid"/>
          </a:ln>
        </p:spPr>
      </p:sp>
      <p:sp>
        <p:nvSpPr>
          <p:cNvPr id="6" name="Text 4"/>
          <p:cNvSpPr txBox="1"/>
          <p:nvPr/>
        </p:nvSpPr>
        <p:spPr>
          <a:xfrm>
            <a:off x="9683496" y="1572768"/>
            <a:ext cx="1463040" cy="310896"/>
          </a:xfrm>
          <a:prstGeom prst="rect">
            <a:avLst/>
          </a:prstGeom>
          <a:noFill/>
          <a:ln/>
        </p:spPr>
        <p:txBody>
          <a:bodyPr wrap="square" lIns="0" tIns="0" rIns="0" bIns="0" rtlCol="0" anchor="ctr"/>
          <a:lstStyle/>
          <a:p>
            <a:pPr rtl="1" algn="r" indent="0" marL="0">
              <a:buNone/>
            </a:pPr>
            <a:r>
              <a:rPr lang="he-IL" altLang="en-US" sz="1000" b="1" dirty="0">
                <a:solidFill>
                  <a:srgbClr val="FFFFFF"/>
                </a:solidFill>
                <a:latin typeface="Arial" pitchFamily="34" charset="0"/>
                <a:ea typeface="Arial" pitchFamily="34" charset="-122"/>
                <a:cs typeface="Arial" pitchFamily="34" charset="-120"/>
              </a:rPr>
              <a:t>משתמש · דף DMS</a:t>
            </a:r>
            <a:endParaRPr lang="he-IL" sz="1000" dirty="0"/>
          </a:p>
        </p:txBody>
      </p:sp>
      <p:sp>
        <p:nvSpPr>
          <p:cNvPr id="7" name="Shape 5"/>
          <p:cNvSpPr/>
          <p:nvPr/>
        </p:nvSpPr>
        <p:spPr>
          <a:xfrm>
            <a:off x="9710928" y="1591056"/>
            <a:ext cx="274320" cy="274320"/>
          </a:xfrm>
          <a:prstGeom prst="ellipse">
            <a:avLst/>
          </a:prstGeom>
          <a:solidFill>
            <a:srgbClr val="FFFFFF"/>
          </a:solidFill>
          <a:ln w="12700">
            <a:solidFill>
              <a:srgbClr val="FFFFFF"/>
            </a:solidFill>
            <a:prstDash val="solid"/>
          </a:ln>
        </p:spPr>
      </p:sp>
      <p:sp>
        <p:nvSpPr>
          <p:cNvPr id="8" name="Text 6"/>
          <p:cNvSpPr txBox="1"/>
          <p:nvPr/>
        </p:nvSpPr>
        <p:spPr>
          <a:xfrm>
            <a:off x="9710928" y="1591056"/>
            <a:ext cx="274320" cy="274320"/>
          </a:xfrm>
          <a:prstGeom prst="rect">
            <a:avLst/>
          </a:prstGeom>
          <a:noFill/>
          <a:ln/>
        </p:spPr>
        <p:txBody>
          <a:bodyPr wrap="square" lIns="0" tIns="0" rIns="0" bIns="0" rtlCol="0" anchor="ctr"/>
          <a:lstStyle/>
          <a:p>
            <a:pPr algn="ctr" indent="0" marL="0">
              <a:buNone/>
            </a:pPr>
            <a:r>
              <a:rPr lang="en-US" sz="1100" b="1" dirty="0">
                <a:solidFill>
                  <a:srgbClr val="0E6F73"/>
                </a:solidFill>
                <a:latin typeface="Arial" pitchFamily="34" charset="0"/>
                <a:ea typeface="Arial" pitchFamily="34" charset="-122"/>
                <a:cs typeface="Arial" pitchFamily="34" charset="-120"/>
              </a:rPr>
              <a:t>1</a:t>
            </a:r>
            <a:endParaRPr lang="en-US" sz="1100" dirty="0"/>
          </a:p>
        </p:txBody>
      </p:sp>
      <p:sp>
        <p:nvSpPr>
          <p:cNvPr id="9" name="Text 7"/>
          <p:cNvSpPr txBox="1"/>
          <p:nvPr/>
        </p:nvSpPr>
        <p:spPr>
          <a:xfrm>
            <a:off x="9729216" y="1938528"/>
            <a:ext cx="1783080" cy="1005840"/>
          </a:xfrm>
          <a:prstGeom prst="rect">
            <a:avLst/>
          </a:prstGeom>
          <a:noFill/>
          <a:ln/>
        </p:spPr>
        <p:txBody>
          <a:bodyPr wrap="square" lIns="0" tIns="0" rIns="0" bIns="0" rtlCol="0" anchor="t"/>
          <a:lstStyle/>
          <a:p>
            <a:pPr algn="r" indent="0" marL="0">
              <a:buNone/>
            </a:pPr>
            <a:r>
              <a:rPr lang="he-IL" altLang="en-US" sz="1250" b="1" dirty="0">
                <a:solidFill>
                  <a:srgbClr val="1B2A33"/>
                </a:solidFill>
                <a:latin typeface="Arial" pitchFamily="34" charset="0"/>
                <a:ea typeface="Arial" pitchFamily="34" charset="-122"/>
                <a:cs typeface="Arial" pitchFamily="34" charset="-120"/>
              </a:rPr>
              <a:t>בחירת מיקום</a:t>
            </a:r>
            <a:endParaRPr lang="he-IL" sz="1250" dirty="0"/>
          </a:p>
          <a:p>
            <a:pPr algn="r" indent="0" marL="0">
              <a:buNone/>
            </a:pPr>
            <a:r>
              <a:rPr lang="he-IL" altLang="en-US" sz="1000" dirty="0">
                <a:solidFill>
                  <a:srgbClr val="5D6F7A"/>
                </a:solidFill>
                <a:latin typeface="Arial" pitchFamily="34" charset="0"/>
                <a:ea typeface="Arial" pitchFamily="34" charset="-122"/>
                <a:cs typeface="Arial" pitchFamily="34" charset="-120"/>
              </a:rPr>
              <a:t>לקוח › תיקייה לפי עץ הבלופרינט, רק מה ש-AD מאפשר</a:t>
            </a:r>
            <a:endParaRPr lang="he-IL" sz="1250" dirty="0"/>
          </a:p>
        </p:txBody>
      </p:sp>
      <p:sp>
        <p:nvSpPr>
          <p:cNvPr id="10" name="Shape 8"/>
          <p:cNvSpPr/>
          <p:nvPr/>
        </p:nvSpPr>
        <p:spPr>
          <a:xfrm>
            <a:off x="7370064" y="1554480"/>
            <a:ext cx="1965960" cy="1463040"/>
          </a:xfrm>
          <a:prstGeom prst="roundRect">
            <a:avLst>
              <a:gd name="adj" fmla="val 5000"/>
            </a:avLst>
          </a:prstGeom>
          <a:solidFill>
            <a:srgbClr val="FFFFFF"/>
          </a:solidFill>
          <a:ln w="19050">
            <a:solidFill>
              <a:srgbClr val="0E6F73"/>
            </a:solidFill>
            <a:prstDash val="solid"/>
          </a:ln>
        </p:spPr>
      </p:sp>
      <p:sp>
        <p:nvSpPr>
          <p:cNvPr id="11" name="Shape 9"/>
          <p:cNvSpPr/>
          <p:nvPr/>
        </p:nvSpPr>
        <p:spPr>
          <a:xfrm>
            <a:off x="7388352" y="1572768"/>
            <a:ext cx="1929384" cy="310896"/>
          </a:xfrm>
          <a:prstGeom prst="rect">
            <a:avLst/>
          </a:prstGeom>
          <a:solidFill>
            <a:srgbClr val="0E6F73"/>
          </a:solidFill>
          <a:ln w="12700">
            <a:solidFill>
              <a:srgbClr val="0E6F73"/>
            </a:solidFill>
            <a:prstDash val="solid"/>
          </a:ln>
        </p:spPr>
      </p:sp>
      <p:sp>
        <p:nvSpPr>
          <p:cNvPr id="12" name="Text 10"/>
          <p:cNvSpPr txBox="1"/>
          <p:nvPr/>
        </p:nvSpPr>
        <p:spPr>
          <a:xfrm>
            <a:off x="7415784" y="1572768"/>
            <a:ext cx="1463040" cy="310896"/>
          </a:xfrm>
          <a:prstGeom prst="rect">
            <a:avLst/>
          </a:prstGeom>
          <a:noFill/>
          <a:ln/>
        </p:spPr>
        <p:txBody>
          <a:bodyPr wrap="square" lIns="0" tIns="0" rIns="0" bIns="0" rtlCol="0" anchor="ctr"/>
          <a:lstStyle/>
          <a:p>
            <a:pPr rtl="1" algn="r" indent="0" marL="0">
              <a:buNone/>
            </a:pPr>
            <a:r>
              <a:rPr lang="he-IL" altLang="en-US" sz="1000" b="1" dirty="0">
                <a:solidFill>
                  <a:srgbClr val="FFFFFF"/>
                </a:solidFill>
                <a:latin typeface="Arial" pitchFamily="34" charset="0"/>
                <a:ea typeface="Arial" pitchFamily="34" charset="-122"/>
                <a:cs typeface="Arial" pitchFamily="34" charset="-120"/>
              </a:rPr>
              <a:t>משתמש · דף DMS</a:t>
            </a:r>
            <a:endParaRPr lang="he-IL" sz="1000" dirty="0"/>
          </a:p>
        </p:txBody>
      </p:sp>
      <p:sp>
        <p:nvSpPr>
          <p:cNvPr id="13" name="Shape 11"/>
          <p:cNvSpPr/>
          <p:nvPr/>
        </p:nvSpPr>
        <p:spPr>
          <a:xfrm>
            <a:off x="7443216" y="1591056"/>
            <a:ext cx="274320" cy="274320"/>
          </a:xfrm>
          <a:prstGeom prst="ellipse">
            <a:avLst/>
          </a:prstGeom>
          <a:solidFill>
            <a:srgbClr val="FFFFFF"/>
          </a:solidFill>
          <a:ln w="12700">
            <a:solidFill>
              <a:srgbClr val="FFFFFF"/>
            </a:solidFill>
            <a:prstDash val="solid"/>
          </a:ln>
        </p:spPr>
      </p:sp>
      <p:sp>
        <p:nvSpPr>
          <p:cNvPr id="14" name="Text 12"/>
          <p:cNvSpPr txBox="1"/>
          <p:nvPr/>
        </p:nvSpPr>
        <p:spPr>
          <a:xfrm>
            <a:off x="7443216" y="1591056"/>
            <a:ext cx="274320" cy="274320"/>
          </a:xfrm>
          <a:prstGeom prst="rect">
            <a:avLst/>
          </a:prstGeom>
          <a:noFill/>
          <a:ln/>
        </p:spPr>
        <p:txBody>
          <a:bodyPr wrap="square" lIns="0" tIns="0" rIns="0" bIns="0" rtlCol="0" anchor="ctr"/>
          <a:lstStyle/>
          <a:p>
            <a:pPr algn="ctr" indent="0" marL="0">
              <a:buNone/>
            </a:pPr>
            <a:r>
              <a:rPr lang="en-US" sz="1100" b="1" dirty="0">
                <a:solidFill>
                  <a:srgbClr val="0E6F73"/>
                </a:solidFill>
                <a:latin typeface="Arial" pitchFamily="34" charset="0"/>
                <a:ea typeface="Arial" pitchFamily="34" charset="-122"/>
                <a:cs typeface="Arial" pitchFamily="34" charset="-120"/>
              </a:rPr>
              <a:t>2</a:t>
            </a:r>
            <a:endParaRPr lang="en-US" sz="1100" dirty="0"/>
          </a:p>
        </p:txBody>
      </p:sp>
      <p:sp>
        <p:nvSpPr>
          <p:cNvPr id="15" name="Text 13"/>
          <p:cNvSpPr txBox="1"/>
          <p:nvPr/>
        </p:nvSpPr>
        <p:spPr>
          <a:xfrm>
            <a:off x="7461504" y="1938528"/>
            <a:ext cx="1783080" cy="1005840"/>
          </a:xfrm>
          <a:prstGeom prst="rect">
            <a:avLst/>
          </a:prstGeom>
          <a:noFill/>
          <a:ln/>
        </p:spPr>
        <p:txBody>
          <a:bodyPr wrap="square" lIns="0" tIns="0" rIns="0" bIns="0" rtlCol="0" anchor="t"/>
          <a:lstStyle/>
          <a:p>
            <a:pPr algn="r" indent="0" marL="0">
              <a:buNone/>
            </a:pPr>
            <a:r>
              <a:rPr lang="he-IL" altLang="en-US" sz="1250" b="1" dirty="0">
                <a:solidFill>
                  <a:srgbClr val="1B2A33"/>
                </a:solidFill>
                <a:latin typeface="Arial" pitchFamily="34" charset="0"/>
                <a:ea typeface="Arial" pitchFamily="34" charset="-122"/>
                <a:cs typeface="Arial" pitchFamily="34" charset="-120"/>
              </a:rPr>
              <a:t>שמירת הקובץ</a:t>
            </a:r>
            <a:endParaRPr lang="he-IL" sz="1250" dirty="0"/>
          </a:p>
          <a:p>
            <a:pPr algn="r" indent="0" marL="0">
              <a:buNone/>
            </a:pPr>
            <a:r>
              <a:rPr lang="he-IL" altLang="en-US" sz="1000" dirty="0">
                <a:solidFill>
                  <a:srgbClr val="5D6F7A"/>
                </a:solidFill>
                <a:latin typeface="Arial" pitchFamily="34" charset="0"/>
                <a:ea typeface="Arial" pitchFamily="34" charset="-122"/>
                <a:cs typeface="Arial" pitchFamily="34" charset="-120"/>
              </a:rPr>
              <a:t>העלאה לתיקייה (או "מה שומרים?"). הקובץ בתיקייה, בעבודה</a:t>
            </a:r>
            <a:endParaRPr lang="he-IL" sz="1250" dirty="0"/>
          </a:p>
        </p:txBody>
      </p:sp>
      <p:sp>
        <p:nvSpPr>
          <p:cNvPr id="16" name="Shape 14"/>
          <p:cNvSpPr/>
          <p:nvPr/>
        </p:nvSpPr>
        <p:spPr>
          <a:xfrm>
            <a:off x="5102352" y="1554480"/>
            <a:ext cx="1965960" cy="1463040"/>
          </a:xfrm>
          <a:prstGeom prst="roundRect">
            <a:avLst>
              <a:gd name="adj" fmla="val 5000"/>
            </a:avLst>
          </a:prstGeom>
          <a:solidFill>
            <a:srgbClr val="FFFFFF"/>
          </a:solidFill>
          <a:ln w="19050">
            <a:solidFill>
              <a:srgbClr val="0E6F73"/>
            </a:solidFill>
            <a:prstDash val="solid"/>
          </a:ln>
        </p:spPr>
      </p:sp>
      <p:sp>
        <p:nvSpPr>
          <p:cNvPr id="17" name="Shape 15"/>
          <p:cNvSpPr/>
          <p:nvPr/>
        </p:nvSpPr>
        <p:spPr>
          <a:xfrm>
            <a:off x="5120640" y="1572768"/>
            <a:ext cx="1929384" cy="310896"/>
          </a:xfrm>
          <a:prstGeom prst="rect">
            <a:avLst/>
          </a:prstGeom>
          <a:solidFill>
            <a:srgbClr val="0E6F73"/>
          </a:solidFill>
          <a:ln w="12700">
            <a:solidFill>
              <a:srgbClr val="0E6F73"/>
            </a:solidFill>
            <a:prstDash val="solid"/>
          </a:ln>
        </p:spPr>
      </p:sp>
      <p:sp>
        <p:nvSpPr>
          <p:cNvPr id="18" name="Text 16"/>
          <p:cNvSpPr txBox="1"/>
          <p:nvPr/>
        </p:nvSpPr>
        <p:spPr>
          <a:xfrm>
            <a:off x="5148072" y="1572768"/>
            <a:ext cx="1463040" cy="310896"/>
          </a:xfrm>
          <a:prstGeom prst="rect">
            <a:avLst/>
          </a:prstGeom>
          <a:noFill/>
          <a:ln/>
        </p:spPr>
        <p:txBody>
          <a:bodyPr wrap="square" lIns="0" tIns="0" rIns="0" bIns="0" rtlCol="0" anchor="ctr"/>
          <a:lstStyle/>
          <a:p>
            <a:pPr rtl="1" algn="r" indent="0" marL="0">
              <a:buNone/>
            </a:pPr>
            <a:r>
              <a:rPr lang="he-IL" altLang="en-US" sz="1000" b="1" dirty="0">
                <a:solidFill>
                  <a:srgbClr val="FFFFFF"/>
                </a:solidFill>
                <a:latin typeface="Arial" pitchFamily="34" charset="0"/>
                <a:ea typeface="Arial" pitchFamily="34" charset="-122"/>
                <a:cs typeface="Arial" pitchFamily="34" charset="-120"/>
              </a:rPr>
              <a:t>משתמש · דף DMS</a:t>
            </a:r>
            <a:endParaRPr lang="he-IL" sz="1000" dirty="0"/>
          </a:p>
        </p:txBody>
      </p:sp>
      <p:sp>
        <p:nvSpPr>
          <p:cNvPr id="19" name="Shape 17"/>
          <p:cNvSpPr/>
          <p:nvPr/>
        </p:nvSpPr>
        <p:spPr>
          <a:xfrm>
            <a:off x="5175504" y="1591056"/>
            <a:ext cx="274320" cy="274320"/>
          </a:xfrm>
          <a:prstGeom prst="ellipse">
            <a:avLst/>
          </a:prstGeom>
          <a:solidFill>
            <a:srgbClr val="FFFFFF"/>
          </a:solidFill>
          <a:ln w="12700">
            <a:solidFill>
              <a:srgbClr val="FFFFFF"/>
            </a:solidFill>
            <a:prstDash val="solid"/>
          </a:ln>
        </p:spPr>
      </p:sp>
      <p:sp>
        <p:nvSpPr>
          <p:cNvPr id="20" name="Text 18"/>
          <p:cNvSpPr txBox="1"/>
          <p:nvPr/>
        </p:nvSpPr>
        <p:spPr>
          <a:xfrm>
            <a:off x="5175504" y="1591056"/>
            <a:ext cx="274320" cy="274320"/>
          </a:xfrm>
          <a:prstGeom prst="rect">
            <a:avLst/>
          </a:prstGeom>
          <a:noFill/>
          <a:ln/>
        </p:spPr>
        <p:txBody>
          <a:bodyPr wrap="square" lIns="0" tIns="0" rIns="0" bIns="0" rtlCol="0" anchor="ctr"/>
          <a:lstStyle/>
          <a:p>
            <a:pPr algn="ctr" indent="0" marL="0">
              <a:buNone/>
            </a:pPr>
            <a:r>
              <a:rPr lang="en-US" sz="1100" b="1" dirty="0">
                <a:solidFill>
                  <a:srgbClr val="0E6F73"/>
                </a:solidFill>
                <a:latin typeface="Arial" pitchFamily="34" charset="0"/>
                <a:ea typeface="Arial" pitchFamily="34" charset="-122"/>
                <a:cs typeface="Arial" pitchFamily="34" charset="-120"/>
              </a:rPr>
              <a:t>3</a:t>
            </a:r>
            <a:endParaRPr lang="en-US" sz="1100" dirty="0"/>
          </a:p>
        </p:txBody>
      </p:sp>
      <p:sp>
        <p:nvSpPr>
          <p:cNvPr id="21" name="Text 19"/>
          <p:cNvSpPr txBox="1"/>
          <p:nvPr/>
        </p:nvSpPr>
        <p:spPr>
          <a:xfrm>
            <a:off x="5193792" y="1938528"/>
            <a:ext cx="1783080" cy="1005840"/>
          </a:xfrm>
          <a:prstGeom prst="rect">
            <a:avLst/>
          </a:prstGeom>
          <a:noFill/>
          <a:ln/>
        </p:spPr>
        <p:txBody>
          <a:bodyPr wrap="square" lIns="0" tIns="0" rIns="0" bIns="0" rtlCol="0" anchor="t"/>
          <a:lstStyle/>
          <a:p>
            <a:pPr algn="r" indent="0" marL="0">
              <a:buNone/>
            </a:pPr>
            <a:r>
              <a:rPr lang="he-IL" altLang="en-US" sz="1250" b="1" dirty="0">
                <a:solidFill>
                  <a:srgbClr val="1B2A33"/>
                </a:solidFill>
                <a:latin typeface="Arial" pitchFamily="34" charset="0"/>
                <a:ea typeface="Arial" pitchFamily="34" charset="-122"/>
                <a:cs typeface="Arial" pitchFamily="34" charset="-120"/>
              </a:rPr>
              <a:t>שליחה לאישור</a:t>
            </a:r>
            <a:endParaRPr lang="he-IL" sz="1250" dirty="0"/>
          </a:p>
          <a:p>
            <a:pPr algn="r" indent="0" marL="0">
              <a:buNone/>
            </a:pPr>
            <a:r>
              <a:rPr lang="he-IL" altLang="en-US" sz="1000" dirty="0">
                <a:solidFill>
                  <a:srgbClr val="5D6F7A"/>
                </a:solidFill>
                <a:latin typeface="Arial" pitchFamily="34" charset="0"/>
                <a:ea typeface="Arial" pitchFamily="34" charset="-122"/>
                <a:cs typeface="Arial" pitchFamily="34" charset="-120"/>
              </a:rPr>
              <a:t>Start workflow: סוג מסמך, תחום, רישום והגשה</a:t>
            </a:r>
            <a:endParaRPr lang="he-IL" sz="1250" dirty="0"/>
          </a:p>
        </p:txBody>
      </p:sp>
      <p:sp>
        <p:nvSpPr>
          <p:cNvPr id="22" name="Shape 20"/>
          <p:cNvSpPr/>
          <p:nvPr/>
        </p:nvSpPr>
        <p:spPr>
          <a:xfrm>
            <a:off x="2834640" y="1554480"/>
            <a:ext cx="1965960" cy="1463040"/>
          </a:xfrm>
          <a:prstGeom prst="roundRect">
            <a:avLst>
              <a:gd name="adj" fmla="val 5000"/>
            </a:avLst>
          </a:prstGeom>
          <a:solidFill>
            <a:srgbClr val="FFFFFF"/>
          </a:solidFill>
          <a:ln w="19050">
            <a:solidFill>
              <a:srgbClr val="1F5FA8"/>
            </a:solidFill>
            <a:prstDash val="solid"/>
          </a:ln>
        </p:spPr>
      </p:sp>
      <p:sp>
        <p:nvSpPr>
          <p:cNvPr id="23" name="Shape 21"/>
          <p:cNvSpPr/>
          <p:nvPr/>
        </p:nvSpPr>
        <p:spPr>
          <a:xfrm>
            <a:off x="2852928" y="1572768"/>
            <a:ext cx="1929384" cy="310896"/>
          </a:xfrm>
          <a:prstGeom prst="rect">
            <a:avLst/>
          </a:prstGeom>
          <a:solidFill>
            <a:srgbClr val="1F5FA8"/>
          </a:solidFill>
          <a:ln w="12700">
            <a:solidFill>
              <a:srgbClr val="1F5FA8"/>
            </a:solidFill>
            <a:prstDash val="solid"/>
          </a:ln>
        </p:spPr>
      </p:sp>
      <p:sp>
        <p:nvSpPr>
          <p:cNvPr id="24" name="Text 22"/>
          <p:cNvSpPr txBox="1"/>
          <p:nvPr/>
        </p:nvSpPr>
        <p:spPr>
          <a:xfrm>
            <a:off x="2880360" y="1572768"/>
            <a:ext cx="1463040" cy="310896"/>
          </a:xfrm>
          <a:prstGeom prst="rect">
            <a:avLst/>
          </a:prstGeom>
          <a:noFill/>
          <a:ln/>
        </p:spPr>
        <p:txBody>
          <a:bodyPr wrap="square" lIns="0" tIns="0" rIns="0" bIns="0" rtlCol="0" anchor="ctr"/>
          <a:lstStyle/>
          <a:p>
            <a:pPr rtl="1" algn="r" indent="0" marL="0">
              <a:buNone/>
            </a:pPr>
            <a:r>
              <a:rPr lang="he-IL" altLang="en-US" sz="1000" b="1" dirty="0">
                <a:solidFill>
                  <a:srgbClr val="FFFFFF"/>
                </a:solidFill>
                <a:latin typeface="Arial" pitchFamily="34" charset="0"/>
                <a:ea typeface="Arial" pitchFamily="34" charset="-122"/>
                <a:cs typeface="Arial" pitchFamily="34" charset="-120"/>
              </a:rPr>
              <a:t>SharePoint</a:t>
            </a:r>
            <a:endParaRPr lang="he-IL" sz="1000" dirty="0"/>
          </a:p>
        </p:txBody>
      </p:sp>
      <p:sp>
        <p:nvSpPr>
          <p:cNvPr id="25" name="Shape 23"/>
          <p:cNvSpPr/>
          <p:nvPr/>
        </p:nvSpPr>
        <p:spPr>
          <a:xfrm>
            <a:off x="2907792" y="1591056"/>
            <a:ext cx="274320" cy="274320"/>
          </a:xfrm>
          <a:prstGeom prst="ellipse">
            <a:avLst/>
          </a:prstGeom>
          <a:solidFill>
            <a:srgbClr val="FFFFFF"/>
          </a:solidFill>
          <a:ln w="12700">
            <a:solidFill>
              <a:srgbClr val="FFFFFF"/>
            </a:solidFill>
            <a:prstDash val="solid"/>
          </a:ln>
        </p:spPr>
      </p:sp>
      <p:sp>
        <p:nvSpPr>
          <p:cNvPr id="26" name="Text 24"/>
          <p:cNvSpPr txBox="1"/>
          <p:nvPr/>
        </p:nvSpPr>
        <p:spPr>
          <a:xfrm>
            <a:off x="2907792" y="1591056"/>
            <a:ext cx="274320" cy="274320"/>
          </a:xfrm>
          <a:prstGeom prst="rect">
            <a:avLst/>
          </a:prstGeom>
          <a:noFill/>
          <a:ln/>
        </p:spPr>
        <p:txBody>
          <a:bodyPr wrap="square" lIns="0" tIns="0" rIns="0" bIns="0" rtlCol="0" anchor="ctr"/>
          <a:lstStyle/>
          <a:p>
            <a:pPr algn="ctr" indent="0" marL="0">
              <a:buNone/>
            </a:pPr>
            <a:r>
              <a:rPr lang="en-US" sz="1100" b="1" dirty="0">
                <a:solidFill>
                  <a:srgbClr val="1F5FA8"/>
                </a:solidFill>
                <a:latin typeface="Arial" pitchFamily="34" charset="0"/>
                <a:ea typeface="Arial" pitchFamily="34" charset="-122"/>
                <a:cs typeface="Arial" pitchFamily="34" charset="-120"/>
              </a:rPr>
              <a:t>4</a:t>
            </a:r>
            <a:endParaRPr lang="en-US" sz="1100" dirty="0"/>
          </a:p>
        </p:txBody>
      </p:sp>
      <p:sp>
        <p:nvSpPr>
          <p:cNvPr id="27" name="Text 25"/>
          <p:cNvSpPr txBox="1"/>
          <p:nvPr/>
        </p:nvSpPr>
        <p:spPr>
          <a:xfrm>
            <a:off x="2926080" y="1938528"/>
            <a:ext cx="1783080" cy="1005840"/>
          </a:xfrm>
          <a:prstGeom prst="rect">
            <a:avLst/>
          </a:prstGeom>
          <a:noFill/>
          <a:ln/>
        </p:spPr>
        <p:txBody>
          <a:bodyPr wrap="square" lIns="0" tIns="0" rIns="0" bIns="0" rtlCol="0" anchor="t"/>
          <a:lstStyle/>
          <a:p>
            <a:pPr algn="r" indent="0" marL="0">
              <a:buNone/>
            </a:pPr>
            <a:r>
              <a:rPr lang="he-IL" altLang="en-US" sz="1250" b="1" dirty="0">
                <a:solidFill>
                  <a:srgbClr val="1B2A33"/>
                </a:solidFill>
                <a:latin typeface="Arial" pitchFamily="34" charset="0"/>
                <a:ea typeface="Arial" pitchFamily="34" charset="-122"/>
                <a:cs typeface="Arial" pitchFamily="34" charset="-120"/>
              </a:rPr>
              <a:t>רשומה במרשם</a:t>
            </a:r>
            <a:endParaRPr lang="he-IL" sz="1250" dirty="0"/>
          </a:p>
          <a:p>
            <a:pPr algn="r" indent="0" marL="0">
              <a:buNone/>
            </a:pPr>
            <a:r>
              <a:rPr lang="he-IL" altLang="en-US" sz="1000" dirty="0">
                <a:solidFill>
                  <a:srgbClr val="5D6F7A"/>
                </a:solidFill>
                <a:latin typeface="Arial" pitchFamily="34" charset="0"/>
                <a:ea typeface="Arial" pitchFamily="34" charset="-122"/>
                <a:cs typeface="Arial" pitchFamily="34" charset="-120"/>
              </a:rPr>
              <a:t>מזהה DMS-xxxxx, סטטוס: הוגש לאישור, יומן: נוצר + הוגש</a:t>
            </a:r>
            <a:endParaRPr lang="he-IL" sz="1250" dirty="0"/>
          </a:p>
        </p:txBody>
      </p:sp>
      <p:sp>
        <p:nvSpPr>
          <p:cNvPr id="28" name="Shape 26"/>
          <p:cNvSpPr/>
          <p:nvPr/>
        </p:nvSpPr>
        <p:spPr>
          <a:xfrm>
            <a:off x="566928" y="1554480"/>
            <a:ext cx="1965960" cy="1463040"/>
          </a:xfrm>
          <a:prstGeom prst="roundRect">
            <a:avLst>
              <a:gd name="adj" fmla="val 5000"/>
            </a:avLst>
          </a:prstGeom>
          <a:solidFill>
            <a:srgbClr val="FFFFFF"/>
          </a:solidFill>
          <a:ln w="19050">
            <a:solidFill>
              <a:srgbClr val="A86400"/>
            </a:solidFill>
            <a:prstDash val="solid"/>
          </a:ln>
        </p:spPr>
      </p:sp>
      <p:sp>
        <p:nvSpPr>
          <p:cNvPr id="29" name="Shape 27"/>
          <p:cNvSpPr/>
          <p:nvPr/>
        </p:nvSpPr>
        <p:spPr>
          <a:xfrm>
            <a:off x="585216" y="1572768"/>
            <a:ext cx="1929384" cy="310896"/>
          </a:xfrm>
          <a:prstGeom prst="rect">
            <a:avLst/>
          </a:prstGeom>
          <a:solidFill>
            <a:srgbClr val="A86400"/>
          </a:solidFill>
          <a:ln w="12700">
            <a:solidFill>
              <a:srgbClr val="A86400"/>
            </a:solidFill>
            <a:prstDash val="solid"/>
          </a:ln>
        </p:spPr>
      </p:sp>
      <p:sp>
        <p:nvSpPr>
          <p:cNvPr id="30" name="Text 28"/>
          <p:cNvSpPr txBox="1"/>
          <p:nvPr/>
        </p:nvSpPr>
        <p:spPr>
          <a:xfrm>
            <a:off x="612648" y="1572768"/>
            <a:ext cx="1463040" cy="310896"/>
          </a:xfrm>
          <a:prstGeom prst="rect">
            <a:avLst/>
          </a:prstGeom>
          <a:noFill/>
          <a:ln/>
        </p:spPr>
        <p:txBody>
          <a:bodyPr wrap="square" lIns="0" tIns="0" rIns="0" bIns="0" rtlCol="0" anchor="ctr"/>
          <a:lstStyle/>
          <a:p>
            <a:pPr rtl="1" algn="r" indent="0" marL="0">
              <a:buNone/>
            </a:pPr>
            <a:r>
              <a:rPr lang="he-IL" altLang="en-US" sz="1000" b="1" dirty="0">
                <a:solidFill>
                  <a:srgbClr val="FFFFFF"/>
                </a:solidFill>
                <a:latin typeface="Arial" pitchFamily="34" charset="0"/>
                <a:ea typeface="Arial" pitchFamily="34" charset="-122"/>
                <a:cs typeface="Arial" pitchFamily="34" charset="-120"/>
              </a:rPr>
              <a:t>שירות התהליכים</a:t>
            </a:r>
            <a:endParaRPr lang="he-IL" sz="1000" dirty="0"/>
          </a:p>
        </p:txBody>
      </p:sp>
      <p:sp>
        <p:nvSpPr>
          <p:cNvPr id="31" name="Shape 29"/>
          <p:cNvSpPr/>
          <p:nvPr/>
        </p:nvSpPr>
        <p:spPr>
          <a:xfrm>
            <a:off x="640080" y="1591056"/>
            <a:ext cx="274320" cy="274320"/>
          </a:xfrm>
          <a:prstGeom prst="ellipse">
            <a:avLst/>
          </a:prstGeom>
          <a:solidFill>
            <a:srgbClr val="FFFFFF"/>
          </a:solidFill>
          <a:ln w="12700">
            <a:solidFill>
              <a:srgbClr val="FFFFFF"/>
            </a:solidFill>
            <a:prstDash val="solid"/>
          </a:ln>
        </p:spPr>
      </p:sp>
      <p:sp>
        <p:nvSpPr>
          <p:cNvPr id="32" name="Text 30"/>
          <p:cNvSpPr txBox="1"/>
          <p:nvPr/>
        </p:nvSpPr>
        <p:spPr>
          <a:xfrm>
            <a:off x="640080" y="1591056"/>
            <a:ext cx="274320" cy="274320"/>
          </a:xfrm>
          <a:prstGeom prst="rect">
            <a:avLst/>
          </a:prstGeom>
          <a:noFill/>
          <a:ln/>
        </p:spPr>
        <p:txBody>
          <a:bodyPr wrap="square" lIns="0" tIns="0" rIns="0" bIns="0" rtlCol="0" anchor="ctr"/>
          <a:lstStyle/>
          <a:p>
            <a:pPr algn="ctr" indent="0" marL="0">
              <a:buNone/>
            </a:pPr>
            <a:r>
              <a:rPr lang="en-US" sz="1100" b="1" dirty="0">
                <a:solidFill>
                  <a:srgbClr val="A86400"/>
                </a:solidFill>
                <a:latin typeface="Arial" pitchFamily="34" charset="0"/>
                <a:ea typeface="Arial" pitchFamily="34" charset="-122"/>
                <a:cs typeface="Arial" pitchFamily="34" charset="-120"/>
              </a:rPr>
              <a:t>5</a:t>
            </a:r>
            <a:endParaRPr lang="en-US" sz="1100" dirty="0"/>
          </a:p>
        </p:txBody>
      </p:sp>
      <p:sp>
        <p:nvSpPr>
          <p:cNvPr id="33" name="Text 31"/>
          <p:cNvSpPr txBox="1"/>
          <p:nvPr/>
        </p:nvSpPr>
        <p:spPr>
          <a:xfrm>
            <a:off x="658368" y="1938528"/>
            <a:ext cx="1783080" cy="1005840"/>
          </a:xfrm>
          <a:prstGeom prst="rect">
            <a:avLst/>
          </a:prstGeom>
          <a:noFill/>
          <a:ln/>
        </p:spPr>
        <p:txBody>
          <a:bodyPr wrap="square" lIns="0" tIns="0" rIns="0" bIns="0" rtlCol="0" anchor="t"/>
          <a:lstStyle/>
          <a:p>
            <a:pPr algn="r" indent="0" marL="0">
              <a:buNone/>
            </a:pPr>
            <a:r>
              <a:rPr lang="he-IL" altLang="en-US" sz="1250" b="1" dirty="0">
                <a:solidFill>
                  <a:srgbClr val="1B2A33"/>
                </a:solidFill>
                <a:latin typeface="Arial" pitchFamily="34" charset="0"/>
                <a:ea typeface="Arial" pitchFamily="34" charset="-122"/>
                <a:cs typeface="Arial" pitchFamily="34" charset="-120"/>
              </a:rPr>
              <a:t>נעילה להגשה</a:t>
            </a:r>
            <a:endParaRPr lang="he-IL" sz="1250" dirty="0"/>
          </a:p>
          <a:p>
            <a:pPr algn="r" indent="0" marL="0">
              <a:buNone/>
            </a:pPr>
            <a:r>
              <a:rPr lang="he-IL" altLang="en-US" sz="1000" dirty="0">
                <a:solidFill>
                  <a:srgbClr val="5D6F7A"/>
                </a:solidFill>
                <a:latin typeface="Arial" pitchFamily="34" charset="0"/>
                <a:ea typeface="Arial" pitchFamily="34" charset="-122"/>
                <a:cs typeface="Arial" pitchFamily="34" charset="-120"/>
              </a:rPr>
              <a:t>הקובץ עובר ל-Submitted, קריאה בלבד, SHA-256</a:t>
            </a:r>
            <a:endParaRPr lang="he-IL" sz="1250" dirty="0"/>
          </a:p>
        </p:txBody>
      </p:sp>
      <p:sp>
        <p:nvSpPr>
          <p:cNvPr id="34" name="Shape 32"/>
          <p:cNvSpPr/>
          <p:nvPr/>
        </p:nvSpPr>
        <p:spPr>
          <a:xfrm flipH="1">
            <a:off x="9336024" y="2286000"/>
            <a:ext cx="301752" cy="0"/>
          </a:xfrm>
          <a:prstGeom prst="line">
            <a:avLst/>
          </a:prstGeom>
          <a:noFill/>
          <a:ln w="22225">
            <a:solidFill>
              <a:srgbClr val="1B2A33"/>
            </a:solidFill>
            <a:prstDash val="solid"/>
            <a:tailEnd type="triangle"/>
          </a:ln>
        </p:spPr>
      </p:sp>
      <p:sp>
        <p:nvSpPr>
          <p:cNvPr id="35" name="Shape 33"/>
          <p:cNvSpPr/>
          <p:nvPr/>
        </p:nvSpPr>
        <p:spPr>
          <a:xfrm flipH="1">
            <a:off x="7068312" y="2286000"/>
            <a:ext cx="301752" cy="0"/>
          </a:xfrm>
          <a:prstGeom prst="line">
            <a:avLst/>
          </a:prstGeom>
          <a:noFill/>
          <a:ln w="22225">
            <a:solidFill>
              <a:srgbClr val="1B2A33"/>
            </a:solidFill>
            <a:prstDash val="solid"/>
            <a:tailEnd type="triangle"/>
          </a:ln>
        </p:spPr>
      </p:sp>
      <p:sp>
        <p:nvSpPr>
          <p:cNvPr id="36" name="Shape 34"/>
          <p:cNvSpPr/>
          <p:nvPr/>
        </p:nvSpPr>
        <p:spPr>
          <a:xfrm flipH="1">
            <a:off x="4800600" y="2286000"/>
            <a:ext cx="301752" cy="0"/>
          </a:xfrm>
          <a:prstGeom prst="line">
            <a:avLst/>
          </a:prstGeom>
          <a:noFill/>
          <a:ln w="22225">
            <a:solidFill>
              <a:srgbClr val="1B2A33"/>
            </a:solidFill>
            <a:prstDash val="solid"/>
            <a:tailEnd type="triangle"/>
          </a:ln>
        </p:spPr>
      </p:sp>
      <p:sp>
        <p:nvSpPr>
          <p:cNvPr id="37" name="Shape 35"/>
          <p:cNvSpPr/>
          <p:nvPr/>
        </p:nvSpPr>
        <p:spPr>
          <a:xfrm flipH="1">
            <a:off x="2532888" y="2286000"/>
            <a:ext cx="301752" cy="0"/>
          </a:xfrm>
          <a:prstGeom prst="line">
            <a:avLst/>
          </a:prstGeom>
          <a:noFill/>
          <a:ln w="22225">
            <a:solidFill>
              <a:srgbClr val="1B2A33"/>
            </a:solidFill>
            <a:prstDash val="solid"/>
            <a:tailEnd type="triangle"/>
          </a:ln>
        </p:spPr>
      </p:sp>
      <p:sp>
        <p:nvSpPr>
          <p:cNvPr id="38" name="Shape 36"/>
          <p:cNvSpPr/>
          <p:nvPr/>
        </p:nvSpPr>
        <p:spPr>
          <a:xfrm>
            <a:off x="1549908" y="3017520"/>
            <a:ext cx="0" cy="868680"/>
          </a:xfrm>
          <a:prstGeom prst="line">
            <a:avLst/>
          </a:prstGeom>
          <a:noFill/>
          <a:ln w="22225">
            <a:solidFill>
              <a:srgbClr val="1B2A33"/>
            </a:solidFill>
            <a:prstDash val="solid"/>
            <a:tailEnd type="triangle"/>
          </a:ln>
        </p:spPr>
      </p:sp>
      <p:sp>
        <p:nvSpPr>
          <p:cNvPr id="39" name="Shape 37"/>
          <p:cNvSpPr/>
          <p:nvPr/>
        </p:nvSpPr>
        <p:spPr>
          <a:xfrm>
            <a:off x="566928" y="3886200"/>
            <a:ext cx="1965960" cy="1463040"/>
          </a:xfrm>
          <a:prstGeom prst="roundRect">
            <a:avLst>
              <a:gd name="adj" fmla="val 5000"/>
            </a:avLst>
          </a:prstGeom>
          <a:solidFill>
            <a:srgbClr val="FFFFFF"/>
          </a:solidFill>
          <a:ln w="19050">
            <a:solidFill>
              <a:srgbClr val="6D3FC0"/>
            </a:solidFill>
            <a:prstDash val="solid"/>
          </a:ln>
        </p:spPr>
      </p:sp>
      <p:sp>
        <p:nvSpPr>
          <p:cNvPr id="40" name="Shape 38"/>
          <p:cNvSpPr/>
          <p:nvPr/>
        </p:nvSpPr>
        <p:spPr>
          <a:xfrm>
            <a:off x="585216" y="3904488"/>
            <a:ext cx="1929384" cy="310896"/>
          </a:xfrm>
          <a:prstGeom prst="rect">
            <a:avLst/>
          </a:prstGeom>
          <a:solidFill>
            <a:srgbClr val="6D3FC0"/>
          </a:solidFill>
          <a:ln w="12700">
            <a:solidFill>
              <a:srgbClr val="6D3FC0"/>
            </a:solidFill>
            <a:prstDash val="solid"/>
          </a:ln>
        </p:spPr>
      </p:sp>
      <p:sp>
        <p:nvSpPr>
          <p:cNvPr id="41" name="Text 39"/>
          <p:cNvSpPr txBox="1"/>
          <p:nvPr/>
        </p:nvSpPr>
        <p:spPr>
          <a:xfrm>
            <a:off x="612648" y="3904488"/>
            <a:ext cx="1463040" cy="310896"/>
          </a:xfrm>
          <a:prstGeom prst="rect">
            <a:avLst/>
          </a:prstGeom>
          <a:noFill/>
          <a:ln/>
        </p:spPr>
        <p:txBody>
          <a:bodyPr wrap="square" lIns="0" tIns="0" rIns="0" bIns="0" rtlCol="0" anchor="ctr"/>
          <a:lstStyle/>
          <a:p>
            <a:pPr rtl="1" algn="r" indent="0" marL="0">
              <a:buNone/>
            </a:pPr>
            <a:r>
              <a:rPr lang="he-IL" altLang="en-US" sz="1000" b="1" dirty="0">
                <a:solidFill>
                  <a:srgbClr val="FFFFFF"/>
                </a:solidFill>
                <a:latin typeface="Arial" pitchFamily="34" charset="0"/>
                <a:ea typeface="Arial" pitchFamily="34" charset="-122"/>
                <a:cs typeface="Arial" pitchFamily="34" charset="-120"/>
              </a:rPr>
              <a:t>מאשרים · דף DMS / Teams</a:t>
            </a:r>
            <a:endParaRPr lang="he-IL" sz="1000" dirty="0"/>
          </a:p>
        </p:txBody>
      </p:sp>
      <p:sp>
        <p:nvSpPr>
          <p:cNvPr id="42" name="Shape 40"/>
          <p:cNvSpPr/>
          <p:nvPr/>
        </p:nvSpPr>
        <p:spPr>
          <a:xfrm>
            <a:off x="640080" y="3922776"/>
            <a:ext cx="274320" cy="274320"/>
          </a:xfrm>
          <a:prstGeom prst="ellipse">
            <a:avLst/>
          </a:prstGeom>
          <a:solidFill>
            <a:srgbClr val="FFFFFF"/>
          </a:solidFill>
          <a:ln w="12700">
            <a:solidFill>
              <a:srgbClr val="FFFFFF"/>
            </a:solidFill>
            <a:prstDash val="solid"/>
          </a:ln>
        </p:spPr>
      </p:sp>
      <p:sp>
        <p:nvSpPr>
          <p:cNvPr id="43" name="Text 41"/>
          <p:cNvSpPr txBox="1"/>
          <p:nvPr/>
        </p:nvSpPr>
        <p:spPr>
          <a:xfrm>
            <a:off x="640080" y="3922776"/>
            <a:ext cx="274320" cy="274320"/>
          </a:xfrm>
          <a:prstGeom prst="rect">
            <a:avLst/>
          </a:prstGeom>
          <a:noFill/>
          <a:ln/>
        </p:spPr>
        <p:txBody>
          <a:bodyPr wrap="square" lIns="0" tIns="0" rIns="0" bIns="0" rtlCol="0" anchor="ctr"/>
          <a:lstStyle/>
          <a:p>
            <a:pPr algn="ctr" indent="0" marL="0">
              <a:buNone/>
            </a:pPr>
            <a:r>
              <a:rPr lang="en-US" sz="1100" b="1" dirty="0">
                <a:solidFill>
                  <a:srgbClr val="6D3FC0"/>
                </a:solidFill>
                <a:latin typeface="Arial" pitchFamily="34" charset="0"/>
                <a:ea typeface="Arial" pitchFamily="34" charset="-122"/>
                <a:cs typeface="Arial" pitchFamily="34" charset="-120"/>
              </a:rPr>
              <a:t>6</a:t>
            </a:r>
            <a:endParaRPr lang="en-US" sz="1100" dirty="0"/>
          </a:p>
        </p:txBody>
      </p:sp>
      <p:sp>
        <p:nvSpPr>
          <p:cNvPr id="44" name="Text 42"/>
          <p:cNvSpPr txBox="1"/>
          <p:nvPr/>
        </p:nvSpPr>
        <p:spPr>
          <a:xfrm>
            <a:off x="658368" y="4270248"/>
            <a:ext cx="1783080" cy="1005840"/>
          </a:xfrm>
          <a:prstGeom prst="rect">
            <a:avLst/>
          </a:prstGeom>
          <a:noFill/>
          <a:ln/>
        </p:spPr>
        <p:txBody>
          <a:bodyPr wrap="square" lIns="0" tIns="0" rIns="0" bIns="0" rtlCol="0" anchor="t"/>
          <a:lstStyle/>
          <a:p>
            <a:pPr algn="r" indent="0" marL="0">
              <a:buNone/>
            </a:pPr>
            <a:r>
              <a:rPr lang="he-IL" altLang="en-US" sz="1250" b="1" dirty="0">
                <a:solidFill>
                  <a:srgbClr val="1B2A33"/>
                </a:solidFill>
                <a:latin typeface="Arial" pitchFamily="34" charset="0"/>
                <a:ea typeface="Arial" pitchFamily="34" charset="-122"/>
                <a:cs typeface="Arial" pitchFamily="34" charset="-120"/>
              </a:rPr>
              <a:t>אישור שלב 1</a:t>
            </a:r>
            <a:endParaRPr lang="he-IL" sz="1250" dirty="0"/>
          </a:p>
          <a:p>
            <a:pPr algn="r" indent="0" marL="0">
              <a:buNone/>
            </a:pPr>
            <a:r>
              <a:rPr lang="he-IL" altLang="en-US" sz="1000" dirty="0">
                <a:solidFill>
                  <a:srgbClr val="5D6F7A"/>
                </a:solidFill>
                <a:latin typeface="Arial" pitchFamily="34" charset="0"/>
                <a:ea typeface="Arial" pitchFamily="34" charset="-122"/>
                <a:cs typeface="Arial" pitchFamily="34" charset="-120"/>
              </a:rPr>
              <a:t>כל מאשרי החובה לפי מטריצת המאשרים, במסך האישורים בדף</a:t>
            </a:r>
            <a:endParaRPr lang="he-IL" sz="1250" dirty="0"/>
          </a:p>
        </p:txBody>
      </p:sp>
      <p:sp>
        <p:nvSpPr>
          <p:cNvPr id="45" name="Shape 43"/>
          <p:cNvSpPr/>
          <p:nvPr/>
        </p:nvSpPr>
        <p:spPr>
          <a:xfrm>
            <a:off x="2834640" y="3886200"/>
            <a:ext cx="1965960" cy="1463040"/>
          </a:xfrm>
          <a:prstGeom prst="roundRect">
            <a:avLst>
              <a:gd name="adj" fmla="val 5000"/>
            </a:avLst>
          </a:prstGeom>
          <a:solidFill>
            <a:srgbClr val="FFFFFF"/>
          </a:solidFill>
          <a:ln w="19050">
            <a:solidFill>
              <a:srgbClr val="6D3FC0"/>
            </a:solidFill>
            <a:prstDash val="solid"/>
          </a:ln>
        </p:spPr>
      </p:sp>
      <p:sp>
        <p:nvSpPr>
          <p:cNvPr id="46" name="Shape 44"/>
          <p:cNvSpPr/>
          <p:nvPr/>
        </p:nvSpPr>
        <p:spPr>
          <a:xfrm>
            <a:off x="2852928" y="3904488"/>
            <a:ext cx="1929384" cy="310896"/>
          </a:xfrm>
          <a:prstGeom prst="rect">
            <a:avLst/>
          </a:prstGeom>
          <a:solidFill>
            <a:srgbClr val="6D3FC0"/>
          </a:solidFill>
          <a:ln w="12700">
            <a:solidFill>
              <a:srgbClr val="6D3FC0"/>
            </a:solidFill>
            <a:prstDash val="solid"/>
          </a:ln>
        </p:spPr>
      </p:sp>
      <p:sp>
        <p:nvSpPr>
          <p:cNvPr id="47" name="Text 45"/>
          <p:cNvSpPr txBox="1"/>
          <p:nvPr/>
        </p:nvSpPr>
        <p:spPr>
          <a:xfrm>
            <a:off x="2880360" y="3904488"/>
            <a:ext cx="1463040" cy="310896"/>
          </a:xfrm>
          <a:prstGeom prst="rect">
            <a:avLst/>
          </a:prstGeom>
          <a:noFill/>
          <a:ln/>
        </p:spPr>
        <p:txBody>
          <a:bodyPr wrap="square" lIns="0" tIns="0" rIns="0" bIns="0" rtlCol="0" anchor="ctr"/>
          <a:lstStyle/>
          <a:p>
            <a:pPr rtl="1" algn="r" indent="0" marL="0">
              <a:buNone/>
            </a:pPr>
            <a:r>
              <a:rPr lang="he-IL" altLang="en-US" sz="1000" b="1" dirty="0">
                <a:solidFill>
                  <a:srgbClr val="FFFFFF"/>
                </a:solidFill>
                <a:latin typeface="Arial" pitchFamily="34" charset="0"/>
                <a:ea typeface="Arial" pitchFamily="34" charset="-122"/>
                <a:cs typeface="Arial" pitchFamily="34" charset="-120"/>
              </a:rPr>
              <a:t>מאשרים · דף DMS / Teams</a:t>
            </a:r>
            <a:endParaRPr lang="he-IL" sz="1000" dirty="0"/>
          </a:p>
        </p:txBody>
      </p:sp>
      <p:sp>
        <p:nvSpPr>
          <p:cNvPr id="48" name="Shape 46"/>
          <p:cNvSpPr/>
          <p:nvPr/>
        </p:nvSpPr>
        <p:spPr>
          <a:xfrm>
            <a:off x="2907792" y="3922776"/>
            <a:ext cx="274320" cy="274320"/>
          </a:xfrm>
          <a:prstGeom prst="ellipse">
            <a:avLst/>
          </a:prstGeom>
          <a:solidFill>
            <a:srgbClr val="FFFFFF"/>
          </a:solidFill>
          <a:ln w="12700">
            <a:solidFill>
              <a:srgbClr val="FFFFFF"/>
            </a:solidFill>
            <a:prstDash val="solid"/>
          </a:ln>
        </p:spPr>
      </p:sp>
      <p:sp>
        <p:nvSpPr>
          <p:cNvPr id="49" name="Text 47"/>
          <p:cNvSpPr txBox="1"/>
          <p:nvPr/>
        </p:nvSpPr>
        <p:spPr>
          <a:xfrm>
            <a:off x="2907792" y="3922776"/>
            <a:ext cx="274320" cy="274320"/>
          </a:xfrm>
          <a:prstGeom prst="rect">
            <a:avLst/>
          </a:prstGeom>
          <a:noFill/>
          <a:ln/>
        </p:spPr>
        <p:txBody>
          <a:bodyPr wrap="square" lIns="0" tIns="0" rIns="0" bIns="0" rtlCol="0" anchor="ctr"/>
          <a:lstStyle/>
          <a:p>
            <a:pPr algn="ctr" indent="0" marL="0">
              <a:buNone/>
            </a:pPr>
            <a:r>
              <a:rPr lang="en-US" sz="1100" b="1" dirty="0">
                <a:solidFill>
                  <a:srgbClr val="6D3FC0"/>
                </a:solidFill>
                <a:latin typeface="Arial" pitchFamily="34" charset="0"/>
                <a:ea typeface="Arial" pitchFamily="34" charset="-122"/>
                <a:cs typeface="Arial" pitchFamily="34" charset="-120"/>
              </a:rPr>
              <a:t>7</a:t>
            </a:r>
            <a:endParaRPr lang="en-US" sz="1100" dirty="0"/>
          </a:p>
        </p:txBody>
      </p:sp>
      <p:sp>
        <p:nvSpPr>
          <p:cNvPr id="50" name="Text 48"/>
          <p:cNvSpPr txBox="1"/>
          <p:nvPr/>
        </p:nvSpPr>
        <p:spPr>
          <a:xfrm>
            <a:off x="2926080" y="4270248"/>
            <a:ext cx="1783080" cy="1005840"/>
          </a:xfrm>
          <a:prstGeom prst="rect">
            <a:avLst/>
          </a:prstGeom>
          <a:noFill/>
          <a:ln/>
        </p:spPr>
        <p:txBody>
          <a:bodyPr wrap="square" lIns="0" tIns="0" rIns="0" bIns="0" rtlCol="0" anchor="t"/>
          <a:lstStyle/>
          <a:p>
            <a:pPr algn="r" indent="0" marL="0">
              <a:buNone/>
            </a:pPr>
            <a:r>
              <a:rPr lang="he-IL" altLang="en-US" sz="1250" b="1" dirty="0">
                <a:solidFill>
                  <a:srgbClr val="1B2A33"/>
                </a:solidFill>
                <a:latin typeface="Arial" pitchFamily="34" charset="0"/>
                <a:ea typeface="Arial" pitchFamily="34" charset="-122"/>
                <a:cs typeface="Arial" pitchFamily="34" charset="-120"/>
              </a:rPr>
              <a:t>אישור סופי</a:t>
            </a:r>
            <a:endParaRPr lang="he-IL" sz="1250" dirty="0"/>
          </a:p>
          <a:p>
            <a:pPr algn="r" indent="0" marL="0">
              <a:buNone/>
            </a:pPr>
            <a:r>
              <a:rPr lang="he-IL" altLang="en-US" sz="1000" dirty="0">
                <a:solidFill>
                  <a:srgbClr val="5D6F7A"/>
                </a:solidFill>
                <a:latin typeface="Arial" pitchFamily="34" charset="0"/>
                <a:ea typeface="Arial" pitchFamily="34" charset="-122"/>
                <a:cs typeface="Arial" pitchFamily="34" charset="-120"/>
              </a:rPr>
              <a:t>המאשר הסופי, במסך האישורים בדף</a:t>
            </a:r>
            <a:endParaRPr lang="he-IL" sz="1250" dirty="0"/>
          </a:p>
        </p:txBody>
      </p:sp>
      <p:sp>
        <p:nvSpPr>
          <p:cNvPr id="51" name="Shape 49"/>
          <p:cNvSpPr/>
          <p:nvPr/>
        </p:nvSpPr>
        <p:spPr>
          <a:xfrm>
            <a:off x="5102352" y="3886200"/>
            <a:ext cx="1965960" cy="1463040"/>
          </a:xfrm>
          <a:prstGeom prst="roundRect">
            <a:avLst>
              <a:gd name="adj" fmla="val 5000"/>
            </a:avLst>
          </a:prstGeom>
          <a:solidFill>
            <a:srgbClr val="FFFFFF"/>
          </a:solidFill>
          <a:ln w="19050">
            <a:solidFill>
              <a:srgbClr val="1F5FA8"/>
            </a:solidFill>
            <a:prstDash val="solid"/>
          </a:ln>
        </p:spPr>
      </p:sp>
      <p:sp>
        <p:nvSpPr>
          <p:cNvPr id="52" name="Shape 50"/>
          <p:cNvSpPr/>
          <p:nvPr/>
        </p:nvSpPr>
        <p:spPr>
          <a:xfrm>
            <a:off x="5120640" y="3904488"/>
            <a:ext cx="1929384" cy="310896"/>
          </a:xfrm>
          <a:prstGeom prst="rect">
            <a:avLst/>
          </a:prstGeom>
          <a:solidFill>
            <a:srgbClr val="1F5FA8"/>
          </a:solidFill>
          <a:ln w="12700">
            <a:solidFill>
              <a:srgbClr val="1F5FA8"/>
            </a:solidFill>
            <a:prstDash val="solid"/>
          </a:ln>
        </p:spPr>
      </p:sp>
      <p:sp>
        <p:nvSpPr>
          <p:cNvPr id="53" name="Text 51"/>
          <p:cNvSpPr txBox="1"/>
          <p:nvPr/>
        </p:nvSpPr>
        <p:spPr>
          <a:xfrm>
            <a:off x="5148072" y="3904488"/>
            <a:ext cx="1463040" cy="310896"/>
          </a:xfrm>
          <a:prstGeom prst="rect">
            <a:avLst/>
          </a:prstGeom>
          <a:noFill/>
          <a:ln/>
        </p:spPr>
        <p:txBody>
          <a:bodyPr wrap="square" lIns="0" tIns="0" rIns="0" bIns="0" rtlCol="0" anchor="ctr"/>
          <a:lstStyle/>
          <a:p>
            <a:pPr rtl="1" algn="r" indent="0" marL="0">
              <a:buNone/>
            </a:pPr>
            <a:r>
              <a:rPr lang="he-IL" altLang="en-US" sz="1000" b="1" dirty="0">
                <a:solidFill>
                  <a:srgbClr val="FFFFFF"/>
                </a:solidFill>
                <a:latin typeface="Arial" pitchFamily="34" charset="0"/>
                <a:ea typeface="Arial" pitchFamily="34" charset="-122"/>
                <a:cs typeface="Arial" pitchFamily="34" charset="-120"/>
              </a:rPr>
              <a:t>SharePoint</a:t>
            </a:r>
            <a:endParaRPr lang="he-IL" sz="1000" dirty="0"/>
          </a:p>
        </p:txBody>
      </p:sp>
      <p:sp>
        <p:nvSpPr>
          <p:cNvPr id="54" name="Shape 52"/>
          <p:cNvSpPr/>
          <p:nvPr/>
        </p:nvSpPr>
        <p:spPr>
          <a:xfrm>
            <a:off x="5175504" y="3922776"/>
            <a:ext cx="274320" cy="274320"/>
          </a:xfrm>
          <a:prstGeom prst="ellipse">
            <a:avLst/>
          </a:prstGeom>
          <a:solidFill>
            <a:srgbClr val="FFFFFF"/>
          </a:solidFill>
          <a:ln w="12700">
            <a:solidFill>
              <a:srgbClr val="FFFFFF"/>
            </a:solidFill>
            <a:prstDash val="solid"/>
          </a:ln>
        </p:spPr>
      </p:sp>
      <p:sp>
        <p:nvSpPr>
          <p:cNvPr id="55" name="Text 53"/>
          <p:cNvSpPr txBox="1"/>
          <p:nvPr/>
        </p:nvSpPr>
        <p:spPr>
          <a:xfrm>
            <a:off x="5175504" y="3922776"/>
            <a:ext cx="274320" cy="274320"/>
          </a:xfrm>
          <a:prstGeom prst="rect">
            <a:avLst/>
          </a:prstGeom>
          <a:noFill/>
          <a:ln/>
        </p:spPr>
        <p:txBody>
          <a:bodyPr wrap="square" lIns="0" tIns="0" rIns="0" bIns="0" rtlCol="0" anchor="ctr"/>
          <a:lstStyle/>
          <a:p>
            <a:pPr algn="ctr" indent="0" marL="0">
              <a:buNone/>
            </a:pPr>
            <a:r>
              <a:rPr lang="en-US" sz="1100" b="1" dirty="0">
                <a:solidFill>
                  <a:srgbClr val="1F5FA8"/>
                </a:solidFill>
                <a:latin typeface="Arial" pitchFamily="34" charset="0"/>
                <a:ea typeface="Arial" pitchFamily="34" charset="-122"/>
                <a:cs typeface="Arial" pitchFamily="34" charset="-120"/>
              </a:rPr>
              <a:t>8</a:t>
            </a:r>
            <a:endParaRPr lang="en-US" sz="1100" dirty="0"/>
          </a:p>
        </p:txBody>
      </p:sp>
      <p:sp>
        <p:nvSpPr>
          <p:cNvPr id="56" name="Text 54"/>
          <p:cNvSpPr txBox="1"/>
          <p:nvPr/>
        </p:nvSpPr>
        <p:spPr>
          <a:xfrm>
            <a:off x="5193792" y="4270248"/>
            <a:ext cx="1783080" cy="1005840"/>
          </a:xfrm>
          <a:prstGeom prst="rect">
            <a:avLst/>
          </a:prstGeom>
          <a:noFill/>
          <a:ln/>
        </p:spPr>
        <p:txBody>
          <a:bodyPr wrap="square" lIns="0" tIns="0" rIns="0" bIns="0" rtlCol="0" anchor="t"/>
          <a:lstStyle/>
          <a:p>
            <a:pPr algn="r" indent="0" marL="0">
              <a:buNone/>
            </a:pPr>
            <a:r>
              <a:rPr lang="he-IL" altLang="en-US" sz="1250" b="1" dirty="0">
                <a:solidFill>
                  <a:srgbClr val="1B2A33"/>
                </a:solidFill>
                <a:latin typeface="Arial" pitchFamily="34" charset="0"/>
                <a:ea typeface="Arial" pitchFamily="34" charset="-122"/>
                <a:cs typeface="Arial" pitchFamily="34" charset="-120"/>
              </a:rPr>
              <a:t>מאושר</a:t>
            </a:r>
            <a:endParaRPr lang="he-IL" sz="1250" dirty="0"/>
          </a:p>
          <a:p>
            <a:pPr algn="r" indent="0" marL="0">
              <a:buNone/>
            </a:pPr>
            <a:r>
              <a:rPr lang="he-IL" altLang="en-US" sz="1000" dirty="0">
                <a:solidFill>
                  <a:srgbClr val="5D6F7A"/>
                </a:solidFill>
                <a:latin typeface="Arial" pitchFamily="34" charset="0"/>
                <a:ea typeface="Arial" pitchFamily="34" charset="-122"/>
                <a:cs typeface="Arial" pitchFamily="34" charset="-120"/>
              </a:rPr>
              <a:t>סטטוס: מאושר - קריאה בלבד, ההחלטה ביומן הביקורת</a:t>
            </a:r>
            <a:endParaRPr lang="he-IL" sz="1250" dirty="0"/>
          </a:p>
        </p:txBody>
      </p:sp>
      <p:sp>
        <p:nvSpPr>
          <p:cNvPr id="57" name="Shape 55"/>
          <p:cNvSpPr/>
          <p:nvPr/>
        </p:nvSpPr>
        <p:spPr>
          <a:xfrm>
            <a:off x="7370064" y="3886200"/>
            <a:ext cx="1965960" cy="1463040"/>
          </a:xfrm>
          <a:prstGeom prst="roundRect">
            <a:avLst>
              <a:gd name="adj" fmla="val 5000"/>
            </a:avLst>
          </a:prstGeom>
          <a:solidFill>
            <a:srgbClr val="FFFFFF"/>
          </a:solidFill>
          <a:ln w="19050">
            <a:solidFill>
              <a:srgbClr val="A86400"/>
            </a:solidFill>
            <a:prstDash val="solid"/>
          </a:ln>
        </p:spPr>
      </p:sp>
      <p:sp>
        <p:nvSpPr>
          <p:cNvPr id="58" name="Shape 56"/>
          <p:cNvSpPr/>
          <p:nvPr/>
        </p:nvSpPr>
        <p:spPr>
          <a:xfrm>
            <a:off x="7388352" y="3904488"/>
            <a:ext cx="1929384" cy="310896"/>
          </a:xfrm>
          <a:prstGeom prst="rect">
            <a:avLst/>
          </a:prstGeom>
          <a:solidFill>
            <a:srgbClr val="A86400"/>
          </a:solidFill>
          <a:ln w="12700">
            <a:solidFill>
              <a:srgbClr val="A86400"/>
            </a:solidFill>
            <a:prstDash val="solid"/>
          </a:ln>
        </p:spPr>
      </p:sp>
      <p:sp>
        <p:nvSpPr>
          <p:cNvPr id="59" name="Text 57"/>
          <p:cNvSpPr txBox="1"/>
          <p:nvPr/>
        </p:nvSpPr>
        <p:spPr>
          <a:xfrm>
            <a:off x="7415784" y="3904488"/>
            <a:ext cx="1463040" cy="310896"/>
          </a:xfrm>
          <a:prstGeom prst="rect">
            <a:avLst/>
          </a:prstGeom>
          <a:noFill/>
          <a:ln/>
        </p:spPr>
        <p:txBody>
          <a:bodyPr wrap="square" lIns="0" tIns="0" rIns="0" bIns="0" rtlCol="0" anchor="ctr"/>
          <a:lstStyle/>
          <a:p>
            <a:pPr rtl="1" algn="r" indent="0" marL="0">
              <a:buNone/>
            </a:pPr>
            <a:r>
              <a:rPr lang="he-IL" altLang="en-US" sz="1000" b="1" dirty="0">
                <a:solidFill>
                  <a:srgbClr val="FFFFFF"/>
                </a:solidFill>
                <a:latin typeface="Arial" pitchFamily="34" charset="0"/>
                <a:ea typeface="Arial" pitchFamily="34" charset="-122"/>
                <a:cs typeface="Arial" pitchFamily="34" charset="-120"/>
              </a:rPr>
              <a:t>שירות התהליכים</a:t>
            </a:r>
            <a:endParaRPr lang="he-IL" sz="1000" dirty="0"/>
          </a:p>
        </p:txBody>
      </p:sp>
      <p:sp>
        <p:nvSpPr>
          <p:cNvPr id="60" name="Shape 58"/>
          <p:cNvSpPr/>
          <p:nvPr/>
        </p:nvSpPr>
        <p:spPr>
          <a:xfrm>
            <a:off x="7443216" y="3922776"/>
            <a:ext cx="274320" cy="274320"/>
          </a:xfrm>
          <a:prstGeom prst="ellipse">
            <a:avLst/>
          </a:prstGeom>
          <a:solidFill>
            <a:srgbClr val="FFFFFF"/>
          </a:solidFill>
          <a:ln w="12700">
            <a:solidFill>
              <a:srgbClr val="FFFFFF"/>
            </a:solidFill>
            <a:prstDash val="solid"/>
          </a:ln>
        </p:spPr>
      </p:sp>
      <p:sp>
        <p:nvSpPr>
          <p:cNvPr id="61" name="Text 59"/>
          <p:cNvSpPr txBox="1"/>
          <p:nvPr/>
        </p:nvSpPr>
        <p:spPr>
          <a:xfrm>
            <a:off x="7443216" y="3922776"/>
            <a:ext cx="274320" cy="274320"/>
          </a:xfrm>
          <a:prstGeom prst="rect">
            <a:avLst/>
          </a:prstGeom>
          <a:noFill/>
          <a:ln/>
        </p:spPr>
        <p:txBody>
          <a:bodyPr wrap="square" lIns="0" tIns="0" rIns="0" bIns="0" rtlCol="0" anchor="ctr"/>
          <a:lstStyle/>
          <a:p>
            <a:pPr algn="ctr" indent="0" marL="0">
              <a:buNone/>
            </a:pPr>
            <a:r>
              <a:rPr lang="en-US" sz="1100" b="1" dirty="0">
                <a:solidFill>
                  <a:srgbClr val="A86400"/>
                </a:solidFill>
                <a:latin typeface="Arial" pitchFamily="34" charset="0"/>
                <a:ea typeface="Arial" pitchFamily="34" charset="-122"/>
                <a:cs typeface="Arial" pitchFamily="34" charset="-120"/>
              </a:rPr>
              <a:t>9</a:t>
            </a:r>
            <a:endParaRPr lang="en-US" sz="1100" dirty="0"/>
          </a:p>
        </p:txBody>
      </p:sp>
      <p:sp>
        <p:nvSpPr>
          <p:cNvPr id="62" name="Text 60"/>
          <p:cNvSpPr txBox="1"/>
          <p:nvPr/>
        </p:nvSpPr>
        <p:spPr>
          <a:xfrm>
            <a:off x="7461504" y="4270248"/>
            <a:ext cx="1783080" cy="1005840"/>
          </a:xfrm>
          <a:prstGeom prst="rect">
            <a:avLst/>
          </a:prstGeom>
          <a:noFill/>
          <a:ln/>
        </p:spPr>
        <p:txBody>
          <a:bodyPr wrap="square" lIns="0" tIns="0" rIns="0" bIns="0" rtlCol="0" anchor="t"/>
          <a:lstStyle/>
          <a:p>
            <a:pPr algn="r" indent="0" marL="0">
              <a:buNone/>
            </a:pPr>
            <a:r>
              <a:rPr lang="he-IL" altLang="en-US" sz="1250" b="1" dirty="0">
                <a:solidFill>
                  <a:srgbClr val="1B2A33"/>
                </a:solidFill>
                <a:latin typeface="Arial" pitchFamily="34" charset="0"/>
                <a:ea typeface="Arial" pitchFamily="34" charset="-122"/>
                <a:cs typeface="Arial" pitchFamily="34" charset="-120"/>
              </a:rPr>
              <a:t>גרסה נוכחית</a:t>
            </a:r>
            <a:endParaRPr lang="he-IL" sz="1250" dirty="0"/>
          </a:p>
          <a:p>
            <a:pPr algn="r" indent="0" marL="0">
              <a:buNone/>
            </a:pPr>
            <a:r>
              <a:rPr lang="he-IL" altLang="en-US" sz="1000" dirty="0">
                <a:solidFill>
                  <a:srgbClr val="5D6F7A"/>
                </a:solidFill>
                <a:latin typeface="Arial" pitchFamily="34" charset="0"/>
                <a:ea typeface="Arial" pitchFamily="34" charset="-122"/>
                <a:cs typeface="Arial" pitchFamily="34" charset="-120"/>
              </a:rPr>
              <a:t>הקובץ ל-Current_ReadOnly, הקודם ל-Obsolete_ReadOnly, נתיב + SHA-256 למרשם</a:t>
            </a:r>
            <a:endParaRPr lang="he-IL" sz="1250" dirty="0"/>
          </a:p>
        </p:txBody>
      </p:sp>
      <p:sp>
        <p:nvSpPr>
          <p:cNvPr id="63" name="Shape 61"/>
          <p:cNvSpPr/>
          <p:nvPr/>
        </p:nvSpPr>
        <p:spPr>
          <a:xfrm>
            <a:off x="9637776" y="3886200"/>
            <a:ext cx="1965960" cy="1463040"/>
          </a:xfrm>
          <a:prstGeom prst="roundRect">
            <a:avLst>
              <a:gd name="adj" fmla="val 5000"/>
            </a:avLst>
          </a:prstGeom>
          <a:solidFill>
            <a:srgbClr val="FFFFFF"/>
          </a:solidFill>
          <a:ln w="19050">
            <a:solidFill>
              <a:srgbClr val="0E6F73"/>
            </a:solidFill>
            <a:prstDash val="solid"/>
          </a:ln>
        </p:spPr>
      </p:sp>
      <p:sp>
        <p:nvSpPr>
          <p:cNvPr id="64" name="Shape 62"/>
          <p:cNvSpPr/>
          <p:nvPr/>
        </p:nvSpPr>
        <p:spPr>
          <a:xfrm>
            <a:off x="9656064" y="3904488"/>
            <a:ext cx="1929384" cy="310896"/>
          </a:xfrm>
          <a:prstGeom prst="rect">
            <a:avLst/>
          </a:prstGeom>
          <a:solidFill>
            <a:srgbClr val="0E6F73"/>
          </a:solidFill>
          <a:ln w="12700">
            <a:solidFill>
              <a:srgbClr val="0E6F73"/>
            </a:solidFill>
            <a:prstDash val="solid"/>
          </a:ln>
        </p:spPr>
      </p:sp>
      <p:sp>
        <p:nvSpPr>
          <p:cNvPr id="65" name="Text 63"/>
          <p:cNvSpPr txBox="1"/>
          <p:nvPr/>
        </p:nvSpPr>
        <p:spPr>
          <a:xfrm>
            <a:off x="9683496" y="3904488"/>
            <a:ext cx="1463040" cy="310896"/>
          </a:xfrm>
          <a:prstGeom prst="rect">
            <a:avLst/>
          </a:prstGeom>
          <a:noFill/>
          <a:ln/>
        </p:spPr>
        <p:txBody>
          <a:bodyPr wrap="square" lIns="0" tIns="0" rIns="0" bIns="0" rtlCol="0" anchor="ctr"/>
          <a:lstStyle/>
          <a:p>
            <a:pPr rtl="1" algn="r" indent="0" marL="0">
              <a:buNone/>
            </a:pPr>
            <a:r>
              <a:rPr lang="he-IL" altLang="en-US" sz="1000" b="1" dirty="0">
                <a:solidFill>
                  <a:srgbClr val="FFFFFF"/>
                </a:solidFill>
                <a:latin typeface="Arial" pitchFamily="34" charset="0"/>
                <a:ea typeface="Arial" pitchFamily="34" charset="-122"/>
                <a:cs typeface="Arial" pitchFamily="34" charset="-120"/>
              </a:rPr>
              <a:t>משתמש · דף DMS</a:t>
            </a:r>
            <a:endParaRPr lang="he-IL" sz="1000" dirty="0"/>
          </a:p>
        </p:txBody>
      </p:sp>
      <p:sp>
        <p:nvSpPr>
          <p:cNvPr id="66" name="Shape 64"/>
          <p:cNvSpPr/>
          <p:nvPr/>
        </p:nvSpPr>
        <p:spPr>
          <a:xfrm>
            <a:off x="9710928" y="3922776"/>
            <a:ext cx="274320" cy="274320"/>
          </a:xfrm>
          <a:prstGeom prst="ellipse">
            <a:avLst/>
          </a:prstGeom>
          <a:solidFill>
            <a:srgbClr val="FFFFFF"/>
          </a:solidFill>
          <a:ln w="12700">
            <a:solidFill>
              <a:srgbClr val="FFFFFF"/>
            </a:solidFill>
            <a:prstDash val="solid"/>
          </a:ln>
        </p:spPr>
      </p:sp>
      <p:sp>
        <p:nvSpPr>
          <p:cNvPr id="67" name="Text 65"/>
          <p:cNvSpPr txBox="1"/>
          <p:nvPr/>
        </p:nvSpPr>
        <p:spPr>
          <a:xfrm>
            <a:off x="9710928" y="3922776"/>
            <a:ext cx="274320" cy="274320"/>
          </a:xfrm>
          <a:prstGeom prst="rect">
            <a:avLst/>
          </a:prstGeom>
          <a:noFill/>
          <a:ln/>
        </p:spPr>
        <p:txBody>
          <a:bodyPr wrap="square" lIns="0" tIns="0" rIns="0" bIns="0" rtlCol="0" anchor="ctr"/>
          <a:lstStyle/>
          <a:p>
            <a:pPr algn="ctr" indent="0" marL="0">
              <a:buNone/>
            </a:pPr>
            <a:r>
              <a:rPr lang="en-US" sz="1100" b="1" dirty="0">
                <a:solidFill>
                  <a:srgbClr val="0E6F73"/>
                </a:solidFill>
                <a:latin typeface="Arial" pitchFamily="34" charset="0"/>
                <a:ea typeface="Arial" pitchFamily="34" charset="-122"/>
                <a:cs typeface="Arial" pitchFamily="34" charset="-120"/>
              </a:rPr>
              <a:t>10</a:t>
            </a:r>
            <a:endParaRPr lang="en-US" sz="1100" dirty="0"/>
          </a:p>
        </p:txBody>
      </p:sp>
      <p:sp>
        <p:nvSpPr>
          <p:cNvPr id="68" name="Text 66"/>
          <p:cNvSpPr txBox="1"/>
          <p:nvPr/>
        </p:nvSpPr>
        <p:spPr>
          <a:xfrm>
            <a:off x="9729216" y="4270248"/>
            <a:ext cx="1783080" cy="1005840"/>
          </a:xfrm>
          <a:prstGeom prst="rect">
            <a:avLst/>
          </a:prstGeom>
          <a:noFill/>
          <a:ln/>
        </p:spPr>
        <p:txBody>
          <a:bodyPr wrap="square" lIns="0" tIns="0" rIns="0" bIns="0" rtlCol="0" anchor="t"/>
          <a:lstStyle/>
          <a:p>
            <a:pPr algn="r" indent="0" marL="0">
              <a:buNone/>
            </a:pPr>
            <a:r>
              <a:rPr lang="he-IL" altLang="en-US" sz="1250" b="1" dirty="0">
                <a:solidFill>
                  <a:srgbClr val="1B2A33"/>
                </a:solidFill>
                <a:latin typeface="Arial" pitchFamily="34" charset="0"/>
                <a:ea typeface="Arial" pitchFamily="34" charset="-122"/>
                <a:cs typeface="Arial" pitchFamily="34" charset="-120"/>
              </a:rPr>
              <a:t>מעקב וחיפוש</a:t>
            </a:r>
            <a:endParaRPr lang="he-IL" sz="1250" dirty="0"/>
          </a:p>
          <a:p>
            <a:pPr algn="r" indent="0" marL="0">
              <a:buNone/>
            </a:pPr>
            <a:r>
              <a:rPr lang="he-IL" altLang="en-US" sz="1000" dirty="0">
                <a:solidFill>
                  <a:srgbClr val="5D6F7A"/>
                </a:solidFill>
                <a:latin typeface="Arial" pitchFamily="34" charset="0"/>
                <a:ea typeface="Arial" pitchFamily="34" charset="-122"/>
                <a:cs typeface="Arial" pitchFamily="34" charset="-120"/>
              </a:rPr>
              <a:t>תהליכי האישור שלי, סטטוס על כל קובץ, חיפוש ו-AI Insights</a:t>
            </a:r>
            <a:endParaRPr lang="he-IL" sz="1250" dirty="0"/>
          </a:p>
        </p:txBody>
      </p:sp>
      <p:sp>
        <p:nvSpPr>
          <p:cNvPr id="69" name="Shape 67"/>
          <p:cNvSpPr/>
          <p:nvPr/>
        </p:nvSpPr>
        <p:spPr>
          <a:xfrm>
            <a:off x="2532888" y="4617720"/>
            <a:ext cx="301752" cy="0"/>
          </a:xfrm>
          <a:prstGeom prst="line">
            <a:avLst/>
          </a:prstGeom>
          <a:noFill/>
          <a:ln w="22225">
            <a:solidFill>
              <a:srgbClr val="2F7D32"/>
            </a:solidFill>
            <a:prstDash val="solid"/>
            <a:tailEnd type="triangle"/>
          </a:ln>
        </p:spPr>
      </p:sp>
      <p:sp>
        <p:nvSpPr>
          <p:cNvPr id="70" name="Shape 68"/>
          <p:cNvSpPr/>
          <p:nvPr/>
        </p:nvSpPr>
        <p:spPr>
          <a:xfrm>
            <a:off x="4800600" y="4617720"/>
            <a:ext cx="301752" cy="0"/>
          </a:xfrm>
          <a:prstGeom prst="line">
            <a:avLst/>
          </a:prstGeom>
          <a:noFill/>
          <a:ln w="22225">
            <a:solidFill>
              <a:srgbClr val="2F7D32"/>
            </a:solidFill>
            <a:prstDash val="solid"/>
            <a:tailEnd type="triangle"/>
          </a:ln>
        </p:spPr>
      </p:sp>
      <p:sp>
        <p:nvSpPr>
          <p:cNvPr id="71" name="Shape 69"/>
          <p:cNvSpPr/>
          <p:nvPr/>
        </p:nvSpPr>
        <p:spPr>
          <a:xfrm>
            <a:off x="7068312" y="4617720"/>
            <a:ext cx="301752" cy="0"/>
          </a:xfrm>
          <a:prstGeom prst="line">
            <a:avLst/>
          </a:prstGeom>
          <a:noFill/>
          <a:ln w="22225">
            <a:solidFill>
              <a:srgbClr val="1B2A33"/>
            </a:solidFill>
            <a:prstDash val="solid"/>
            <a:tailEnd type="triangle"/>
          </a:ln>
        </p:spPr>
      </p:sp>
      <p:sp>
        <p:nvSpPr>
          <p:cNvPr id="72" name="Shape 70"/>
          <p:cNvSpPr/>
          <p:nvPr/>
        </p:nvSpPr>
        <p:spPr>
          <a:xfrm>
            <a:off x="9336024" y="4617720"/>
            <a:ext cx="301752" cy="0"/>
          </a:xfrm>
          <a:prstGeom prst="line">
            <a:avLst/>
          </a:prstGeom>
          <a:noFill/>
          <a:ln w="22225">
            <a:solidFill>
              <a:srgbClr val="1B2A33"/>
            </a:solidFill>
            <a:prstDash val="solid"/>
            <a:tailEnd type="triangle"/>
          </a:ln>
        </p:spPr>
      </p:sp>
      <p:sp>
        <p:nvSpPr>
          <p:cNvPr id="73" name="Shape 71"/>
          <p:cNvSpPr/>
          <p:nvPr/>
        </p:nvSpPr>
        <p:spPr>
          <a:xfrm>
            <a:off x="566928" y="5641848"/>
            <a:ext cx="4233672" cy="566928"/>
          </a:xfrm>
          <a:prstGeom prst="roundRect">
            <a:avLst>
              <a:gd name="adj" fmla="val 12903"/>
            </a:avLst>
          </a:prstGeom>
          <a:solidFill>
            <a:srgbClr val="FBE4E2"/>
          </a:solidFill>
          <a:ln w="15875">
            <a:solidFill>
              <a:srgbClr val="B3261E"/>
            </a:solidFill>
            <a:prstDash val="dash"/>
          </a:ln>
        </p:spPr>
      </p:sp>
      <p:sp>
        <p:nvSpPr>
          <p:cNvPr id="74" name="Text 72"/>
          <p:cNvSpPr txBox="1"/>
          <p:nvPr/>
        </p:nvSpPr>
        <p:spPr>
          <a:xfrm>
            <a:off x="658368" y="5641848"/>
            <a:ext cx="4050792" cy="566928"/>
          </a:xfrm>
          <a:prstGeom prst="rect">
            <a:avLst/>
          </a:prstGeom>
          <a:noFill/>
          <a:ln/>
        </p:spPr>
        <p:txBody>
          <a:bodyPr wrap="square" lIns="0" tIns="0" rIns="0" bIns="0" rtlCol="0" anchor="ctr"/>
          <a:lstStyle/>
          <a:p>
            <a:pPr rtl="1" algn="r" indent="0" marL="0">
              <a:buNone/>
            </a:pPr>
            <a:r>
              <a:rPr lang="he-IL" altLang="en-US" sz="1000" dirty="0">
                <a:solidFill>
                  <a:srgbClr val="B3261E"/>
                </a:solidFill>
                <a:latin typeface="Arial" pitchFamily="34" charset="0"/>
                <a:ea typeface="Arial" pitchFamily="34" charset="-122"/>
                <a:cs typeface="Arial" pitchFamily="34" charset="-120"/>
              </a:rPr>
              <a:t>נדחה בשלב 1 או 2: הסטטוס חוזר לבעבודה, הקובץ חוזר למקומו וניתן לעריכה, ההערה מופיעה בתהליכי האישור שלי. מתקנים ושולחים שוב (שלב 3).</a:t>
            </a:r>
            <a:endParaRPr lang="he-IL" sz="1000" dirty="0"/>
          </a:p>
        </p:txBody>
      </p:sp>
      <p:sp>
        <p:nvSpPr>
          <p:cNvPr id="75" name="Shape 73"/>
          <p:cNvSpPr/>
          <p:nvPr/>
        </p:nvSpPr>
        <p:spPr>
          <a:xfrm>
            <a:off x="1549908" y="5349240"/>
            <a:ext cx="0" cy="292608"/>
          </a:xfrm>
          <a:prstGeom prst="line">
            <a:avLst/>
          </a:prstGeom>
          <a:noFill/>
          <a:ln w="22225">
            <a:solidFill>
              <a:srgbClr val="B3261E"/>
            </a:solidFill>
            <a:prstDash val="dash"/>
            <a:tailEnd type="triangle"/>
          </a:ln>
        </p:spPr>
      </p:sp>
      <p:sp>
        <p:nvSpPr>
          <p:cNvPr id="76" name="Shape 74"/>
          <p:cNvSpPr/>
          <p:nvPr/>
        </p:nvSpPr>
        <p:spPr>
          <a:xfrm>
            <a:off x="3817620" y="5349240"/>
            <a:ext cx="0" cy="292608"/>
          </a:xfrm>
          <a:prstGeom prst="line">
            <a:avLst/>
          </a:prstGeom>
          <a:noFill/>
          <a:ln w="22225">
            <a:solidFill>
              <a:srgbClr val="B3261E"/>
            </a:solidFill>
            <a:prstDash val="dash"/>
            <a:tailEnd type="triangle"/>
          </a:ln>
        </p:spPr>
      </p:sp>
      <p:sp>
        <p:nvSpPr>
          <p:cNvPr id="77" name="Shape 75"/>
          <p:cNvSpPr/>
          <p:nvPr/>
        </p:nvSpPr>
        <p:spPr>
          <a:xfrm>
            <a:off x="11905488" y="6355080"/>
            <a:ext cx="201168" cy="201168"/>
          </a:xfrm>
          <a:prstGeom prst="rect">
            <a:avLst/>
          </a:prstGeom>
          <a:solidFill>
            <a:srgbClr val="0E6F73"/>
          </a:solidFill>
          <a:ln w="12700">
            <a:solidFill>
              <a:srgbClr val="0E6F73"/>
            </a:solidFill>
            <a:prstDash val="solid"/>
          </a:ln>
        </p:spPr>
      </p:sp>
      <p:sp>
        <p:nvSpPr>
          <p:cNvPr id="78" name="Text 76"/>
          <p:cNvSpPr txBox="1"/>
          <p:nvPr/>
        </p:nvSpPr>
        <p:spPr>
          <a:xfrm>
            <a:off x="10469880" y="6309360"/>
            <a:ext cx="1389888" cy="292608"/>
          </a:xfrm>
          <a:prstGeom prst="rect">
            <a:avLst/>
          </a:prstGeom>
          <a:noFill/>
          <a:ln/>
        </p:spPr>
        <p:txBody>
          <a:bodyPr wrap="square" lIns="0" tIns="0" rIns="0" bIns="0" rtlCol="0" anchor="ctr"/>
          <a:lstStyle/>
          <a:p>
            <a:pPr rtl="1" algn="r" indent="0" marL="0">
              <a:buNone/>
            </a:pPr>
            <a:r>
              <a:rPr lang="he-IL" altLang="en-US" sz="1000" dirty="0">
                <a:solidFill>
                  <a:srgbClr val="5D6F7A"/>
                </a:solidFill>
                <a:latin typeface="Arial" pitchFamily="34" charset="0"/>
                <a:ea typeface="Arial" pitchFamily="34" charset="-122"/>
                <a:cs typeface="Arial" pitchFamily="34" charset="-120"/>
              </a:rPr>
              <a:t>משתמש · דף DMS</a:t>
            </a:r>
            <a:endParaRPr lang="he-IL" sz="1000" dirty="0"/>
          </a:p>
        </p:txBody>
      </p:sp>
      <p:sp>
        <p:nvSpPr>
          <p:cNvPr id="79" name="Shape 77"/>
          <p:cNvSpPr/>
          <p:nvPr/>
        </p:nvSpPr>
        <p:spPr>
          <a:xfrm>
            <a:off x="10076688" y="6355080"/>
            <a:ext cx="201168" cy="201168"/>
          </a:xfrm>
          <a:prstGeom prst="rect">
            <a:avLst/>
          </a:prstGeom>
          <a:solidFill>
            <a:srgbClr val="6B7684"/>
          </a:solidFill>
          <a:ln w="12700">
            <a:solidFill>
              <a:srgbClr val="6B7684"/>
            </a:solidFill>
            <a:prstDash val="solid"/>
          </a:ln>
        </p:spPr>
      </p:sp>
      <p:sp>
        <p:nvSpPr>
          <p:cNvPr id="80" name="Text 78"/>
          <p:cNvSpPr txBox="1"/>
          <p:nvPr/>
        </p:nvSpPr>
        <p:spPr>
          <a:xfrm>
            <a:off x="8641080" y="6309360"/>
            <a:ext cx="1389888" cy="292608"/>
          </a:xfrm>
          <a:prstGeom prst="rect">
            <a:avLst/>
          </a:prstGeom>
          <a:noFill/>
          <a:ln/>
        </p:spPr>
        <p:txBody>
          <a:bodyPr wrap="square" lIns="0" tIns="0" rIns="0" bIns="0" rtlCol="0" anchor="ctr"/>
          <a:lstStyle/>
          <a:p>
            <a:pPr rtl="1" algn="r" indent="0" marL="0">
              <a:buNone/>
            </a:pPr>
            <a:r>
              <a:rPr lang="he-IL" altLang="en-US" sz="1000" dirty="0">
                <a:solidFill>
                  <a:srgbClr val="5D6F7A"/>
                </a:solidFill>
                <a:latin typeface="Arial" pitchFamily="34" charset="0"/>
                <a:ea typeface="Arial" pitchFamily="34" charset="-122"/>
                <a:cs typeface="Arial" pitchFamily="34" charset="-120"/>
              </a:rPr>
              <a:t>שרת הקבצים</a:t>
            </a:r>
            <a:endParaRPr lang="he-IL" sz="1000" dirty="0"/>
          </a:p>
        </p:txBody>
      </p:sp>
      <p:sp>
        <p:nvSpPr>
          <p:cNvPr id="81" name="Shape 79"/>
          <p:cNvSpPr/>
          <p:nvPr/>
        </p:nvSpPr>
        <p:spPr>
          <a:xfrm>
            <a:off x="8247888" y="6355080"/>
            <a:ext cx="201168" cy="201168"/>
          </a:xfrm>
          <a:prstGeom prst="rect">
            <a:avLst/>
          </a:prstGeom>
          <a:solidFill>
            <a:srgbClr val="1F5FA8"/>
          </a:solidFill>
          <a:ln w="12700">
            <a:solidFill>
              <a:srgbClr val="1F5FA8"/>
            </a:solidFill>
            <a:prstDash val="solid"/>
          </a:ln>
        </p:spPr>
      </p:sp>
      <p:sp>
        <p:nvSpPr>
          <p:cNvPr id="82" name="Text 80"/>
          <p:cNvSpPr txBox="1"/>
          <p:nvPr/>
        </p:nvSpPr>
        <p:spPr>
          <a:xfrm>
            <a:off x="6812280" y="6309360"/>
            <a:ext cx="1389888" cy="292608"/>
          </a:xfrm>
          <a:prstGeom prst="rect">
            <a:avLst/>
          </a:prstGeom>
          <a:noFill/>
          <a:ln/>
        </p:spPr>
        <p:txBody>
          <a:bodyPr wrap="square" lIns="0" tIns="0" rIns="0" bIns="0" rtlCol="0" anchor="ctr"/>
          <a:lstStyle/>
          <a:p>
            <a:pPr rtl="1" algn="r" indent="0" marL="0">
              <a:buNone/>
            </a:pPr>
            <a:r>
              <a:rPr lang="he-IL" altLang="en-US" sz="1000" dirty="0">
                <a:solidFill>
                  <a:srgbClr val="5D6F7A"/>
                </a:solidFill>
                <a:latin typeface="Arial" pitchFamily="34" charset="0"/>
                <a:ea typeface="Arial" pitchFamily="34" charset="-122"/>
                <a:cs typeface="Arial" pitchFamily="34" charset="-120"/>
              </a:rPr>
              <a:t>SharePoint</a:t>
            </a:r>
            <a:endParaRPr lang="he-IL" sz="1000" dirty="0"/>
          </a:p>
        </p:txBody>
      </p:sp>
      <p:sp>
        <p:nvSpPr>
          <p:cNvPr id="83" name="Shape 81"/>
          <p:cNvSpPr/>
          <p:nvPr/>
        </p:nvSpPr>
        <p:spPr>
          <a:xfrm>
            <a:off x="6419088" y="6355080"/>
            <a:ext cx="201168" cy="201168"/>
          </a:xfrm>
          <a:prstGeom prst="rect">
            <a:avLst/>
          </a:prstGeom>
          <a:solidFill>
            <a:srgbClr val="6D3FC0"/>
          </a:solidFill>
          <a:ln w="12700">
            <a:solidFill>
              <a:srgbClr val="6D3FC0"/>
            </a:solidFill>
            <a:prstDash val="solid"/>
          </a:ln>
        </p:spPr>
      </p:sp>
      <p:sp>
        <p:nvSpPr>
          <p:cNvPr id="84" name="Text 82"/>
          <p:cNvSpPr txBox="1"/>
          <p:nvPr/>
        </p:nvSpPr>
        <p:spPr>
          <a:xfrm>
            <a:off x="4983480" y="6309360"/>
            <a:ext cx="1389888" cy="292608"/>
          </a:xfrm>
          <a:prstGeom prst="rect">
            <a:avLst/>
          </a:prstGeom>
          <a:noFill/>
          <a:ln/>
        </p:spPr>
        <p:txBody>
          <a:bodyPr wrap="square" lIns="0" tIns="0" rIns="0" bIns="0" rtlCol="0" anchor="ctr"/>
          <a:lstStyle/>
          <a:p>
            <a:pPr rtl="1" algn="r" indent="0" marL="0">
              <a:buNone/>
            </a:pPr>
            <a:r>
              <a:rPr lang="he-IL" altLang="en-US" sz="1000" dirty="0">
                <a:solidFill>
                  <a:srgbClr val="5D6F7A"/>
                </a:solidFill>
                <a:latin typeface="Arial" pitchFamily="34" charset="0"/>
                <a:ea typeface="Arial" pitchFamily="34" charset="-122"/>
                <a:cs typeface="Arial" pitchFamily="34" charset="-120"/>
              </a:rPr>
              <a:t>מאשרים · דף DMS / Teams</a:t>
            </a:r>
            <a:endParaRPr lang="he-IL" sz="1000" dirty="0"/>
          </a:p>
        </p:txBody>
      </p:sp>
      <p:sp>
        <p:nvSpPr>
          <p:cNvPr id="85" name="Shape 83"/>
          <p:cNvSpPr/>
          <p:nvPr/>
        </p:nvSpPr>
        <p:spPr>
          <a:xfrm>
            <a:off x="4590288" y="6355080"/>
            <a:ext cx="201168" cy="201168"/>
          </a:xfrm>
          <a:prstGeom prst="rect">
            <a:avLst/>
          </a:prstGeom>
          <a:solidFill>
            <a:srgbClr val="A86400"/>
          </a:solidFill>
          <a:ln w="12700">
            <a:solidFill>
              <a:srgbClr val="A86400"/>
            </a:solidFill>
            <a:prstDash val="solid"/>
          </a:ln>
        </p:spPr>
      </p:sp>
      <p:sp>
        <p:nvSpPr>
          <p:cNvPr id="86" name="Text 84"/>
          <p:cNvSpPr txBox="1"/>
          <p:nvPr/>
        </p:nvSpPr>
        <p:spPr>
          <a:xfrm>
            <a:off x="3154680" y="6309360"/>
            <a:ext cx="1389888" cy="292608"/>
          </a:xfrm>
          <a:prstGeom prst="rect">
            <a:avLst/>
          </a:prstGeom>
          <a:noFill/>
          <a:ln/>
        </p:spPr>
        <p:txBody>
          <a:bodyPr wrap="square" lIns="0" tIns="0" rIns="0" bIns="0" rtlCol="0" anchor="ctr"/>
          <a:lstStyle/>
          <a:p>
            <a:pPr rtl="1" algn="r" indent="0" marL="0">
              <a:buNone/>
            </a:pPr>
            <a:r>
              <a:rPr lang="he-IL" altLang="en-US" sz="1000" dirty="0">
                <a:solidFill>
                  <a:srgbClr val="5D6F7A"/>
                </a:solidFill>
                <a:latin typeface="Arial" pitchFamily="34" charset="0"/>
                <a:ea typeface="Arial" pitchFamily="34" charset="-122"/>
                <a:cs typeface="Arial" pitchFamily="34" charset="-120"/>
              </a:rPr>
              <a:t>שירות התהליכים</a:t>
            </a:r>
            <a:endParaRPr lang="he-IL" sz="1000" dirty="0"/>
          </a:p>
        </p:txBody>
      </p:sp>
      <p:sp>
        <p:nvSpPr>
          <p:cNvPr id="87" name="Text 85"/>
          <p:cNvSpPr txBox="1"/>
          <p:nvPr/>
        </p:nvSpPr>
        <p:spPr>
          <a:xfrm>
            <a:off x="6400800" y="5943600"/>
            <a:ext cx="5394960" cy="320040"/>
          </a:xfrm>
          <a:prstGeom prst="rect">
            <a:avLst/>
          </a:prstGeom>
          <a:noFill/>
          <a:ln/>
        </p:spPr>
        <p:txBody>
          <a:bodyPr wrap="square" lIns="0" tIns="0" rIns="0" bIns="0" rtlCol="0" anchor="ctr"/>
          <a:lstStyle/>
          <a:p>
            <a:pPr rtl="1" algn="r" indent="0" marL="0">
              <a:buNone/>
            </a:pPr>
            <a:r>
              <a:rPr lang="he-IL" altLang="en-US" sz="1050" dirty="0">
                <a:solidFill>
                  <a:srgbClr val="5D6F7A"/>
                </a:solidFill>
                <a:latin typeface="Arial" pitchFamily="34" charset="0"/>
                <a:ea typeface="Arial" pitchFamily="34" charset="-122"/>
                <a:cs typeface="Arial" pitchFamily="34" charset="-120"/>
              </a:rPr>
              <a:t>בפיילוט כל השלבים מתבצעים בדף ה-DMS, גם האישורים (תהליך DC-P1 כבוי). בייצור האישורים יגיעו ב-Teams.</a:t>
            </a:r>
            <a:endParaRPr lang="he-IL"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8"/>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685800"/>
          </a:xfrm>
          <a:prstGeom prst="rect">
            <a:avLst/>
          </a:prstGeom>
          <a:noFill/>
          <a:ln/>
        </p:spPr>
        <p:txBody>
          <a:bodyPr wrap="square" lIns="0" tIns="0" rIns="0" bIns="0" rtlCol="0" anchor="ctr"/>
          <a:lstStyle/>
          <a:p>
            <a:pPr rtl="1" algn="r" indent="0" marL="0">
              <a:buNone/>
            </a:pPr>
            <a:r>
              <a:rPr lang="he-IL" altLang="en-US" sz="3200" b="1" dirty="0">
                <a:solidFill>
                  <a:srgbClr val="1B2A33"/>
                </a:solidFill>
                <a:latin typeface="Arial" pitchFamily="34" charset="0"/>
                <a:ea typeface="Arial" pitchFamily="34" charset="-122"/>
                <a:cs typeface="Arial" pitchFamily="34" charset="-120"/>
              </a:rPr>
              <a:t>איפה הקובץ בכל שלב</a:t>
            </a:r>
            <a:endParaRPr lang="he-IL"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914400"/>
        </p:xfrm>
        <a:graphic>
          <a:graphicData uri="http://schemas.openxmlformats.org/drawingml/2006/table">
            <a:tbl>
              <a:tblPr/>
              <a:tblGrid>
                <a:gridCol w="1463040"/>
                <a:gridCol w="6035040"/>
                <a:gridCol w="3200400"/>
              </a:tblGrid>
              <a:tr h="566928">
                <a:tc>
                  <a:txBody>
                    <a:bodyPr/>
                    <a:lstStyle/>
                    <a:p>
                      <a:pPr algn="r" indent="0" marL="0">
                        <a:buNone/>
                      </a:pPr>
                      <a:r>
                        <a:rPr lang="en-US" sz="1400" b="1" dirty="0">
                          <a:solidFill>
                            <a:srgbClr val="FFFFFF"/>
                          </a:solidFill>
                          <a:latin typeface="Arial" pitchFamily="34" charset="0"/>
                          <a:ea typeface="Arial" pitchFamily="34" charset="-122"/>
                          <a:cs typeface="Arial" pitchFamily="34" charset="-120"/>
                        </a:rPr>
                        <a:t>קריאה בלבד</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0E6F73"/>
                    </a:solidFill>
                  </a:tcPr>
                </a:tc>
                <a:tc>
                  <a:txBody>
                    <a:bodyPr/>
                    <a:lstStyle/>
                    <a:p>
                      <a:pPr algn="r" indent="0" marL="0">
                        <a:buNone/>
                      </a:pPr>
                      <a:r>
                        <a:rPr lang="en-US" sz="1400" b="1" dirty="0">
                          <a:solidFill>
                            <a:srgbClr val="FFFFFF"/>
                          </a:solidFill>
                          <a:latin typeface="Arial" pitchFamily="34" charset="0"/>
                          <a:ea typeface="Arial" pitchFamily="34" charset="-122"/>
                          <a:cs typeface="Arial" pitchFamily="34" charset="-120"/>
                        </a:rPr>
                        <a:t>מיקום הקובץ (דוגמה: הצעות מחיר)</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0E6F73"/>
                    </a:solidFill>
                  </a:tcPr>
                </a:tc>
                <a:tc>
                  <a:txBody>
                    <a:bodyPr/>
                    <a:lstStyle/>
                    <a:p>
                      <a:pPr algn="r" indent="0" marL="0">
                        <a:buNone/>
                      </a:pPr>
                      <a:r>
                        <a:rPr lang="en-US" sz="1400" b="1" dirty="0">
                          <a:solidFill>
                            <a:srgbClr val="FFFFFF"/>
                          </a:solidFill>
                          <a:latin typeface="Arial" pitchFamily="34" charset="0"/>
                          <a:ea typeface="Arial" pitchFamily="34" charset="-122"/>
                          <a:cs typeface="Arial" pitchFamily="34" charset="-120"/>
                        </a:rPr>
                        <a:t>סטטוס במרשם</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0E6F73"/>
                    </a:solidFill>
                  </a:tcPr>
                </a:tc>
              </a:tr>
              <a:tr h="566928">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לא</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...\Commercial\Quotations\Quote.xlsx (היכן שנשמר)</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בעבודה</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r h="566928">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כן</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...\Quotations\Submitted\Quote.xlsx</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הוגש לאישור</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r h="566928">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כן</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...\Quotations\Current_ReadOnly\Quote.xlsx</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מאושר - קריאה בלבד</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r h="566928">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כן</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...\Quotations\Obsolete_ReadOnly\...</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גרסה מאושרת קודמת</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r h="566928">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$Root\04_Workflow_System\Recycle\&lt;תאריך&gt;\&lt;משתמש&gt;\...</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נמחק מהדף</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731520" y="5120640"/>
            <a:ext cx="10698480" cy="822960"/>
          </a:xfrm>
          <a:prstGeom prst="rect">
            <a:avLst/>
          </a:prstGeom>
          <a:noFill/>
          <a:ln/>
        </p:spPr>
        <p:txBody>
          <a:bodyPr wrap="square" lIns="0" tIns="0" rIns="0" bIns="0" rtlCol="0" anchor="t"/>
          <a:lstStyle/>
          <a:p>
            <a:pPr rtl="1" algn="r" indent="0" marL="0">
              <a:buNone/>
            </a:pPr>
            <a:r>
              <a:rPr lang="he-IL" altLang="en-US" sz="1400" dirty="0">
                <a:solidFill>
                  <a:srgbClr val="5D6F7A"/>
                </a:solidFill>
                <a:latin typeface="Arial" pitchFamily="34" charset="0"/>
                <a:ea typeface="Arial" pitchFamily="34" charset="-122"/>
                <a:cs typeface="Arial" pitchFamily="34" charset="-120"/>
              </a:rPr>
              <a:t>שירות התהליכים מזיז את הקובץ לפי הסטטוס, נועל אותו לקריאה בלבד ורושם כל העברה ביומן הביקורת. הוא לעולם לא מעדכן רשומה בזמן שהיא הוגשה לאישור, כך שתהליך האישור לא מופעל פעמיים.</a:t>
            </a:r>
            <a:endParaRPr lang="he-IL"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320040"/>
            <a:ext cx="11430000" cy="640080"/>
          </a:xfrm>
          <a:prstGeom prst="rect">
            <a:avLst/>
          </a:prstGeom>
          <a:noFill/>
          <a:ln/>
        </p:spPr>
        <p:txBody>
          <a:bodyPr wrap="square" lIns="0" tIns="0" rIns="0" bIns="0" rtlCol="0" anchor="ctr"/>
          <a:lstStyle/>
          <a:p>
            <a:pPr rtl="1" algn="r" indent="0" marL="0">
              <a:buNone/>
            </a:pPr>
            <a:r>
              <a:rPr lang="he-IL" altLang="en-US" sz="3200" b="1" dirty="0">
                <a:solidFill>
                  <a:srgbClr val="1B2A33"/>
                </a:solidFill>
                <a:latin typeface="Arial" pitchFamily="34" charset="0"/>
                <a:ea typeface="Arial" pitchFamily="34" charset="-122"/>
                <a:cs typeface="Arial" pitchFamily="34" charset="-120"/>
              </a:rPr>
              <a:t>תהליך האישור בייצור: Teams ו-DC-P1 (פירוט)</a:t>
            </a:r>
            <a:endParaRPr lang="he-IL" sz="3200" dirty="0"/>
          </a:p>
        </p:txBody>
      </p:sp>
      <p:sp>
        <p:nvSpPr>
          <p:cNvPr id="3" name="Shape 1"/>
          <p:cNvSpPr/>
          <p:nvPr/>
        </p:nvSpPr>
        <p:spPr>
          <a:xfrm>
            <a:off x="365760" y="1188720"/>
            <a:ext cx="11301984" cy="1036015"/>
          </a:xfrm>
          <a:prstGeom prst="rect">
            <a:avLst/>
          </a:prstGeom>
          <a:solidFill>
            <a:srgbClr val="EEF3F5"/>
          </a:solidFill>
          <a:ln w="12700">
            <a:solidFill>
              <a:srgbClr val="EEF3F5"/>
            </a:solidFill>
            <a:prstDash val="solid"/>
          </a:ln>
        </p:spPr>
      </p:sp>
      <p:sp>
        <p:nvSpPr>
          <p:cNvPr id="4" name="Text 2"/>
          <p:cNvSpPr txBox="1"/>
          <p:nvPr/>
        </p:nvSpPr>
        <p:spPr>
          <a:xfrm>
            <a:off x="10490454" y="1188720"/>
            <a:ext cx="1130198" cy="1036015"/>
          </a:xfrm>
          <a:prstGeom prst="rect">
            <a:avLst/>
          </a:prstGeom>
          <a:noFill/>
          <a:ln/>
        </p:spPr>
        <p:txBody>
          <a:bodyPr wrap="square" lIns="0" tIns="0" rIns="0" bIns="0" rtlCol="0" anchor="ctr"/>
          <a:lstStyle/>
          <a:p>
            <a:pPr algn="ctr" indent="0" marL="0">
              <a:buNone/>
            </a:pPr>
            <a:r>
              <a:rPr lang="he-IL" altLang="en-US" sz="1300" b="1" dirty="0">
                <a:solidFill>
                  <a:srgbClr val="1B2A33"/>
                </a:solidFill>
                <a:latin typeface="Arial" pitchFamily="34" charset="0"/>
                <a:ea typeface="Arial" pitchFamily="34" charset="-122"/>
                <a:cs typeface="Arial" pitchFamily="34" charset="-120"/>
              </a:rPr>
              <a:t>בעל המסמך</a:t>
            </a:r>
            <a:endParaRPr lang="he-IL" sz="1300" dirty="0"/>
          </a:p>
          <a:p>
            <a:pPr algn="ctr" indent="0" marL="0">
              <a:buNone/>
            </a:pPr>
            <a:r>
              <a:rPr lang="he-IL" altLang="en-US" sz="1000" dirty="0">
                <a:solidFill>
                  <a:srgbClr val="5D6F7A"/>
                </a:solidFill>
                <a:latin typeface="Arial" pitchFamily="34" charset="0"/>
                <a:ea typeface="Arial" pitchFamily="34" charset="-122"/>
                <a:cs typeface="Arial" pitchFamily="34" charset="-120"/>
              </a:rPr>
              <a:t>מגיש ומקבל תוצאה</a:t>
            </a:r>
            <a:endParaRPr lang="he-IL" sz="1300" dirty="0"/>
          </a:p>
        </p:txBody>
      </p:sp>
      <p:sp>
        <p:nvSpPr>
          <p:cNvPr id="5" name="Shape 3"/>
          <p:cNvSpPr/>
          <p:nvPr/>
        </p:nvSpPr>
        <p:spPr>
          <a:xfrm>
            <a:off x="365760" y="2224735"/>
            <a:ext cx="11301984" cy="1036015"/>
          </a:xfrm>
          <a:prstGeom prst="rect">
            <a:avLst/>
          </a:prstGeom>
          <a:solidFill>
            <a:srgbClr val="F8FAFB"/>
          </a:solidFill>
          <a:ln w="12700">
            <a:solidFill>
              <a:srgbClr val="F8FAFB"/>
            </a:solidFill>
            <a:prstDash val="solid"/>
          </a:ln>
        </p:spPr>
      </p:sp>
      <p:sp>
        <p:nvSpPr>
          <p:cNvPr id="6" name="Text 4"/>
          <p:cNvSpPr txBox="1"/>
          <p:nvPr/>
        </p:nvSpPr>
        <p:spPr>
          <a:xfrm>
            <a:off x="10490454" y="2224735"/>
            <a:ext cx="1130198" cy="1036015"/>
          </a:xfrm>
          <a:prstGeom prst="rect">
            <a:avLst/>
          </a:prstGeom>
          <a:noFill/>
          <a:ln/>
        </p:spPr>
        <p:txBody>
          <a:bodyPr wrap="square" lIns="0" tIns="0" rIns="0" bIns="0" rtlCol="0" anchor="ctr"/>
          <a:lstStyle/>
          <a:p>
            <a:pPr algn="ctr" indent="0" marL="0">
              <a:buNone/>
            </a:pPr>
            <a:r>
              <a:rPr lang="he-IL" altLang="en-US" sz="1300" b="1" dirty="0">
                <a:solidFill>
                  <a:srgbClr val="1B2A33"/>
                </a:solidFill>
                <a:latin typeface="Arial" pitchFamily="34" charset="0"/>
                <a:ea typeface="Arial" pitchFamily="34" charset="-122"/>
                <a:cs typeface="Arial" pitchFamily="34" charset="-120"/>
              </a:rPr>
              <a:t>SharePoint</a:t>
            </a:r>
            <a:endParaRPr lang="he-IL" sz="1300" dirty="0"/>
          </a:p>
          <a:p>
            <a:pPr algn="ctr" indent="0" marL="0">
              <a:buNone/>
            </a:pPr>
            <a:r>
              <a:rPr lang="he-IL" altLang="en-US" sz="1000" dirty="0">
                <a:solidFill>
                  <a:srgbClr val="5D6F7A"/>
                </a:solidFill>
                <a:latin typeface="Arial" pitchFamily="34" charset="0"/>
                <a:ea typeface="Arial" pitchFamily="34" charset="-122"/>
                <a:cs typeface="Arial" pitchFamily="34" charset="-120"/>
              </a:rPr>
              <a:t>רשימות האתר</a:t>
            </a:r>
            <a:endParaRPr lang="he-IL" sz="1300" dirty="0"/>
          </a:p>
        </p:txBody>
      </p:sp>
      <p:sp>
        <p:nvSpPr>
          <p:cNvPr id="7" name="Shape 5"/>
          <p:cNvSpPr/>
          <p:nvPr/>
        </p:nvSpPr>
        <p:spPr>
          <a:xfrm>
            <a:off x="365760" y="3260750"/>
            <a:ext cx="11301984" cy="1036015"/>
          </a:xfrm>
          <a:prstGeom prst="rect">
            <a:avLst/>
          </a:prstGeom>
          <a:solidFill>
            <a:srgbClr val="EEF3F5"/>
          </a:solidFill>
          <a:ln w="12700">
            <a:solidFill>
              <a:srgbClr val="EEF3F5"/>
            </a:solidFill>
            <a:prstDash val="solid"/>
          </a:ln>
        </p:spPr>
      </p:sp>
      <p:sp>
        <p:nvSpPr>
          <p:cNvPr id="8" name="Text 6"/>
          <p:cNvSpPr txBox="1"/>
          <p:nvPr/>
        </p:nvSpPr>
        <p:spPr>
          <a:xfrm>
            <a:off x="10490454" y="3260750"/>
            <a:ext cx="1130198" cy="1036015"/>
          </a:xfrm>
          <a:prstGeom prst="rect">
            <a:avLst/>
          </a:prstGeom>
          <a:noFill/>
          <a:ln/>
        </p:spPr>
        <p:txBody>
          <a:bodyPr wrap="square" lIns="0" tIns="0" rIns="0" bIns="0" rtlCol="0" anchor="ctr"/>
          <a:lstStyle/>
          <a:p>
            <a:pPr algn="ctr" indent="0" marL="0">
              <a:buNone/>
            </a:pPr>
            <a:r>
              <a:rPr lang="he-IL" altLang="en-US" sz="1300" b="1" dirty="0">
                <a:solidFill>
                  <a:srgbClr val="1B2A33"/>
                </a:solidFill>
                <a:latin typeface="Arial" pitchFamily="34" charset="0"/>
                <a:ea typeface="Arial" pitchFamily="34" charset="-122"/>
                <a:cs typeface="Arial" pitchFamily="34" charset="-120"/>
              </a:rPr>
              <a:t>Power Automate</a:t>
            </a:r>
            <a:endParaRPr lang="he-IL" sz="1300" dirty="0"/>
          </a:p>
          <a:p>
            <a:pPr algn="ctr" indent="0" marL="0">
              <a:buNone/>
            </a:pPr>
            <a:r>
              <a:rPr lang="he-IL" altLang="en-US" sz="1000" dirty="0">
                <a:solidFill>
                  <a:srgbClr val="5D6F7A"/>
                </a:solidFill>
                <a:latin typeface="Arial" pitchFamily="34" charset="0"/>
                <a:ea typeface="Arial" pitchFamily="34" charset="-122"/>
                <a:cs typeface="Arial" pitchFamily="34" charset="-120"/>
              </a:rPr>
              <a:t>DC-P1 Pilot Approval</a:t>
            </a:r>
            <a:endParaRPr lang="he-IL" sz="1300" dirty="0"/>
          </a:p>
        </p:txBody>
      </p:sp>
      <p:sp>
        <p:nvSpPr>
          <p:cNvPr id="9" name="Shape 7"/>
          <p:cNvSpPr/>
          <p:nvPr/>
        </p:nvSpPr>
        <p:spPr>
          <a:xfrm>
            <a:off x="365760" y="4296766"/>
            <a:ext cx="11301984" cy="1036015"/>
          </a:xfrm>
          <a:prstGeom prst="rect">
            <a:avLst/>
          </a:prstGeom>
          <a:solidFill>
            <a:srgbClr val="F8FAFB"/>
          </a:solidFill>
          <a:ln w="12700">
            <a:solidFill>
              <a:srgbClr val="F8FAFB"/>
            </a:solidFill>
            <a:prstDash val="solid"/>
          </a:ln>
        </p:spPr>
      </p:sp>
      <p:sp>
        <p:nvSpPr>
          <p:cNvPr id="10" name="Text 8"/>
          <p:cNvSpPr txBox="1"/>
          <p:nvPr/>
        </p:nvSpPr>
        <p:spPr>
          <a:xfrm>
            <a:off x="10490454" y="4296766"/>
            <a:ext cx="1130198" cy="1036015"/>
          </a:xfrm>
          <a:prstGeom prst="rect">
            <a:avLst/>
          </a:prstGeom>
          <a:noFill/>
          <a:ln/>
        </p:spPr>
        <p:txBody>
          <a:bodyPr wrap="square" lIns="0" tIns="0" rIns="0" bIns="0" rtlCol="0" anchor="ctr"/>
          <a:lstStyle/>
          <a:p>
            <a:pPr algn="ctr" indent="0" marL="0">
              <a:buNone/>
            </a:pPr>
            <a:r>
              <a:rPr lang="he-IL" altLang="en-US" sz="1300" b="1" dirty="0">
                <a:solidFill>
                  <a:srgbClr val="1B2A33"/>
                </a:solidFill>
                <a:latin typeface="Arial" pitchFamily="34" charset="0"/>
                <a:ea typeface="Arial" pitchFamily="34" charset="-122"/>
                <a:cs typeface="Arial" pitchFamily="34" charset="-120"/>
              </a:rPr>
              <a:t>מאשרי חובה</a:t>
            </a:r>
            <a:endParaRPr lang="he-IL" sz="1300" dirty="0"/>
          </a:p>
          <a:p>
            <a:pPr algn="ctr" indent="0" marL="0">
              <a:buNone/>
            </a:pPr>
            <a:r>
              <a:rPr lang="he-IL" altLang="en-US" sz="1000" dirty="0">
                <a:solidFill>
                  <a:srgbClr val="5D6F7A"/>
                </a:solidFill>
                <a:latin typeface="Arial" pitchFamily="34" charset="0"/>
                <a:ea typeface="Arial" pitchFamily="34" charset="-122"/>
                <a:cs typeface="Arial" pitchFamily="34" charset="-120"/>
              </a:rPr>
              <a:t>Teams ומייל</a:t>
            </a:r>
            <a:endParaRPr lang="he-IL" sz="1300" dirty="0"/>
          </a:p>
        </p:txBody>
      </p:sp>
      <p:sp>
        <p:nvSpPr>
          <p:cNvPr id="11" name="Shape 9"/>
          <p:cNvSpPr/>
          <p:nvPr/>
        </p:nvSpPr>
        <p:spPr>
          <a:xfrm>
            <a:off x="365760" y="5332781"/>
            <a:ext cx="11301984" cy="1130198"/>
          </a:xfrm>
          <a:prstGeom prst="rect">
            <a:avLst/>
          </a:prstGeom>
          <a:solidFill>
            <a:srgbClr val="EEF3F5"/>
          </a:solidFill>
          <a:ln w="12700">
            <a:solidFill>
              <a:srgbClr val="EEF3F5"/>
            </a:solidFill>
            <a:prstDash val="solid"/>
          </a:ln>
        </p:spPr>
      </p:sp>
      <p:sp>
        <p:nvSpPr>
          <p:cNvPr id="12" name="Text 10"/>
          <p:cNvSpPr txBox="1"/>
          <p:nvPr/>
        </p:nvSpPr>
        <p:spPr>
          <a:xfrm>
            <a:off x="10490454" y="5332781"/>
            <a:ext cx="1130198" cy="1130198"/>
          </a:xfrm>
          <a:prstGeom prst="rect">
            <a:avLst/>
          </a:prstGeom>
          <a:noFill/>
          <a:ln/>
        </p:spPr>
        <p:txBody>
          <a:bodyPr wrap="square" lIns="0" tIns="0" rIns="0" bIns="0" rtlCol="0" anchor="ctr"/>
          <a:lstStyle/>
          <a:p>
            <a:pPr algn="ctr" indent="0" marL="0">
              <a:buNone/>
            </a:pPr>
            <a:r>
              <a:rPr lang="he-IL" altLang="en-US" sz="1300" b="1" dirty="0">
                <a:solidFill>
                  <a:srgbClr val="1B2A33"/>
                </a:solidFill>
                <a:latin typeface="Arial" pitchFamily="34" charset="0"/>
                <a:ea typeface="Arial" pitchFamily="34" charset="-122"/>
                <a:cs typeface="Arial" pitchFamily="34" charset="-120"/>
              </a:rPr>
              <a:t>מאשר סופי</a:t>
            </a:r>
            <a:endParaRPr lang="he-IL" sz="1300" dirty="0"/>
          </a:p>
          <a:p>
            <a:pPr algn="ctr" indent="0" marL="0">
              <a:buNone/>
            </a:pPr>
            <a:r>
              <a:rPr lang="he-IL" altLang="en-US" sz="1000" dirty="0">
                <a:solidFill>
                  <a:srgbClr val="5D6F7A"/>
                </a:solidFill>
                <a:latin typeface="Arial" pitchFamily="34" charset="0"/>
                <a:ea typeface="Arial" pitchFamily="34" charset="-122"/>
                <a:cs typeface="Arial" pitchFamily="34" charset="-120"/>
              </a:rPr>
              <a:t>Teams ומייל</a:t>
            </a:r>
            <a:endParaRPr lang="he-IL" sz="1300" dirty="0"/>
          </a:p>
        </p:txBody>
      </p:sp>
      <p:sp>
        <p:nvSpPr>
          <p:cNvPr id="13" name="Shape 11"/>
          <p:cNvSpPr/>
          <p:nvPr/>
        </p:nvSpPr>
        <p:spPr>
          <a:xfrm>
            <a:off x="10443362" y="1188720"/>
            <a:ext cx="0" cy="5274259"/>
          </a:xfrm>
          <a:prstGeom prst="line">
            <a:avLst/>
          </a:prstGeom>
          <a:noFill/>
          <a:ln w="12700">
            <a:solidFill>
              <a:srgbClr val="C9D3D9"/>
            </a:solidFill>
            <a:prstDash val="solid"/>
          </a:ln>
        </p:spPr>
      </p:sp>
      <p:sp>
        <p:nvSpPr>
          <p:cNvPr id="14" name="Shape 12"/>
          <p:cNvSpPr/>
          <p:nvPr/>
        </p:nvSpPr>
        <p:spPr>
          <a:xfrm flipH="1">
            <a:off x="8955268" y="1706728"/>
            <a:ext cx="150693" cy="0"/>
          </a:xfrm>
          <a:prstGeom prst="line">
            <a:avLst/>
          </a:prstGeom>
          <a:noFill/>
          <a:ln w="22225">
            <a:solidFill>
              <a:srgbClr val="1B2A33"/>
            </a:solidFill>
            <a:prstDash val="solid"/>
            <a:tailEnd type="triangle"/>
          </a:ln>
        </p:spPr>
      </p:sp>
      <p:sp>
        <p:nvSpPr>
          <p:cNvPr id="15" name="Shape 13"/>
          <p:cNvSpPr/>
          <p:nvPr/>
        </p:nvSpPr>
        <p:spPr>
          <a:xfrm>
            <a:off x="8465515" y="1989277"/>
            <a:ext cx="0" cy="1789481"/>
          </a:xfrm>
          <a:prstGeom prst="line">
            <a:avLst/>
          </a:prstGeom>
          <a:noFill/>
          <a:ln w="22225">
            <a:solidFill>
              <a:srgbClr val="1B2A33"/>
            </a:solidFill>
            <a:prstDash val="solid"/>
          </a:ln>
        </p:spPr>
      </p:sp>
      <p:sp>
        <p:nvSpPr>
          <p:cNvPr id="16" name="Shape 14"/>
          <p:cNvSpPr/>
          <p:nvPr/>
        </p:nvSpPr>
        <p:spPr>
          <a:xfrm flipH="1">
            <a:off x="7825069" y="3778758"/>
            <a:ext cx="640446" cy="0"/>
          </a:xfrm>
          <a:prstGeom prst="line">
            <a:avLst/>
          </a:prstGeom>
          <a:noFill/>
          <a:ln w="22225">
            <a:solidFill>
              <a:srgbClr val="1B2A33"/>
            </a:solidFill>
            <a:prstDash val="solid"/>
            <a:tailEnd type="triangle"/>
          </a:ln>
        </p:spPr>
      </p:sp>
      <p:sp>
        <p:nvSpPr>
          <p:cNvPr id="17" name="Shape 15"/>
          <p:cNvSpPr/>
          <p:nvPr/>
        </p:nvSpPr>
        <p:spPr>
          <a:xfrm flipH="1">
            <a:off x="6694871" y="3778758"/>
            <a:ext cx="150693" cy="0"/>
          </a:xfrm>
          <a:prstGeom prst="line">
            <a:avLst/>
          </a:prstGeom>
          <a:noFill/>
          <a:ln w="22225">
            <a:solidFill>
              <a:srgbClr val="1B2A33"/>
            </a:solidFill>
            <a:prstDash val="solid"/>
            <a:tailEnd type="triangle"/>
          </a:ln>
        </p:spPr>
      </p:sp>
      <p:sp>
        <p:nvSpPr>
          <p:cNvPr id="18" name="Shape 16"/>
          <p:cNvSpPr/>
          <p:nvPr/>
        </p:nvSpPr>
        <p:spPr>
          <a:xfrm>
            <a:off x="6205118" y="4061308"/>
            <a:ext cx="0" cy="753466"/>
          </a:xfrm>
          <a:prstGeom prst="line">
            <a:avLst/>
          </a:prstGeom>
          <a:noFill/>
          <a:ln w="22225">
            <a:solidFill>
              <a:srgbClr val="1B2A33"/>
            </a:solidFill>
            <a:prstDash val="solid"/>
          </a:ln>
        </p:spPr>
      </p:sp>
      <p:sp>
        <p:nvSpPr>
          <p:cNvPr id="19" name="Shape 17"/>
          <p:cNvSpPr/>
          <p:nvPr/>
        </p:nvSpPr>
        <p:spPr>
          <a:xfrm flipH="1">
            <a:off x="5564673" y="4814773"/>
            <a:ext cx="640446" cy="0"/>
          </a:xfrm>
          <a:prstGeom prst="line">
            <a:avLst/>
          </a:prstGeom>
          <a:noFill/>
          <a:ln w="22225">
            <a:solidFill>
              <a:srgbClr val="1B2A33"/>
            </a:solidFill>
            <a:prstDash val="solid"/>
            <a:tailEnd type="triangle"/>
          </a:ln>
        </p:spPr>
      </p:sp>
      <p:sp>
        <p:nvSpPr>
          <p:cNvPr id="20" name="Shape 18"/>
          <p:cNvSpPr/>
          <p:nvPr/>
        </p:nvSpPr>
        <p:spPr>
          <a:xfrm>
            <a:off x="5074920" y="5097323"/>
            <a:ext cx="0" cy="753466"/>
          </a:xfrm>
          <a:prstGeom prst="line">
            <a:avLst/>
          </a:prstGeom>
          <a:noFill/>
          <a:ln w="22225">
            <a:solidFill>
              <a:srgbClr val="2F7D32"/>
            </a:solidFill>
            <a:prstDash val="solid"/>
          </a:ln>
        </p:spPr>
      </p:sp>
      <p:sp>
        <p:nvSpPr>
          <p:cNvPr id="21" name="Shape 19"/>
          <p:cNvSpPr/>
          <p:nvPr/>
        </p:nvSpPr>
        <p:spPr>
          <a:xfrm flipH="1">
            <a:off x="4434474" y="5850788"/>
            <a:ext cx="640446" cy="0"/>
          </a:xfrm>
          <a:prstGeom prst="line">
            <a:avLst/>
          </a:prstGeom>
          <a:noFill/>
          <a:ln w="22225">
            <a:solidFill>
              <a:srgbClr val="2F7D32"/>
            </a:solidFill>
            <a:prstDash val="solid"/>
            <a:tailEnd type="triangle"/>
          </a:ln>
        </p:spPr>
      </p:sp>
      <p:sp>
        <p:nvSpPr>
          <p:cNvPr id="22" name="Shape 20"/>
          <p:cNvSpPr/>
          <p:nvPr/>
        </p:nvSpPr>
        <p:spPr>
          <a:xfrm flipH="1">
            <a:off x="2814523" y="5850788"/>
            <a:ext cx="640446" cy="0"/>
          </a:xfrm>
          <a:prstGeom prst="line">
            <a:avLst/>
          </a:prstGeom>
          <a:noFill/>
          <a:ln w="22225">
            <a:solidFill>
              <a:srgbClr val="2F7D32"/>
            </a:solidFill>
            <a:prstDash val="solid"/>
          </a:ln>
        </p:spPr>
      </p:sp>
      <p:sp>
        <p:nvSpPr>
          <p:cNvPr id="23" name="Shape 21"/>
          <p:cNvSpPr/>
          <p:nvPr/>
        </p:nvSpPr>
        <p:spPr>
          <a:xfrm flipV="1">
            <a:off x="2814523" y="4061308"/>
            <a:ext cx="0" cy="1789481"/>
          </a:xfrm>
          <a:prstGeom prst="line">
            <a:avLst/>
          </a:prstGeom>
          <a:noFill/>
          <a:ln w="22225">
            <a:solidFill>
              <a:srgbClr val="2F7D32"/>
            </a:solidFill>
            <a:prstDash val="solid"/>
            <a:tailEnd type="triangle"/>
          </a:ln>
        </p:spPr>
      </p:sp>
      <p:sp>
        <p:nvSpPr>
          <p:cNvPr id="24" name="Shape 22"/>
          <p:cNvSpPr/>
          <p:nvPr/>
        </p:nvSpPr>
        <p:spPr>
          <a:xfrm flipV="1">
            <a:off x="2814523" y="2742743"/>
            <a:ext cx="0" cy="753466"/>
          </a:xfrm>
          <a:prstGeom prst="line">
            <a:avLst/>
          </a:prstGeom>
          <a:noFill/>
          <a:ln w="22225">
            <a:solidFill>
              <a:srgbClr val="1B2A33"/>
            </a:solidFill>
            <a:prstDash val="solid"/>
          </a:ln>
        </p:spPr>
      </p:sp>
      <p:sp>
        <p:nvSpPr>
          <p:cNvPr id="25" name="Shape 23"/>
          <p:cNvSpPr/>
          <p:nvPr/>
        </p:nvSpPr>
        <p:spPr>
          <a:xfrm flipH="1">
            <a:off x="2174077" y="2742743"/>
            <a:ext cx="640446" cy="0"/>
          </a:xfrm>
          <a:prstGeom prst="line">
            <a:avLst/>
          </a:prstGeom>
          <a:noFill/>
          <a:ln w="22225">
            <a:solidFill>
              <a:srgbClr val="1B2A33"/>
            </a:solidFill>
            <a:prstDash val="solid"/>
            <a:tailEnd type="triangle"/>
          </a:ln>
        </p:spPr>
      </p:sp>
      <p:sp>
        <p:nvSpPr>
          <p:cNvPr id="26" name="Shape 24"/>
          <p:cNvSpPr/>
          <p:nvPr/>
        </p:nvSpPr>
        <p:spPr>
          <a:xfrm flipV="1">
            <a:off x="5074920" y="4061308"/>
            <a:ext cx="0" cy="470916"/>
          </a:xfrm>
          <a:prstGeom prst="line">
            <a:avLst/>
          </a:prstGeom>
          <a:noFill/>
          <a:ln w="22225">
            <a:solidFill>
              <a:srgbClr val="B3261E"/>
            </a:solidFill>
            <a:prstDash val="dash"/>
            <a:tailEnd type="triangle"/>
          </a:ln>
        </p:spPr>
      </p:sp>
      <p:sp>
        <p:nvSpPr>
          <p:cNvPr id="27" name="Shape 25"/>
          <p:cNvSpPr/>
          <p:nvPr/>
        </p:nvSpPr>
        <p:spPr>
          <a:xfrm flipV="1">
            <a:off x="3944722" y="3778758"/>
            <a:ext cx="0" cy="1789481"/>
          </a:xfrm>
          <a:prstGeom prst="line">
            <a:avLst/>
          </a:prstGeom>
          <a:noFill/>
          <a:ln w="22225">
            <a:solidFill>
              <a:srgbClr val="B3261E"/>
            </a:solidFill>
            <a:prstDash val="dash"/>
          </a:ln>
        </p:spPr>
      </p:sp>
      <p:sp>
        <p:nvSpPr>
          <p:cNvPr id="28" name="Shape 26"/>
          <p:cNvSpPr/>
          <p:nvPr/>
        </p:nvSpPr>
        <p:spPr>
          <a:xfrm>
            <a:off x="3944722" y="3778758"/>
            <a:ext cx="640446" cy="0"/>
          </a:xfrm>
          <a:prstGeom prst="line">
            <a:avLst/>
          </a:prstGeom>
          <a:noFill/>
          <a:ln w="22225">
            <a:solidFill>
              <a:srgbClr val="B3261E"/>
            </a:solidFill>
            <a:prstDash val="dash"/>
            <a:tailEnd type="triangle"/>
          </a:ln>
        </p:spPr>
      </p:sp>
      <p:sp>
        <p:nvSpPr>
          <p:cNvPr id="29" name="Shape 27"/>
          <p:cNvSpPr/>
          <p:nvPr/>
        </p:nvSpPr>
        <p:spPr>
          <a:xfrm flipV="1">
            <a:off x="5074920" y="2337755"/>
            <a:ext cx="0" cy="1158453"/>
          </a:xfrm>
          <a:prstGeom prst="line">
            <a:avLst/>
          </a:prstGeom>
          <a:noFill/>
          <a:ln w="22225">
            <a:solidFill>
              <a:srgbClr val="B3261E"/>
            </a:solidFill>
            <a:prstDash val="dash"/>
          </a:ln>
        </p:spPr>
      </p:sp>
      <p:sp>
        <p:nvSpPr>
          <p:cNvPr id="30" name="Shape 28"/>
          <p:cNvSpPr/>
          <p:nvPr/>
        </p:nvSpPr>
        <p:spPr>
          <a:xfrm flipH="1">
            <a:off x="1684325" y="2337755"/>
            <a:ext cx="3390595" cy="0"/>
          </a:xfrm>
          <a:prstGeom prst="line">
            <a:avLst/>
          </a:prstGeom>
          <a:noFill/>
          <a:ln w="22225">
            <a:solidFill>
              <a:srgbClr val="B3261E"/>
            </a:solidFill>
            <a:prstDash val="dash"/>
          </a:ln>
        </p:spPr>
      </p:sp>
      <p:sp>
        <p:nvSpPr>
          <p:cNvPr id="31" name="Shape 29"/>
          <p:cNvSpPr/>
          <p:nvPr/>
        </p:nvSpPr>
        <p:spPr>
          <a:xfrm>
            <a:off x="1684325" y="2337755"/>
            <a:ext cx="0" cy="122438"/>
          </a:xfrm>
          <a:prstGeom prst="line">
            <a:avLst/>
          </a:prstGeom>
          <a:noFill/>
          <a:ln w="22225">
            <a:solidFill>
              <a:srgbClr val="B3261E"/>
            </a:solidFill>
            <a:prstDash val="dash"/>
            <a:tailEnd type="triangle"/>
          </a:ln>
        </p:spPr>
      </p:sp>
      <p:sp>
        <p:nvSpPr>
          <p:cNvPr id="32" name="Shape 30"/>
          <p:cNvSpPr/>
          <p:nvPr/>
        </p:nvSpPr>
        <p:spPr>
          <a:xfrm>
            <a:off x="6205118" y="3025292"/>
            <a:ext cx="0" cy="470916"/>
          </a:xfrm>
          <a:prstGeom prst="line">
            <a:avLst/>
          </a:prstGeom>
          <a:noFill/>
          <a:ln w="22225">
            <a:solidFill>
              <a:srgbClr val="5D6F7A"/>
            </a:solidFill>
            <a:prstDash val="sysDot"/>
          </a:ln>
        </p:spPr>
      </p:sp>
      <p:sp>
        <p:nvSpPr>
          <p:cNvPr id="33" name="Shape 31"/>
          <p:cNvSpPr/>
          <p:nvPr/>
        </p:nvSpPr>
        <p:spPr>
          <a:xfrm>
            <a:off x="9595714" y="1989277"/>
            <a:ext cx="0" cy="470916"/>
          </a:xfrm>
          <a:prstGeom prst="line">
            <a:avLst/>
          </a:prstGeom>
          <a:noFill/>
          <a:ln w="22225">
            <a:solidFill>
              <a:srgbClr val="5D6F7A"/>
            </a:solidFill>
            <a:prstDash val="sysDot"/>
          </a:ln>
        </p:spPr>
      </p:sp>
      <p:sp>
        <p:nvSpPr>
          <p:cNvPr id="34" name="Text 32"/>
          <p:cNvSpPr txBox="1"/>
          <p:nvPr/>
        </p:nvSpPr>
        <p:spPr>
          <a:xfrm>
            <a:off x="4396801" y="5624749"/>
            <a:ext cx="753466" cy="169530"/>
          </a:xfrm>
          <a:prstGeom prst="rect">
            <a:avLst/>
          </a:prstGeom>
          <a:noFill/>
          <a:ln/>
        </p:spPr>
        <p:txBody>
          <a:bodyPr wrap="square" lIns="0" tIns="0" rIns="0" bIns="0" rtlCol="0" anchor="ctr"/>
          <a:lstStyle/>
          <a:p>
            <a:pPr rtl="1" algn="ctr" indent="0" marL="0">
              <a:buNone/>
            </a:pPr>
            <a:r>
              <a:rPr lang="he-IL" altLang="en-US" sz="1000" b="1" dirty="0">
                <a:solidFill>
                  <a:srgbClr val="2F7D32"/>
                </a:solidFill>
                <a:latin typeface="Arial" pitchFamily="34" charset="0"/>
                <a:ea typeface="Arial" pitchFamily="34" charset="-122"/>
                <a:cs typeface="Arial" pitchFamily="34" charset="-120"/>
              </a:rPr>
              <a:t>אושר</a:t>
            </a:r>
            <a:endParaRPr lang="he-IL" sz="1000" dirty="0"/>
          </a:p>
        </p:txBody>
      </p:sp>
      <p:sp>
        <p:nvSpPr>
          <p:cNvPr id="35" name="Text 33"/>
          <p:cNvSpPr txBox="1"/>
          <p:nvPr/>
        </p:nvSpPr>
        <p:spPr>
          <a:xfrm>
            <a:off x="2739177" y="5624749"/>
            <a:ext cx="753466" cy="169530"/>
          </a:xfrm>
          <a:prstGeom prst="rect">
            <a:avLst/>
          </a:prstGeom>
          <a:noFill/>
          <a:ln/>
        </p:spPr>
        <p:txBody>
          <a:bodyPr wrap="square" lIns="0" tIns="0" rIns="0" bIns="0" rtlCol="0" anchor="ctr"/>
          <a:lstStyle/>
          <a:p>
            <a:pPr rtl="1" algn="ctr" indent="0" marL="0">
              <a:buNone/>
            </a:pPr>
            <a:r>
              <a:rPr lang="he-IL" altLang="en-US" sz="1000" b="1" dirty="0">
                <a:solidFill>
                  <a:srgbClr val="2F7D32"/>
                </a:solidFill>
                <a:latin typeface="Arial" pitchFamily="34" charset="0"/>
                <a:ea typeface="Arial" pitchFamily="34" charset="-122"/>
                <a:cs typeface="Arial" pitchFamily="34" charset="-120"/>
              </a:rPr>
              <a:t>אושר</a:t>
            </a:r>
            <a:endParaRPr lang="he-IL" sz="1000" dirty="0"/>
          </a:p>
        </p:txBody>
      </p:sp>
      <p:sp>
        <p:nvSpPr>
          <p:cNvPr id="36" name="Text 34"/>
          <p:cNvSpPr txBox="1"/>
          <p:nvPr/>
        </p:nvSpPr>
        <p:spPr>
          <a:xfrm>
            <a:off x="4999573" y="4202582"/>
            <a:ext cx="753466" cy="169530"/>
          </a:xfrm>
          <a:prstGeom prst="rect">
            <a:avLst/>
          </a:prstGeom>
          <a:noFill/>
          <a:ln/>
        </p:spPr>
        <p:txBody>
          <a:bodyPr wrap="square" lIns="0" tIns="0" rIns="0" bIns="0" rtlCol="0" anchor="ctr"/>
          <a:lstStyle/>
          <a:p>
            <a:pPr rtl="1" algn="ctr" indent="0" marL="0">
              <a:buNone/>
            </a:pPr>
            <a:r>
              <a:rPr lang="he-IL" altLang="en-US" sz="1000" b="1" dirty="0">
                <a:solidFill>
                  <a:srgbClr val="B3261E"/>
                </a:solidFill>
                <a:latin typeface="Arial" pitchFamily="34" charset="0"/>
                <a:ea typeface="Arial" pitchFamily="34" charset="-122"/>
                <a:cs typeface="Arial" pitchFamily="34" charset="-120"/>
              </a:rPr>
              <a:t>נדחה</a:t>
            </a:r>
            <a:endParaRPr lang="he-IL" sz="1000" dirty="0"/>
          </a:p>
        </p:txBody>
      </p:sp>
      <p:sp>
        <p:nvSpPr>
          <p:cNvPr id="37" name="Text 35"/>
          <p:cNvSpPr txBox="1"/>
          <p:nvPr/>
        </p:nvSpPr>
        <p:spPr>
          <a:xfrm>
            <a:off x="3304276" y="4805355"/>
            <a:ext cx="753466" cy="169530"/>
          </a:xfrm>
          <a:prstGeom prst="rect">
            <a:avLst/>
          </a:prstGeom>
          <a:noFill/>
          <a:ln/>
        </p:spPr>
        <p:txBody>
          <a:bodyPr wrap="square" lIns="0" tIns="0" rIns="0" bIns="0" rtlCol="0" anchor="ctr"/>
          <a:lstStyle/>
          <a:p>
            <a:pPr rtl="1" algn="ctr" indent="0" marL="0">
              <a:buNone/>
            </a:pPr>
            <a:r>
              <a:rPr lang="he-IL" altLang="en-US" sz="1000" b="1" dirty="0">
                <a:solidFill>
                  <a:srgbClr val="B3261E"/>
                </a:solidFill>
                <a:latin typeface="Arial" pitchFamily="34" charset="0"/>
                <a:ea typeface="Arial" pitchFamily="34" charset="-122"/>
                <a:cs typeface="Arial" pitchFamily="34" charset="-120"/>
              </a:rPr>
              <a:t>נדחה</a:t>
            </a:r>
            <a:endParaRPr lang="he-IL" sz="1000" dirty="0"/>
          </a:p>
        </p:txBody>
      </p:sp>
      <p:sp>
        <p:nvSpPr>
          <p:cNvPr id="38" name="Text 36"/>
          <p:cNvSpPr txBox="1"/>
          <p:nvPr/>
        </p:nvSpPr>
        <p:spPr>
          <a:xfrm>
            <a:off x="6167445" y="3166567"/>
            <a:ext cx="753466" cy="169530"/>
          </a:xfrm>
          <a:prstGeom prst="rect">
            <a:avLst/>
          </a:prstGeom>
          <a:noFill/>
          <a:ln/>
        </p:spPr>
        <p:txBody>
          <a:bodyPr wrap="square" lIns="0" tIns="0" rIns="0" bIns="0" rtlCol="0" anchor="ctr"/>
          <a:lstStyle/>
          <a:p>
            <a:pPr rtl="1" algn="ctr" indent="0" marL="0">
              <a:buNone/>
            </a:pPr>
            <a:r>
              <a:rPr lang="he-IL" altLang="en-US" sz="1000" b="1" dirty="0">
                <a:solidFill>
                  <a:srgbClr val="5D6F7A"/>
                </a:solidFill>
                <a:latin typeface="Arial" pitchFamily="34" charset="0"/>
                <a:ea typeface="Arial" pitchFamily="34" charset="-122"/>
                <a:cs typeface="Arial" pitchFamily="34" charset="-120"/>
              </a:rPr>
              <a:t>קריאה</a:t>
            </a:r>
            <a:endParaRPr lang="he-IL" sz="1000" dirty="0"/>
          </a:p>
        </p:txBody>
      </p:sp>
      <p:sp>
        <p:nvSpPr>
          <p:cNvPr id="39" name="Text 37"/>
          <p:cNvSpPr txBox="1"/>
          <p:nvPr/>
        </p:nvSpPr>
        <p:spPr>
          <a:xfrm>
            <a:off x="9558040" y="2130552"/>
            <a:ext cx="753466" cy="169530"/>
          </a:xfrm>
          <a:prstGeom prst="rect">
            <a:avLst/>
          </a:prstGeom>
          <a:noFill/>
          <a:ln/>
        </p:spPr>
        <p:txBody>
          <a:bodyPr wrap="square" lIns="0" tIns="0" rIns="0" bIns="0" rtlCol="0" anchor="ctr"/>
          <a:lstStyle/>
          <a:p>
            <a:pPr rtl="1" algn="ctr" indent="0" marL="0">
              <a:buNone/>
            </a:pPr>
            <a:r>
              <a:rPr lang="he-IL" altLang="en-US" sz="1000" b="1" dirty="0">
                <a:solidFill>
                  <a:srgbClr val="5D6F7A"/>
                </a:solidFill>
                <a:latin typeface="Arial" pitchFamily="34" charset="0"/>
                <a:ea typeface="Arial" pitchFamily="34" charset="-122"/>
                <a:cs typeface="Arial" pitchFamily="34" charset="-120"/>
              </a:rPr>
              <a:t>רשומה</a:t>
            </a:r>
            <a:endParaRPr lang="he-IL" sz="1000" dirty="0"/>
          </a:p>
        </p:txBody>
      </p:sp>
      <p:sp>
        <p:nvSpPr>
          <p:cNvPr id="40" name="Shape 38"/>
          <p:cNvSpPr/>
          <p:nvPr/>
        </p:nvSpPr>
        <p:spPr>
          <a:xfrm>
            <a:off x="9105961" y="1424178"/>
            <a:ext cx="979505" cy="565099"/>
          </a:xfrm>
          <a:prstGeom prst="roundRect">
            <a:avLst>
              <a:gd name="adj" fmla="val 12945"/>
            </a:avLst>
          </a:prstGeom>
          <a:solidFill>
            <a:srgbClr val="0E6F73"/>
          </a:solidFill>
          <a:ln w="19050">
            <a:solidFill>
              <a:srgbClr val="0E6F73"/>
            </a:solidFill>
            <a:prstDash val="solid"/>
          </a:ln>
        </p:spPr>
      </p:sp>
      <p:sp>
        <p:nvSpPr>
          <p:cNvPr id="41" name="Text 39"/>
          <p:cNvSpPr txBox="1"/>
          <p:nvPr/>
        </p:nvSpPr>
        <p:spPr>
          <a:xfrm>
            <a:off x="9105961" y="1424178"/>
            <a:ext cx="979505" cy="565099"/>
          </a:xfrm>
          <a:prstGeom prst="rect">
            <a:avLst/>
          </a:prstGeom>
          <a:noFill/>
          <a:ln/>
        </p:spPr>
        <p:txBody>
          <a:bodyPr wrap="square" lIns="25400" tIns="25400" rIns="25400" bIns="25400" rtlCol="0" anchor="ctr"/>
          <a:lstStyle/>
          <a:p>
            <a:pPr algn="ctr" indent="0" marL="0">
              <a:buNone/>
            </a:pPr>
            <a:r>
              <a:rPr lang="he-IL" altLang="en-US" sz="1100" b="1" dirty="0">
                <a:solidFill>
                  <a:srgbClr val="FFFFFF"/>
                </a:solidFill>
                <a:latin typeface="Arial" pitchFamily="34" charset="0"/>
                <a:ea typeface="Arial" pitchFamily="34" charset="-122"/>
                <a:cs typeface="Arial" pitchFamily="34" charset="-120"/>
              </a:rPr>
              <a:t>רישום המסמך</a:t>
            </a:r>
            <a:endParaRPr lang="he-IL" sz="1100" dirty="0"/>
          </a:p>
          <a:p>
            <a:pPr algn="ctr" indent="0" marL="0">
              <a:buNone/>
            </a:pPr>
            <a:r>
              <a:rPr lang="he-IL" altLang="en-US" sz="900" dirty="0">
                <a:solidFill>
                  <a:srgbClr val="E6F4F4"/>
                </a:solidFill>
                <a:latin typeface="Arial" pitchFamily="34" charset="0"/>
                <a:ea typeface="Arial" pitchFamily="34" charset="-122"/>
                <a:cs typeface="Arial" pitchFamily="34" charset="-120"/>
              </a:rPr>
              <a:t>סטטוס: בעבודה</a:t>
            </a:r>
            <a:endParaRPr lang="he-IL" sz="1100" dirty="0"/>
          </a:p>
        </p:txBody>
      </p:sp>
      <p:sp>
        <p:nvSpPr>
          <p:cNvPr id="42" name="Shape 40"/>
          <p:cNvSpPr/>
          <p:nvPr/>
        </p:nvSpPr>
        <p:spPr>
          <a:xfrm>
            <a:off x="9991283" y="1329995"/>
            <a:ext cx="188366" cy="188366"/>
          </a:xfrm>
          <a:prstGeom prst="ellipse">
            <a:avLst/>
          </a:prstGeom>
          <a:solidFill>
            <a:srgbClr val="0E6F73"/>
          </a:solidFill>
          <a:ln w="12700">
            <a:solidFill>
              <a:srgbClr val="FFFFFF"/>
            </a:solidFill>
            <a:prstDash val="solid"/>
          </a:ln>
        </p:spPr>
      </p:sp>
      <p:sp>
        <p:nvSpPr>
          <p:cNvPr id="43" name="Text 41"/>
          <p:cNvSpPr txBox="1"/>
          <p:nvPr/>
        </p:nvSpPr>
        <p:spPr>
          <a:xfrm>
            <a:off x="9991283" y="1329995"/>
            <a:ext cx="188366" cy="18836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
        <p:nvSpPr>
          <p:cNvPr id="44" name="Shape 42"/>
          <p:cNvSpPr/>
          <p:nvPr/>
        </p:nvSpPr>
        <p:spPr>
          <a:xfrm>
            <a:off x="7975763" y="1424178"/>
            <a:ext cx="979505" cy="565099"/>
          </a:xfrm>
          <a:prstGeom prst="roundRect">
            <a:avLst>
              <a:gd name="adj" fmla="val 12945"/>
            </a:avLst>
          </a:prstGeom>
          <a:solidFill>
            <a:srgbClr val="FFFFFF"/>
          </a:solidFill>
          <a:ln w="19050">
            <a:solidFill>
              <a:srgbClr val="0E6F73"/>
            </a:solidFill>
            <a:prstDash val="solid"/>
          </a:ln>
        </p:spPr>
      </p:sp>
      <p:sp>
        <p:nvSpPr>
          <p:cNvPr id="45" name="Text 43"/>
          <p:cNvSpPr txBox="1"/>
          <p:nvPr/>
        </p:nvSpPr>
        <p:spPr>
          <a:xfrm>
            <a:off x="7975763" y="1424178"/>
            <a:ext cx="979505" cy="565099"/>
          </a:xfrm>
          <a:prstGeom prst="rect">
            <a:avLst/>
          </a:prstGeom>
          <a:noFill/>
          <a:ln/>
        </p:spPr>
        <p:txBody>
          <a:bodyPr wrap="square" lIns="25400" tIns="25400" rIns="25400" bIns="25400" rtlCol="0" anchor="ctr"/>
          <a:lstStyle/>
          <a:p>
            <a:pPr algn="ctr" indent="0" marL="0">
              <a:buNone/>
            </a:pPr>
            <a:r>
              <a:rPr lang="he-IL" altLang="en-US" sz="1100" b="1" dirty="0">
                <a:solidFill>
                  <a:srgbClr val="1B2A33"/>
                </a:solidFill>
                <a:latin typeface="Arial" pitchFamily="34" charset="0"/>
                <a:ea typeface="Arial" pitchFamily="34" charset="-122"/>
                <a:cs typeface="Arial" pitchFamily="34" charset="-120"/>
              </a:rPr>
              <a:t>הגשה לאישור</a:t>
            </a:r>
            <a:endParaRPr lang="he-IL" sz="1100" dirty="0"/>
          </a:p>
          <a:p>
            <a:pPr algn="ctr" indent="0" marL="0">
              <a:buNone/>
            </a:pPr>
            <a:r>
              <a:rPr lang="he-IL" altLang="en-US" sz="900" dirty="0">
                <a:solidFill>
                  <a:srgbClr val="5D6F7A"/>
                </a:solidFill>
                <a:latin typeface="Arial" pitchFamily="34" charset="0"/>
                <a:ea typeface="Arial" pitchFamily="34" charset="-122"/>
                <a:cs typeface="Arial" pitchFamily="34" charset="-120"/>
              </a:rPr>
              <a:t>הוגש לאישור</a:t>
            </a:r>
            <a:endParaRPr lang="he-IL" sz="1100" dirty="0"/>
          </a:p>
        </p:txBody>
      </p:sp>
      <p:sp>
        <p:nvSpPr>
          <p:cNvPr id="46" name="Shape 44"/>
          <p:cNvSpPr/>
          <p:nvPr/>
        </p:nvSpPr>
        <p:spPr>
          <a:xfrm>
            <a:off x="8861085" y="1329995"/>
            <a:ext cx="188366" cy="188366"/>
          </a:xfrm>
          <a:prstGeom prst="ellipse">
            <a:avLst/>
          </a:prstGeom>
          <a:solidFill>
            <a:srgbClr val="0E6F73"/>
          </a:solidFill>
          <a:ln w="12700">
            <a:solidFill>
              <a:srgbClr val="FFFFFF"/>
            </a:solidFill>
            <a:prstDash val="solid"/>
          </a:ln>
        </p:spPr>
      </p:sp>
      <p:sp>
        <p:nvSpPr>
          <p:cNvPr id="47" name="Text 45"/>
          <p:cNvSpPr txBox="1"/>
          <p:nvPr/>
        </p:nvSpPr>
        <p:spPr>
          <a:xfrm>
            <a:off x="8861085" y="1329995"/>
            <a:ext cx="188366" cy="18836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
        <p:nvSpPr>
          <p:cNvPr id="48" name="Shape 46"/>
          <p:cNvSpPr/>
          <p:nvPr/>
        </p:nvSpPr>
        <p:spPr>
          <a:xfrm>
            <a:off x="9105961" y="2460193"/>
            <a:ext cx="979505" cy="565099"/>
          </a:xfrm>
          <a:prstGeom prst="roundRect">
            <a:avLst>
              <a:gd name="adj" fmla="val 12945"/>
            </a:avLst>
          </a:prstGeom>
          <a:solidFill>
            <a:srgbClr val="D9EEEE"/>
          </a:solidFill>
          <a:ln w="19050">
            <a:solidFill>
              <a:srgbClr val="0E6F73"/>
            </a:solidFill>
            <a:prstDash val="solid"/>
          </a:ln>
        </p:spPr>
      </p:sp>
      <p:sp>
        <p:nvSpPr>
          <p:cNvPr id="49" name="Text 47"/>
          <p:cNvSpPr txBox="1"/>
          <p:nvPr/>
        </p:nvSpPr>
        <p:spPr>
          <a:xfrm>
            <a:off x="9105961" y="2460193"/>
            <a:ext cx="979505" cy="565099"/>
          </a:xfrm>
          <a:prstGeom prst="rect">
            <a:avLst/>
          </a:prstGeom>
          <a:noFill/>
          <a:ln/>
        </p:spPr>
        <p:txBody>
          <a:bodyPr wrap="square" lIns="25400" tIns="25400" rIns="25400" bIns="25400" rtlCol="0" anchor="ctr"/>
          <a:lstStyle/>
          <a:p>
            <a:pPr algn="ctr" indent="0" marL="0">
              <a:buNone/>
            </a:pPr>
            <a:r>
              <a:rPr lang="he-IL" altLang="en-US" sz="1100" b="1" dirty="0">
                <a:solidFill>
                  <a:srgbClr val="1B2A33"/>
                </a:solidFill>
                <a:latin typeface="Arial" pitchFamily="34" charset="0"/>
                <a:ea typeface="Arial" pitchFamily="34" charset="-122"/>
                <a:cs typeface="Arial" pitchFamily="34" charset="-120"/>
              </a:rPr>
              <a:t>מרשם מסמכים</a:t>
            </a:r>
            <a:endParaRPr lang="he-IL" sz="1100" dirty="0"/>
          </a:p>
          <a:p>
            <a:pPr algn="ctr" indent="0" marL="0">
              <a:buNone/>
            </a:pPr>
            <a:r>
              <a:rPr lang="he-IL" altLang="en-US" sz="900" dirty="0">
                <a:solidFill>
                  <a:srgbClr val="5D6F7A"/>
                </a:solidFill>
                <a:latin typeface="Arial" pitchFamily="34" charset="0"/>
                <a:ea typeface="Arial" pitchFamily="34" charset="-122"/>
                <a:cs typeface="Arial" pitchFamily="34" charset="-120"/>
              </a:rPr>
              <a:t>רשומת המסמך</a:t>
            </a:r>
            <a:endParaRPr lang="he-IL" sz="1100" dirty="0"/>
          </a:p>
        </p:txBody>
      </p:sp>
      <p:sp>
        <p:nvSpPr>
          <p:cNvPr id="50" name="Shape 48"/>
          <p:cNvSpPr/>
          <p:nvPr/>
        </p:nvSpPr>
        <p:spPr>
          <a:xfrm>
            <a:off x="5715366" y="2460193"/>
            <a:ext cx="979505" cy="565099"/>
          </a:xfrm>
          <a:prstGeom prst="roundRect">
            <a:avLst>
              <a:gd name="adj" fmla="val 12945"/>
            </a:avLst>
          </a:prstGeom>
          <a:solidFill>
            <a:srgbClr val="D9EEEE"/>
          </a:solidFill>
          <a:ln w="19050">
            <a:solidFill>
              <a:srgbClr val="0E6F73"/>
            </a:solidFill>
            <a:prstDash val="solid"/>
          </a:ln>
        </p:spPr>
      </p:sp>
      <p:sp>
        <p:nvSpPr>
          <p:cNvPr id="51" name="Text 49"/>
          <p:cNvSpPr txBox="1"/>
          <p:nvPr/>
        </p:nvSpPr>
        <p:spPr>
          <a:xfrm>
            <a:off x="5715366" y="2460193"/>
            <a:ext cx="979505" cy="565099"/>
          </a:xfrm>
          <a:prstGeom prst="rect">
            <a:avLst/>
          </a:prstGeom>
          <a:noFill/>
          <a:ln/>
        </p:spPr>
        <p:txBody>
          <a:bodyPr wrap="square" lIns="25400" tIns="25400" rIns="25400" bIns="25400" rtlCol="0" anchor="ctr"/>
          <a:lstStyle/>
          <a:p>
            <a:pPr algn="ctr" indent="0" marL="0">
              <a:buNone/>
            </a:pPr>
            <a:r>
              <a:rPr lang="he-IL" altLang="en-US" sz="1100" b="1" dirty="0">
                <a:solidFill>
                  <a:srgbClr val="1B2A33"/>
                </a:solidFill>
                <a:latin typeface="Arial" pitchFamily="34" charset="0"/>
                <a:ea typeface="Arial" pitchFamily="34" charset="-122"/>
                <a:cs typeface="Arial" pitchFamily="34" charset="-120"/>
              </a:rPr>
              <a:t>מטריצת מאשרים</a:t>
            </a:r>
            <a:endParaRPr lang="he-IL" sz="1100" dirty="0"/>
          </a:p>
          <a:p>
            <a:pPr algn="ctr" indent="0" marL="0">
              <a:buNone/>
            </a:pPr>
            <a:r>
              <a:rPr lang="he-IL" altLang="en-US" sz="900" dirty="0">
                <a:solidFill>
                  <a:srgbClr val="5D6F7A"/>
                </a:solidFill>
                <a:latin typeface="Arial" pitchFamily="34" charset="0"/>
                <a:ea typeface="Arial" pitchFamily="34" charset="-122"/>
                <a:cs typeface="Arial" pitchFamily="34" charset="-120"/>
              </a:rPr>
              <a:t>לפי סוג מסמך</a:t>
            </a:r>
            <a:endParaRPr lang="he-IL" sz="1100" dirty="0"/>
          </a:p>
        </p:txBody>
      </p:sp>
      <p:sp>
        <p:nvSpPr>
          <p:cNvPr id="52" name="Shape 50"/>
          <p:cNvSpPr/>
          <p:nvPr/>
        </p:nvSpPr>
        <p:spPr>
          <a:xfrm>
            <a:off x="1194572" y="2460193"/>
            <a:ext cx="979505" cy="565099"/>
          </a:xfrm>
          <a:prstGeom prst="roundRect">
            <a:avLst>
              <a:gd name="adj" fmla="val 12945"/>
            </a:avLst>
          </a:prstGeom>
          <a:solidFill>
            <a:srgbClr val="D9EEEE"/>
          </a:solidFill>
          <a:ln w="19050">
            <a:solidFill>
              <a:srgbClr val="0E6F73"/>
            </a:solidFill>
            <a:prstDash val="solid"/>
          </a:ln>
        </p:spPr>
      </p:sp>
      <p:sp>
        <p:nvSpPr>
          <p:cNvPr id="53" name="Text 51"/>
          <p:cNvSpPr txBox="1"/>
          <p:nvPr/>
        </p:nvSpPr>
        <p:spPr>
          <a:xfrm>
            <a:off x="1194572" y="2460193"/>
            <a:ext cx="979505" cy="565099"/>
          </a:xfrm>
          <a:prstGeom prst="rect">
            <a:avLst/>
          </a:prstGeom>
          <a:noFill/>
          <a:ln/>
        </p:spPr>
        <p:txBody>
          <a:bodyPr wrap="square" lIns="25400" tIns="25400" rIns="25400" bIns="25400" rtlCol="0" anchor="ctr"/>
          <a:lstStyle/>
          <a:p>
            <a:pPr algn="ctr" indent="0" marL="0">
              <a:buNone/>
            </a:pPr>
            <a:r>
              <a:rPr lang="he-IL" altLang="en-US" sz="1100" b="1" dirty="0">
                <a:solidFill>
                  <a:srgbClr val="1B2A33"/>
                </a:solidFill>
                <a:latin typeface="Arial" pitchFamily="34" charset="0"/>
                <a:ea typeface="Arial" pitchFamily="34" charset="-122"/>
                <a:cs typeface="Arial" pitchFamily="34" charset="-120"/>
              </a:rPr>
              <a:t>יומן ביקורת</a:t>
            </a:r>
            <a:endParaRPr lang="he-IL" sz="1100" dirty="0"/>
          </a:p>
          <a:p>
            <a:pPr algn="ctr" indent="0" marL="0">
              <a:buNone/>
            </a:pPr>
            <a:r>
              <a:rPr lang="he-IL" altLang="en-US" sz="900" dirty="0">
                <a:solidFill>
                  <a:srgbClr val="5D6F7A"/>
                </a:solidFill>
                <a:latin typeface="Arial" pitchFamily="34" charset="0"/>
                <a:ea typeface="Arial" pitchFamily="34" charset="-122"/>
                <a:cs typeface="Arial" pitchFamily="34" charset="-120"/>
              </a:rPr>
              <a:t>אושר / נדחה</a:t>
            </a:r>
            <a:endParaRPr lang="he-IL" sz="1100" dirty="0"/>
          </a:p>
        </p:txBody>
      </p:sp>
      <p:sp>
        <p:nvSpPr>
          <p:cNvPr id="54" name="Shape 52"/>
          <p:cNvSpPr/>
          <p:nvPr/>
        </p:nvSpPr>
        <p:spPr>
          <a:xfrm>
            <a:off x="2079894" y="2366010"/>
            <a:ext cx="188366" cy="188366"/>
          </a:xfrm>
          <a:prstGeom prst="ellipse">
            <a:avLst/>
          </a:prstGeom>
          <a:solidFill>
            <a:srgbClr val="0E6F73"/>
          </a:solidFill>
          <a:ln w="12700">
            <a:solidFill>
              <a:srgbClr val="FFFFFF"/>
            </a:solidFill>
            <a:prstDash val="solid"/>
          </a:ln>
        </p:spPr>
      </p:sp>
      <p:sp>
        <p:nvSpPr>
          <p:cNvPr id="55" name="Text 53"/>
          <p:cNvSpPr txBox="1"/>
          <p:nvPr/>
        </p:nvSpPr>
        <p:spPr>
          <a:xfrm>
            <a:off x="2079894" y="2366010"/>
            <a:ext cx="188366" cy="18836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8</a:t>
            </a:r>
            <a:endParaRPr lang="en-US" sz="900" dirty="0"/>
          </a:p>
        </p:txBody>
      </p:sp>
      <p:sp>
        <p:nvSpPr>
          <p:cNvPr id="56" name="Shape 54"/>
          <p:cNvSpPr/>
          <p:nvPr/>
        </p:nvSpPr>
        <p:spPr>
          <a:xfrm>
            <a:off x="6845564" y="3496208"/>
            <a:ext cx="979505" cy="565099"/>
          </a:xfrm>
          <a:prstGeom prst="roundRect">
            <a:avLst>
              <a:gd name="adj" fmla="val 12945"/>
            </a:avLst>
          </a:prstGeom>
          <a:solidFill>
            <a:srgbClr val="FFFFFF"/>
          </a:solidFill>
          <a:ln w="19050">
            <a:solidFill>
              <a:srgbClr val="0E6F73"/>
            </a:solidFill>
            <a:prstDash val="solid"/>
          </a:ln>
        </p:spPr>
      </p:sp>
      <p:sp>
        <p:nvSpPr>
          <p:cNvPr id="57" name="Text 55"/>
          <p:cNvSpPr txBox="1"/>
          <p:nvPr/>
        </p:nvSpPr>
        <p:spPr>
          <a:xfrm>
            <a:off x="6845564" y="3496208"/>
            <a:ext cx="979505" cy="565099"/>
          </a:xfrm>
          <a:prstGeom prst="rect">
            <a:avLst/>
          </a:prstGeom>
          <a:noFill/>
          <a:ln/>
        </p:spPr>
        <p:txBody>
          <a:bodyPr wrap="square" lIns="25400" tIns="25400" rIns="25400" bIns="25400" rtlCol="0" anchor="ctr"/>
          <a:lstStyle/>
          <a:p>
            <a:pPr algn="ctr" indent="0" marL="0">
              <a:buNone/>
            </a:pPr>
            <a:r>
              <a:rPr lang="he-IL" altLang="en-US" sz="1100" b="1" dirty="0">
                <a:solidFill>
                  <a:srgbClr val="1B2A33"/>
                </a:solidFill>
                <a:latin typeface="Arial" pitchFamily="34" charset="0"/>
                <a:ea typeface="Arial" pitchFamily="34" charset="-122"/>
                <a:cs typeface="Arial" pitchFamily="34" charset="-120"/>
              </a:rPr>
              <a:t>זיהוי ההגשה</a:t>
            </a:r>
            <a:endParaRPr lang="he-IL" sz="1100" dirty="0"/>
          </a:p>
          <a:p>
            <a:pPr algn="ctr" indent="0" marL="0">
              <a:buNone/>
            </a:pPr>
            <a:r>
              <a:rPr lang="he-IL" altLang="en-US" sz="900" dirty="0">
                <a:solidFill>
                  <a:srgbClr val="5D6F7A"/>
                </a:solidFill>
                <a:latin typeface="Arial" pitchFamily="34" charset="0"/>
                <a:ea typeface="Arial" pitchFamily="34" charset="-122"/>
                <a:cs typeface="Arial" pitchFamily="34" charset="-120"/>
              </a:rPr>
              <a:t>בדיקה כל דקה</a:t>
            </a:r>
            <a:endParaRPr lang="he-IL" sz="1100" dirty="0"/>
          </a:p>
        </p:txBody>
      </p:sp>
      <p:sp>
        <p:nvSpPr>
          <p:cNvPr id="58" name="Shape 56"/>
          <p:cNvSpPr/>
          <p:nvPr/>
        </p:nvSpPr>
        <p:spPr>
          <a:xfrm>
            <a:off x="7730886" y="3402025"/>
            <a:ext cx="188366" cy="188366"/>
          </a:xfrm>
          <a:prstGeom prst="ellipse">
            <a:avLst/>
          </a:prstGeom>
          <a:solidFill>
            <a:srgbClr val="0E6F73"/>
          </a:solidFill>
          <a:ln w="12700">
            <a:solidFill>
              <a:srgbClr val="FFFFFF"/>
            </a:solidFill>
            <a:prstDash val="solid"/>
          </a:ln>
        </p:spPr>
      </p:sp>
      <p:sp>
        <p:nvSpPr>
          <p:cNvPr id="59" name="Text 57"/>
          <p:cNvSpPr txBox="1"/>
          <p:nvPr/>
        </p:nvSpPr>
        <p:spPr>
          <a:xfrm>
            <a:off x="7730886" y="3402025"/>
            <a:ext cx="188366" cy="18836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
        <p:nvSpPr>
          <p:cNvPr id="60" name="Shape 58"/>
          <p:cNvSpPr/>
          <p:nvPr/>
        </p:nvSpPr>
        <p:spPr>
          <a:xfrm>
            <a:off x="5715366" y="3496208"/>
            <a:ext cx="979505" cy="565099"/>
          </a:xfrm>
          <a:prstGeom prst="roundRect">
            <a:avLst>
              <a:gd name="adj" fmla="val 12945"/>
            </a:avLst>
          </a:prstGeom>
          <a:solidFill>
            <a:srgbClr val="FFFFFF"/>
          </a:solidFill>
          <a:ln w="19050">
            <a:solidFill>
              <a:srgbClr val="0E6F73"/>
            </a:solidFill>
            <a:prstDash val="solid"/>
          </a:ln>
        </p:spPr>
      </p:sp>
      <p:sp>
        <p:nvSpPr>
          <p:cNvPr id="61" name="Text 59"/>
          <p:cNvSpPr txBox="1"/>
          <p:nvPr/>
        </p:nvSpPr>
        <p:spPr>
          <a:xfrm>
            <a:off x="5715366" y="3496208"/>
            <a:ext cx="979505" cy="565099"/>
          </a:xfrm>
          <a:prstGeom prst="rect">
            <a:avLst/>
          </a:prstGeom>
          <a:noFill/>
          <a:ln/>
        </p:spPr>
        <p:txBody>
          <a:bodyPr wrap="square" lIns="25400" tIns="25400" rIns="25400" bIns="25400" rtlCol="0" anchor="ctr"/>
          <a:lstStyle/>
          <a:p>
            <a:pPr algn="ctr" indent="0" marL="0">
              <a:buNone/>
            </a:pPr>
            <a:r>
              <a:rPr lang="he-IL" altLang="en-US" sz="1100" b="1" dirty="0">
                <a:solidFill>
                  <a:srgbClr val="1B2A33"/>
                </a:solidFill>
                <a:latin typeface="Arial" pitchFamily="34" charset="0"/>
                <a:ea typeface="Arial" pitchFamily="34" charset="-122"/>
                <a:cs typeface="Arial" pitchFamily="34" charset="-120"/>
              </a:rPr>
              <a:t>איתור הכלל</a:t>
            </a:r>
            <a:endParaRPr lang="he-IL" sz="1100" dirty="0"/>
          </a:p>
          <a:p>
            <a:pPr algn="ctr" indent="0" marL="0">
              <a:buNone/>
            </a:pPr>
            <a:r>
              <a:rPr lang="he-IL" altLang="en-US" sz="900" dirty="0">
                <a:solidFill>
                  <a:srgbClr val="5D6F7A"/>
                </a:solidFill>
                <a:latin typeface="Arial" pitchFamily="34" charset="0"/>
                <a:ea typeface="Arial" pitchFamily="34" charset="-122"/>
                <a:cs typeface="Arial" pitchFamily="34" charset="-120"/>
              </a:rPr>
              <a:t>מי מאשר</a:t>
            </a:r>
            <a:endParaRPr lang="he-IL" sz="1100" dirty="0"/>
          </a:p>
        </p:txBody>
      </p:sp>
      <p:sp>
        <p:nvSpPr>
          <p:cNvPr id="62" name="Shape 60"/>
          <p:cNvSpPr/>
          <p:nvPr/>
        </p:nvSpPr>
        <p:spPr>
          <a:xfrm>
            <a:off x="6600688" y="3402025"/>
            <a:ext cx="188366" cy="188366"/>
          </a:xfrm>
          <a:prstGeom prst="ellipse">
            <a:avLst/>
          </a:prstGeom>
          <a:solidFill>
            <a:srgbClr val="0E6F73"/>
          </a:solidFill>
          <a:ln w="12700">
            <a:solidFill>
              <a:srgbClr val="FFFFFF"/>
            </a:solidFill>
            <a:prstDash val="solid"/>
          </a:ln>
        </p:spPr>
      </p:sp>
      <p:sp>
        <p:nvSpPr>
          <p:cNvPr id="63" name="Text 61"/>
          <p:cNvSpPr txBox="1"/>
          <p:nvPr/>
        </p:nvSpPr>
        <p:spPr>
          <a:xfrm>
            <a:off x="6600688" y="3402025"/>
            <a:ext cx="188366" cy="18836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4</a:t>
            </a:r>
            <a:endParaRPr lang="en-US" sz="900" dirty="0"/>
          </a:p>
        </p:txBody>
      </p:sp>
      <p:sp>
        <p:nvSpPr>
          <p:cNvPr id="64" name="Shape 62"/>
          <p:cNvSpPr/>
          <p:nvPr/>
        </p:nvSpPr>
        <p:spPr>
          <a:xfrm>
            <a:off x="4585167" y="3496208"/>
            <a:ext cx="979505" cy="565099"/>
          </a:xfrm>
          <a:prstGeom prst="roundRect">
            <a:avLst>
              <a:gd name="adj" fmla="val 12945"/>
            </a:avLst>
          </a:prstGeom>
          <a:solidFill>
            <a:srgbClr val="FBE4E2"/>
          </a:solidFill>
          <a:ln w="19050">
            <a:solidFill>
              <a:srgbClr val="B3261E"/>
            </a:solidFill>
            <a:prstDash val="solid"/>
          </a:ln>
        </p:spPr>
      </p:sp>
      <p:sp>
        <p:nvSpPr>
          <p:cNvPr id="65" name="Text 63"/>
          <p:cNvSpPr txBox="1"/>
          <p:nvPr/>
        </p:nvSpPr>
        <p:spPr>
          <a:xfrm>
            <a:off x="4585167" y="3496208"/>
            <a:ext cx="979505" cy="565099"/>
          </a:xfrm>
          <a:prstGeom prst="rect">
            <a:avLst/>
          </a:prstGeom>
          <a:noFill/>
          <a:ln/>
        </p:spPr>
        <p:txBody>
          <a:bodyPr wrap="square" lIns="25400" tIns="25400" rIns="25400" bIns="25400" rtlCol="0" anchor="ctr"/>
          <a:lstStyle/>
          <a:p>
            <a:pPr algn="ctr" indent="0" marL="0">
              <a:buNone/>
            </a:pPr>
            <a:r>
              <a:rPr lang="he-IL" altLang="en-US" sz="1100" b="1" dirty="0">
                <a:solidFill>
                  <a:srgbClr val="1B2A33"/>
                </a:solidFill>
                <a:latin typeface="Arial" pitchFamily="34" charset="0"/>
                <a:ea typeface="Arial" pitchFamily="34" charset="-122"/>
                <a:cs typeface="Arial" pitchFamily="34" charset="-120"/>
              </a:rPr>
              <a:t>חזרה לעבודה</a:t>
            </a:r>
            <a:endParaRPr lang="he-IL" sz="1100" dirty="0"/>
          </a:p>
          <a:p>
            <a:pPr algn="ctr" indent="0" marL="0">
              <a:buNone/>
            </a:pPr>
            <a:r>
              <a:rPr lang="he-IL" altLang="en-US" sz="900" dirty="0">
                <a:solidFill>
                  <a:srgbClr val="5D6F7A"/>
                </a:solidFill>
                <a:latin typeface="Arial" pitchFamily="34" charset="0"/>
                <a:ea typeface="Arial" pitchFamily="34" charset="-122"/>
                <a:cs typeface="Arial" pitchFamily="34" charset="-120"/>
              </a:rPr>
              <a:t>סטטוס: בעבודה</a:t>
            </a:r>
            <a:endParaRPr lang="he-IL" sz="1100" dirty="0"/>
          </a:p>
        </p:txBody>
      </p:sp>
      <p:sp>
        <p:nvSpPr>
          <p:cNvPr id="66" name="Shape 64"/>
          <p:cNvSpPr/>
          <p:nvPr/>
        </p:nvSpPr>
        <p:spPr>
          <a:xfrm>
            <a:off x="2324771" y="3496208"/>
            <a:ext cx="979505" cy="565099"/>
          </a:xfrm>
          <a:prstGeom prst="roundRect">
            <a:avLst>
              <a:gd name="adj" fmla="val 12945"/>
            </a:avLst>
          </a:prstGeom>
          <a:solidFill>
            <a:srgbClr val="FFFFFF"/>
          </a:solidFill>
          <a:ln w="19050">
            <a:solidFill>
              <a:srgbClr val="0E6F73"/>
            </a:solidFill>
            <a:prstDash val="solid"/>
          </a:ln>
        </p:spPr>
      </p:sp>
      <p:sp>
        <p:nvSpPr>
          <p:cNvPr id="67" name="Text 65"/>
          <p:cNvSpPr txBox="1"/>
          <p:nvPr/>
        </p:nvSpPr>
        <p:spPr>
          <a:xfrm>
            <a:off x="2324771" y="3496208"/>
            <a:ext cx="979505" cy="565099"/>
          </a:xfrm>
          <a:prstGeom prst="rect">
            <a:avLst/>
          </a:prstGeom>
          <a:noFill/>
          <a:ln/>
        </p:spPr>
        <p:txBody>
          <a:bodyPr wrap="square" lIns="25400" tIns="25400" rIns="25400" bIns="25400" rtlCol="0" anchor="ctr"/>
          <a:lstStyle/>
          <a:p>
            <a:pPr algn="ctr" indent="0" marL="0">
              <a:buNone/>
            </a:pPr>
            <a:r>
              <a:rPr lang="he-IL" altLang="en-US" sz="1100" b="1" dirty="0">
                <a:solidFill>
                  <a:srgbClr val="1B2A33"/>
                </a:solidFill>
                <a:latin typeface="Arial" pitchFamily="34" charset="0"/>
                <a:ea typeface="Arial" pitchFamily="34" charset="-122"/>
                <a:cs typeface="Arial" pitchFamily="34" charset="-120"/>
              </a:rPr>
              <a:t>נעילת המסמך</a:t>
            </a:r>
            <a:endParaRPr lang="he-IL" sz="1100" dirty="0"/>
          </a:p>
          <a:p>
            <a:pPr algn="ctr" indent="0" marL="0">
              <a:buNone/>
            </a:pPr>
            <a:r>
              <a:rPr lang="he-IL" altLang="en-US" sz="900" dirty="0">
                <a:solidFill>
                  <a:srgbClr val="5D6F7A"/>
                </a:solidFill>
                <a:latin typeface="Arial" pitchFamily="34" charset="0"/>
                <a:ea typeface="Arial" pitchFamily="34" charset="-122"/>
                <a:cs typeface="Arial" pitchFamily="34" charset="-120"/>
              </a:rPr>
              <a:t>מאושר - קריאה בלבד</a:t>
            </a:r>
            <a:endParaRPr lang="he-IL" sz="1100" dirty="0"/>
          </a:p>
        </p:txBody>
      </p:sp>
      <p:sp>
        <p:nvSpPr>
          <p:cNvPr id="68" name="Shape 66"/>
          <p:cNvSpPr/>
          <p:nvPr/>
        </p:nvSpPr>
        <p:spPr>
          <a:xfrm>
            <a:off x="3210093" y="3402025"/>
            <a:ext cx="188366" cy="188366"/>
          </a:xfrm>
          <a:prstGeom prst="ellipse">
            <a:avLst/>
          </a:prstGeom>
          <a:solidFill>
            <a:srgbClr val="0E6F73"/>
          </a:solidFill>
          <a:ln w="12700">
            <a:solidFill>
              <a:srgbClr val="FFFFFF"/>
            </a:solidFill>
            <a:prstDash val="solid"/>
          </a:ln>
        </p:spPr>
      </p:sp>
      <p:sp>
        <p:nvSpPr>
          <p:cNvPr id="69" name="Text 67"/>
          <p:cNvSpPr txBox="1"/>
          <p:nvPr/>
        </p:nvSpPr>
        <p:spPr>
          <a:xfrm>
            <a:off x="3210093" y="3402025"/>
            <a:ext cx="188366" cy="18836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7</a:t>
            </a:r>
            <a:endParaRPr lang="en-US" sz="900" dirty="0"/>
          </a:p>
        </p:txBody>
      </p:sp>
      <p:sp>
        <p:nvSpPr>
          <p:cNvPr id="70" name="Shape 68"/>
          <p:cNvSpPr/>
          <p:nvPr/>
        </p:nvSpPr>
        <p:spPr>
          <a:xfrm>
            <a:off x="4585167" y="4532224"/>
            <a:ext cx="979505" cy="565099"/>
          </a:xfrm>
          <a:prstGeom prst="roundRect">
            <a:avLst>
              <a:gd name="adj" fmla="val 12945"/>
            </a:avLst>
          </a:prstGeom>
          <a:solidFill>
            <a:srgbClr val="FFFFFF"/>
          </a:solidFill>
          <a:ln w="19050">
            <a:solidFill>
              <a:srgbClr val="0E6F73"/>
            </a:solidFill>
            <a:prstDash val="solid"/>
          </a:ln>
        </p:spPr>
      </p:sp>
      <p:sp>
        <p:nvSpPr>
          <p:cNvPr id="71" name="Text 69"/>
          <p:cNvSpPr txBox="1"/>
          <p:nvPr/>
        </p:nvSpPr>
        <p:spPr>
          <a:xfrm>
            <a:off x="4585167" y="4532224"/>
            <a:ext cx="979505" cy="565099"/>
          </a:xfrm>
          <a:prstGeom prst="rect">
            <a:avLst/>
          </a:prstGeom>
          <a:noFill/>
          <a:ln/>
        </p:spPr>
        <p:txBody>
          <a:bodyPr wrap="square" lIns="25400" tIns="25400" rIns="25400" bIns="25400" rtlCol="0" anchor="ctr"/>
          <a:lstStyle/>
          <a:p>
            <a:pPr algn="ctr" indent="0" marL="0">
              <a:buNone/>
            </a:pPr>
            <a:r>
              <a:rPr lang="he-IL" altLang="en-US" sz="1100" b="1" dirty="0">
                <a:solidFill>
                  <a:srgbClr val="1B2A33"/>
                </a:solidFill>
                <a:latin typeface="Arial" pitchFamily="34" charset="0"/>
                <a:ea typeface="Arial" pitchFamily="34" charset="-122"/>
                <a:cs typeface="Arial" pitchFamily="34" charset="-120"/>
              </a:rPr>
              <a:t>אישור שלב 1</a:t>
            </a:r>
            <a:endParaRPr lang="he-IL" sz="1100" dirty="0"/>
          </a:p>
          <a:p>
            <a:pPr algn="ctr" indent="0" marL="0">
              <a:buNone/>
            </a:pPr>
            <a:r>
              <a:rPr lang="he-IL" altLang="en-US" sz="900" dirty="0">
                <a:solidFill>
                  <a:srgbClr val="5D6F7A"/>
                </a:solidFill>
                <a:latin typeface="Arial" pitchFamily="34" charset="0"/>
                <a:ea typeface="Arial" pitchFamily="34" charset="-122"/>
                <a:cs typeface="Arial" pitchFamily="34" charset="-120"/>
              </a:rPr>
              <a:t>כולם חייבים לאשר</a:t>
            </a:r>
            <a:endParaRPr lang="he-IL" sz="1100" dirty="0"/>
          </a:p>
        </p:txBody>
      </p:sp>
      <p:sp>
        <p:nvSpPr>
          <p:cNvPr id="72" name="Shape 70"/>
          <p:cNvSpPr/>
          <p:nvPr/>
        </p:nvSpPr>
        <p:spPr>
          <a:xfrm>
            <a:off x="5470489" y="4438040"/>
            <a:ext cx="188366" cy="188366"/>
          </a:xfrm>
          <a:prstGeom prst="ellipse">
            <a:avLst/>
          </a:prstGeom>
          <a:solidFill>
            <a:srgbClr val="0E6F73"/>
          </a:solidFill>
          <a:ln w="12700">
            <a:solidFill>
              <a:srgbClr val="FFFFFF"/>
            </a:solidFill>
            <a:prstDash val="solid"/>
          </a:ln>
        </p:spPr>
      </p:sp>
      <p:sp>
        <p:nvSpPr>
          <p:cNvPr id="73" name="Text 71"/>
          <p:cNvSpPr txBox="1"/>
          <p:nvPr/>
        </p:nvSpPr>
        <p:spPr>
          <a:xfrm>
            <a:off x="5470489" y="4438040"/>
            <a:ext cx="188366" cy="18836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5</a:t>
            </a:r>
            <a:endParaRPr lang="en-US" sz="900" dirty="0"/>
          </a:p>
        </p:txBody>
      </p:sp>
      <p:sp>
        <p:nvSpPr>
          <p:cNvPr id="74" name="Shape 72"/>
          <p:cNvSpPr/>
          <p:nvPr/>
        </p:nvSpPr>
        <p:spPr>
          <a:xfrm>
            <a:off x="3454969" y="5568239"/>
            <a:ext cx="979505" cy="565099"/>
          </a:xfrm>
          <a:prstGeom prst="roundRect">
            <a:avLst>
              <a:gd name="adj" fmla="val 12945"/>
            </a:avLst>
          </a:prstGeom>
          <a:solidFill>
            <a:srgbClr val="FFFFFF"/>
          </a:solidFill>
          <a:ln w="19050">
            <a:solidFill>
              <a:srgbClr val="0E6F73"/>
            </a:solidFill>
            <a:prstDash val="solid"/>
          </a:ln>
        </p:spPr>
      </p:sp>
      <p:sp>
        <p:nvSpPr>
          <p:cNvPr id="75" name="Text 73"/>
          <p:cNvSpPr txBox="1"/>
          <p:nvPr/>
        </p:nvSpPr>
        <p:spPr>
          <a:xfrm>
            <a:off x="3454969" y="5568239"/>
            <a:ext cx="979505" cy="565099"/>
          </a:xfrm>
          <a:prstGeom prst="rect">
            <a:avLst/>
          </a:prstGeom>
          <a:noFill/>
          <a:ln/>
        </p:spPr>
        <p:txBody>
          <a:bodyPr wrap="square" lIns="25400" tIns="25400" rIns="25400" bIns="25400" rtlCol="0" anchor="ctr"/>
          <a:lstStyle/>
          <a:p>
            <a:pPr algn="ctr" indent="0" marL="0">
              <a:buNone/>
            </a:pPr>
            <a:r>
              <a:rPr lang="he-IL" altLang="en-US" sz="1100" b="1" dirty="0">
                <a:solidFill>
                  <a:srgbClr val="1B2A33"/>
                </a:solidFill>
                <a:latin typeface="Arial" pitchFamily="34" charset="0"/>
                <a:ea typeface="Arial" pitchFamily="34" charset="-122"/>
                <a:cs typeface="Arial" pitchFamily="34" charset="-120"/>
              </a:rPr>
              <a:t>אישור סופי</a:t>
            </a:r>
            <a:endParaRPr lang="he-IL" sz="1100" dirty="0"/>
          </a:p>
          <a:p>
            <a:pPr algn="ctr" indent="0" marL="0">
              <a:buNone/>
            </a:pPr>
            <a:r>
              <a:rPr lang="he-IL" altLang="en-US" sz="900" dirty="0">
                <a:solidFill>
                  <a:srgbClr val="5D6F7A"/>
                </a:solidFill>
                <a:latin typeface="Arial" pitchFamily="34" charset="0"/>
                <a:ea typeface="Arial" pitchFamily="34" charset="-122"/>
                <a:cs typeface="Arial" pitchFamily="34" charset="-120"/>
              </a:rPr>
              <a:t>הראשון שמגיב</a:t>
            </a:r>
            <a:endParaRPr lang="he-IL" sz="1100" dirty="0"/>
          </a:p>
        </p:txBody>
      </p:sp>
      <p:sp>
        <p:nvSpPr>
          <p:cNvPr id="76" name="Shape 74"/>
          <p:cNvSpPr/>
          <p:nvPr/>
        </p:nvSpPr>
        <p:spPr>
          <a:xfrm>
            <a:off x="4340291" y="5474056"/>
            <a:ext cx="188366" cy="188366"/>
          </a:xfrm>
          <a:prstGeom prst="ellipse">
            <a:avLst/>
          </a:prstGeom>
          <a:solidFill>
            <a:srgbClr val="0E6F73"/>
          </a:solidFill>
          <a:ln w="12700">
            <a:solidFill>
              <a:srgbClr val="FFFFFF"/>
            </a:solidFill>
            <a:prstDash val="solid"/>
          </a:ln>
        </p:spPr>
      </p:sp>
      <p:sp>
        <p:nvSpPr>
          <p:cNvPr id="77" name="Text 75"/>
          <p:cNvSpPr txBox="1"/>
          <p:nvPr/>
        </p:nvSpPr>
        <p:spPr>
          <a:xfrm>
            <a:off x="4340291" y="5474056"/>
            <a:ext cx="188366" cy="18836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8"/>
        </a:solidFill>
      </p:bgPr>
    </p:bg>
    <p:spTree>
      <p:nvGrpSpPr>
        <p:cNvPr id="1" name=""/>
        <p:cNvGrpSpPr/>
        <p:nvPr/>
      </p:nvGrpSpPr>
      <p:grpSpPr>
        <a:xfrm>
          <a:off x="0" y="0"/>
          <a:ext cx="0" cy="0"/>
          <a:chOff x="0" y="0"/>
          <a:chExt cx="0" cy="0"/>
        </a:xfrm>
      </p:grpSpPr>
      <p:sp>
        <p:nvSpPr>
          <p:cNvPr id="2" name="Text 0"/>
          <p:cNvSpPr txBox="1"/>
          <p:nvPr/>
        </p:nvSpPr>
        <p:spPr>
          <a:xfrm>
            <a:off x="548640" y="457200"/>
            <a:ext cx="11064240" cy="731520"/>
          </a:xfrm>
          <a:prstGeom prst="rect">
            <a:avLst/>
          </a:prstGeom>
          <a:noFill/>
          <a:ln/>
        </p:spPr>
        <p:txBody>
          <a:bodyPr wrap="square" lIns="0" tIns="0" rIns="0" bIns="0" rtlCol="0" anchor="ctr"/>
          <a:lstStyle/>
          <a:p>
            <a:pPr rtl="1" algn="r" indent="0" marL="0">
              <a:buNone/>
            </a:pPr>
            <a:r>
              <a:rPr lang="he-IL" altLang="en-US" sz="3600" b="1" dirty="0">
                <a:solidFill>
                  <a:srgbClr val="1B2A33"/>
                </a:solidFill>
                <a:latin typeface="Arial" pitchFamily="34" charset="0"/>
                <a:ea typeface="Arial" pitchFamily="34" charset="-122"/>
                <a:cs typeface="Arial" pitchFamily="34" charset="-120"/>
              </a:rPr>
              <a:t>עקרונות</a:t>
            </a:r>
            <a:endParaRPr lang="he-IL" sz="3600" dirty="0"/>
          </a:p>
        </p:txBody>
      </p:sp>
      <p:sp>
        <p:nvSpPr>
          <p:cNvPr id="3" name="Shape 1"/>
          <p:cNvSpPr/>
          <p:nvPr/>
        </p:nvSpPr>
        <p:spPr>
          <a:xfrm>
            <a:off x="8001000" y="1645920"/>
            <a:ext cx="3474720" cy="4023360"/>
          </a:xfrm>
          <a:prstGeom prst="roundRect">
            <a:avLst>
              <a:gd name="adj" fmla="val 2632"/>
            </a:avLst>
          </a:prstGeom>
          <a:solidFill>
            <a:srgbClr val="FFFFFF"/>
          </a:solidFill>
          <a:ln w="12700">
            <a:solidFill>
              <a:srgbClr val="C9D3D9"/>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10652760" y="1920240"/>
            <a:ext cx="548640" cy="548640"/>
          </a:xfrm>
          <a:prstGeom prst="ellipse">
            <a:avLst/>
          </a:prstGeom>
          <a:solidFill>
            <a:srgbClr val="0E6F73"/>
          </a:solidFill>
          <a:ln w="12700">
            <a:solidFill>
              <a:srgbClr val="0E6F73"/>
            </a:solidFill>
            <a:prstDash val="solid"/>
          </a:ln>
        </p:spPr>
      </p:sp>
      <p:sp>
        <p:nvSpPr>
          <p:cNvPr id="5" name="Text 3"/>
          <p:cNvSpPr txBox="1"/>
          <p:nvPr/>
        </p:nvSpPr>
        <p:spPr>
          <a:xfrm>
            <a:off x="10652760" y="19202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8275320" y="2651760"/>
            <a:ext cx="2926080" cy="548640"/>
          </a:xfrm>
          <a:prstGeom prst="rect">
            <a:avLst/>
          </a:prstGeom>
          <a:noFill/>
          <a:ln/>
        </p:spPr>
        <p:txBody>
          <a:bodyPr wrap="square" lIns="0" tIns="0" rIns="0" bIns="0" rtlCol="0" anchor="ctr"/>
          <a:lstStyle/>
          <a:p>
            <a:pPr rtl="1" algn="r" indent="0" marL="0">
              <a:buNone/>
            </a:pPr>
            <a:r>
              <a:rPr lang="he-IL" altLang="en-US" sz="2200" b="1" dirty="0">
                <a:solidFill>
                  <a:srgbClr val="1B2A33"/>
                </a:solidFill>
                <a:latin typeface="Arial" pitchFamily="34" charset="0"/>
                <a:ea typeface="Arial" pitchFamily="34" charset="-122"/>
                <a:cs typeface="Arial" pitchFamily="34" charset="-120"/>
              </a:rPr>
              <a:t>מי מאשר</a:t>
            </a:r>
            <a:endParaRPr lang="he-IL" sz="2200" dirty="0"/>
          </a:p>
        </p:txBody>
      </p:sp>
      <p:sp>
        <p:nvSpPr>
          <p:cNvPr id="7" name="Text 5"/>
          <p:cNvSpPr txBox="1"/>
          <p:nvPr/>
        </p:nvSpPr>
        <p:spPr>
          <a:xfrm>
            <a:off x="8275320" y="3291840"/>
            <a:ext cx="2926080" cy="2194560"/>
          </a:xfrm>
          <a:prstGeom prst="rect">
            <a:avLst/>
          </a:prstGeom>
          <a:noFill/>
          <a:ln/>
        </p:spPr>
        <p:txBody>
          <a:bodyPr wrap="square" lIns="0" tIns="0" rIns="0" bIns="0" rtlCol="0" anchor="t"/>
          <a:lstStyle/>
          <a:p>
            <a:pPr rtl="1" algn="r" indent="0" marL="0">
              <a:buNone/>
            </a:pPr>
            <a:r>
              <a:rPr lang="he-IL" altLang="en-US" sz="1500" dirty="0">
                <a:solidFill>
                  <a:srgbClr val="5D6F7A"/>
                </a:solidFill>
                <a:latin typeface="Arial" pitchFamily="34" charset="0"/>
                <a:ea typeface="Arial" pitchFamily="34" charset="-122"/>
                <a:cs typeface="Arial" pitchFamily="34" charset="-120"/>
              </a:rPr>
              <a:t>מטריצת המאשרים קובעת לכל סוג מסמך את מאשרי החובה ואת המאשר הסופי. שינוי שם במטריצה חל מההגשה הבאה, בלי לגעת בתהליך.</a:t>
            </a:r>
            <a:endParaRPr lang="he-IL" sz="1500" dirty="0"/>
          </a:p>
        </p:txBody>
      </p:sp>
      <p:sp>
        <p:nvSpPr>
          <p:cNvPr id="8" name="Shape 6"/>
          <p:cNvSpPr/>
          <p:nvPr/>
        </p:nvSpPr>
        <p:spPr>
          <a:xfrm>
            <a:off x="4251960" y="1645920"/>
            <a:ext cx="3474720" cy="4023360"/>
          </a:xfrm>
          <a:prstGeom prst="roundRect">
            <a:avLst>
              <a:gd name="adj" fmla="val 2632"/>
            </a:avLst>
          </a:prstGeom>
          <a:solidFill>
            <a:srgbClr val="FFFFFF"/>
          </a:solidFill>
          <a:ln w="12700">
            <a:solidFill>
              <a:srgbClr val="C9D3D9"/>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6903720" y="1920240"/>
            <a:ext cx="548640" cy="548640"/>
          </a:xfrm>
          <a:prstGeom prst="ellipse">
            <a:avLst/>
          </a:prstGeom>
          <a:solidFill>
            <a:srgbClr val="0E6F73"/>
          </a:solidFill>
          <a:ln w="12700">
            <a:solidFill>
              <a:srgbClr val="0E6F73"/>
            </a:solidFill>
            <a:prstDash val="solid"/>
          </a:ln>
        </p:spPr>
      </p:sp>
      <p:sp>
        <p:nvSpPr>
          <p:cNvPr id="10" name="Text 8"/>
          <p:cNvSpPr txBox="1"/>
          <p:nvPr/>
        </p:nvSpPr>
        <p:spPr>
          <a:xfrm>
            <a:off x="6903720" y="19202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1" name="Text 9"/>
          <p:cNvSpPr txBox="1"/>
          <p:nvPr/>
        </p:nvSpPr>
        <p:spPr>
          <a:xfrm>
            <a:off x="4526280" y="2651760"/>
            <a:ext cx="2926080" cy="548640"/>
          </a:xfrm>
          <a:prstGeom prst="rect">
            <a:avLst/>
          </a:prstGeom>
          <a:noFill/>
          <a:ln/>
        </p:spPr>
        <p:txBody>
          <a:bodyPr wrap="square" lIns="0" tIns="0" rIns="0" bIns="0" rtlCol="0" anchor="ctr"/>
          <a:lstStyle/>
          <a:p>
            <a:pPr rtl="1" algn="r" indent="0" marL="0">
              <a:buNone/>
            </a:pPr>
            <a:r>
              <a:rPr lang="he-IL" altLang="en-US" sz="2200" b="1" dirty="0">
                <a:solidFill>
                  <a:srgbClr val="1B2A33"/>
                </a:solidFill>
                <a:latin typeface="Arial" pitchFamily="34" charset="0"/>
                <a:ea typeface="Arial" pitchFamily="34" charset="-122"/>
                <a:cs typeface="Arial" pitchFamily="34" charset="-120"/>
              </a:rPr>
              <a:t>איך מאשרים</a:t>
            </a:r>
            <a:endParaRPr lang="he-IL" sz="2200" dirty="0"/>
          </a:p>
        </p:txBody>
      </p:sp>
      <p:sp>
        <p:nvSpPr>
          <p:cNvPr id="12" name="Text 10"/>
          <p:cNvSpPr txBox="1"/>
          <p:nvPr/>
        </p:nvSpPr>
        <p:spPr>
          <a:xfrm>
            <a:off x="4526280" y="3291840"/>
            <a:ext cx="2926080" cy="2194560"/>
          </a:xfrm>
          <a:prstGeom prst="rect">
            <a:avLst/>
          </a:prstGeom>
          <a:noFill/>
          <a:ln/>
        </p:spPr>
        <p:txBody>
          <a:bodyPr wrap="square" lIns="0" tIns="0" rIns="0" bIns="0" rtlCol="0" anchor="t"/>
          <a:lstStyle/>
          <a:p>
            <a:pPr rtl="1" algn="r" indent="0" marL="0">
              <a:buNone/>
            </a:pPr>
            <a:r>
              <a:rPr lang="he-IL" altLang="en-US" sz="1500" dirty="0">
                <a:solidFill>
                  <a:srgbClr val="5D6F7A"/>
                </a:solidFill>
                <a:latin typeface="Arial" pitchFamily="34" charset="0"/>
                <a:ea typeface="Arial" pitchFamily="34" charset="-122"/>
                <a:cs typeface="Arial" pitchFamily="34" charset="-120"/>
              </a:rPr>
              <a:t>בפיילוט: במסך האישורים בדף ה-DMS (אישור, דחייה עם הערה, האצלה). בייצור: ב-Teams ובמייל. דחייה אחת מחזירה את המסמך לבעלים.</a:t>
            </a:r>
            <a:endParaRPr lang="he-IL" sz="1500" dirty="0"/>
          </a:p>
        </p:txBody>
      </p:sp>
      <p:sp>
        <p:nvSpPr>
          <p:cNvPr id="13" name="Shape 11"/>
          <p:cNvSpPr/>
          <p:nvPr/>
        </p:nvSpPr>
        <p:spPr>
          <a:xfrm>
            <a:off x="502920" y="1645920"/>
            <a:ext cx="3474720" cy="4023360"/>
          </a:xfrm>
          <a:prstGeom prst="roundRect">
            <a:avLst>
              <a:gd name="adj" fmla="val 2632"/>
            </a:avLst>
          </a:prstGeom>
          <a:solidFill>
            <a:srgbClr val="FFFFFF"/>
          </a:solidFill>
          <a:ln w="12700">
            <a:solidFill>
              <a:srgbClr val="C9D3D9"/>
            </a:solidFill>
            <a:prstDash val="solid"/>
          </a:ln>
          <a:effectLst>
            <a:outerShdw sx="100000" sy="100000" kx="0" ky="0" algn="bl" rotWithShape="0" blurRad="76200" dist="25400" dir="5400000">
              <a:srgbClr val="000000">
                <a:alpha val="12000"/>
              </a:srgbClr>
            </a:outerShdw>
          </a:effectLst>
        </p:spPr>
      </p:sp>
      <p:sp>
        <p:nvSpPr>
          <p:cNvPr id="14" name="Shape 12"/>
          <p:cNvSpPr/>
          <p:nvPr/>
        </p:nvSpPr>
        <p:spPr>
          <a:xfrm>
            <a:off x="3154680" y="1920240"/>
            <a:ext cx="548640" cy="548640"/>
          </a:xfrm>
          <a:prstGeom prst="ellipse">
            <a:avLst/>
          </a:prstGeom>
          <a:solidFill>
            <a:srgbClr val="0E6F73"/>
          </a:solidFill>
          <a:ln w="12700">
            <a:solidFill>
              <a:srgbClr val="0E6F73"/>
            </a:solidFill>
            <a:prstDash val="solid"/>
          </a:ln>
        </p:spPr>
      </p:sp>
      <p:sp>
        <p:nvSpPr>
          <p:cNvPr id="15" name="Text 13"/>
          <p:cNvSpPr txBox="1"/>
          <p:nvPr/>
        </p:nvSpPr>
        <p:spPr>
          <a:xfrm>
            <a:off x="3154680" y="19202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6" name="Text 14"/>
          <p:cNvSpPr txBox="1"/>
          <p:nvPr/>
        </p:nvSpPr>
        <p:spPr>
          <a:xfrm>
            <a:off x="777240" y="2651760"/>
            <a:ext cx="2926080" cy="548640"/>
          </a:xfrm>
          <a:prstGeom prst="rect">
            <a:avLst/>
          </a:prstGeom>
          <a:noFill/>
          <a:ln/>
        </p:spPr>
        <p:txBody>
          <a:bodyPr wrap="square" lIns="0" tIns="0" rIns="0" bIns="0" rtlCol="0" anchor="ctr"/>
          <a:lstStyle/>
          <a:p>
            <a:pPr rtl="1" algn="r" indent="0" marL="0">
              <a:buNone/>
            </a:pPr>
            <a:r>
              <a:rPr lang="he-IL" altLang="en-US" sz="2200" b="1" dirty="0">
                <a:solidFill>
                  <a:srgbClr val="1B2A33"/>
                </a:solidFill>
                <a:latin typeface="Arial" pitchFamily="34" charset="0"/>
                <a:ea typeface="Arial" pitchFamily="34" charset="-122"/>
                <a:cs typeface="Arial" pitchFamily="34" charset="-120"/>
              </a:rPr>
              <a:t>מה נשמר</a:t>
            </a:r>
            <a:endParaRPr lang="he-IL" sz="2200" dirty="0"/>
          </a:p>
        </p:txBody>
      </p:sp>
      <p:sp>
        <p:nvSpPr>
          <p:cNvPr id="17" name="Text 15"/>
          <p:cNvSpPr txBox="1"/>
          <p:nvPr/>
        </p:nvSpPr>
        <p:spPr>
          <a:xfrm>
            <a:off x="777240" y="3291840"/>
            <a:ext cx="2926080" cy="2194560"/>
          </a:xfrm>
          <a:prstGeom prst="rect">
            <a:avLst/>
          </a:prstGeom>
          <a:noFill/>
          <a:ln/>
        </p:spPr>
        <p:txBody>
          <a:bodyPr wrap="square" lIns="0" tIns="0" rIns="0" bIns="0" rtlCol="0" anchor="t"/>
          <a:lstStyle/>
          <a:p>
            <a:pPr rtl="1" algn="r" indent="0" marL="0">
              <a:buNone/>
            </a:pPr>
            <a:r>
              <a:rPr lang="he-IL" altLang="en-US" sz="1500" dirty="0">
                <a:solidFill>
                  <a:srgbClr val="5D6F7A"/>
                </a:solidFill>
                <a:latin typeface="Arial" pitchFamily="34" charset="0"/>
                <a:ea typeface="Arial" pitchFamily="34" charset="-122"/>
                <a:cs typeface="Arial" pitchFamily="34" charset="-120"/>
              </a:rPr>
              <a:t>כל החלטה נרשמת ביומן הביקורת ובהחלטות מאשרים, עם זמן, מבצע והערה. הקובץ עצמו נשאר בשרת הקבצים ואינו עובר דרך Power Automate.</a:t>
            </a:r>
            <a:endParaRPr lang="he-IL"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6F73"/>
        </a:solidFill>
      </p:bgPr>
    </p:bg>
    <p:spTree>
      <p:nvGrpSpPr>
        <p:cNvPr id="1" name=""/>
        <p:cNvGrpSpPr/>
        <p:nvPr/>
      </p:nvGrpSpPr>
      <p:grpSpPr>
        <a:xfrm>
          <a:off x="0" y="0"/>
          <a:ext cx="0" cy="0"/>
          <a:chOff x="0" y="0"/>
          <a:chExt cx="0" cy="0"/>
        </a:xfrm>
      </p:grpSpPr>
      <p:sp>
        <p:nvSpPr>
          <p:cNvPr id="2" name="Text 0"/>
          <p:cNvSpPr txBox="1"/>
          <p:nvPr/>
        </p:nvSpPr>
        <p:spPr>
          <a:xfrm>
            <a:off x="731520" y="2194560"/>
            <a:ext cx="10698480" cy="1005840"/>
          </a:xfrm>
          <a:prstGeom prst="rect">
            <a:avLst/>
          </a:prstGeom>
          <a:noFill/>
          <a:ln/>
        </p:spPr>
        <p:txBody>
          <a:bodyPr wrap="square" lIns="0" tIns="0" rIns="0" bIns="0" rtlCol="0" anchor="ctr"/>
          <a:lstStyle/>
          <a:p>
            <a:pPr rtl="1" algn="r" indent="0" marL="0">
              <a:buNone/>
            </a:pPr>
            <a:r>
              <a:rPr lang="he-IL" altLang="en-US" sz="4600" b="1" dirty="0">
                <a:solidFill>
                  <a:srgbClr val="FFFFFF"/>
                </a:solidFill>
                <a:latin typeface="Arial" pitchFamily="34" charset="0"/>
                <a:ea typeface="Arial" pitchFamily="34" charset="-122"/>
                <a:cs typeface="Arial" pitchFamily="34" charset="-120"/>
              </a:rPr>
              <a:t>הדרכת משתמשים</a:t>
            </a:r>
            <a:endParaRPr lang="he-IL" sz="4600" dirty="0"/>
          </a:p>
        </p:txBody>
      </p:sp>
      <p:sp>
        <p:nvSpPr>
          <p:cNvPr id="3" name="Text 1"/>
          <p:cNvSpPr txBox="1"/>
          <p:nvPr/>
        </p:nvSpPr>
        <p:spPr>
          <a:xfrm>
            <a:off x="731520" y="3246120"/>
            <a:ext cx="10698480" cy="868680"/>
          </a:xfrm>
          <a:prstGeom prst="rect">
            <a:avLst/>
          </a:prstGeom>
          <a:noFill/>
          <a:ln/>
        </p:spPr>
        <p:txBody>
          <a:bodyPr wrap="square" lIns="0" tIns="0" rIns="0" bIns="0" rtlCol="0" anchor="ctr"/>
          <a:lstStyle/>
          <a:p>
            <a:pPr rtl="1" algn="r" indent="0" marL="0">
              <a:buNone/>
            </a:pPr>
            <a:r>
              <a:rPr lang="he-IL" altLang="en-US" sz="2000" dirty="0">
                <a:solidFill>
                  <a:srgbClr val="E6F4F4"/>
                </a:solidFill>
                <a:latin typeface="Arial" pitchFamily="34" charset="0"/>
                <a:ea typeface="Arial" pitchFamily="34" charset="-122"/>
                <a:cs typeface="Arial" pitchFamily="34" charset="-120"/>
              </a:rPr>
              <a:t>מה עושים בדף ה-DMS: חיפוש, שמירה, שליחה לאישור, אישור, גרסה חדשה, שיתוף עם לקוח ו-AI Insights</a:t>
            </a:r>
            <a:endParaRPr lang="he-IL" sz="2000" dirty="0"/>
          </a:p>
        </p:txBody>
      </p:sp>
      <p:sp>
        <p:nvSpPr>
          <p:cNvPr id="4" name="Text 2"/>
          <p:cNvSpPr txBox="1"/>
          <p:nvPr/>
        </p:nvSpPr>
        <p:spPr>
          <a:xfrm>
            <a:off x="731520" y="5669280"/>
            <a:ext cx="10698480" cy="365760"/>
          </a:xfrm>
          <a:prstGeom prst="rect">
            <a:avLst/>
          </a:prstGeom>
          <a:noFill/>
          <a:ln/>
        </p:spPr>
        <p:txBody>
          <a:bodyPr wrap="square" lIns="0" tIns="0" rIns="0" bIns="0" rtlCol="0" anchor="ctr"/>
          <a:lstStyle/>
          <a:p>
            <a:pPr rtl="1" algn="r" indent="0" marL="0">
              <a:buNone/>
            </a:pPr>
            <a:r>
              <a:rPr lang="he-IL" altLang="en-US" sz="1400" dirty="0">
                <a:solidFill>
                  <a:srgbClr val="CFE9E9"/>
                </a:solidFill>
                <a:latin typeface="Arial" pitchFamily="34" charset="0"/>
                <a:ea typeface="Arial" pitchFamily="34" charset="-122"/>
                <a:cs typeface="Arial" pitchFamily="34" charset="-120"/>
              </a:rPr>
              <a:t>דף ה-DMS נפתח מסימניית Chrome "RH DMS" (docs/RH-DMS-Bookmarks.html)</a:t>
            </a:r>
            <a:endParaRPr lang="he-IL"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rtl="1" algn="r" indent="0" marL="0">
              <a:buNone/>
            </a:pPr>
            <a:r>
              <a:rPr lang="he-IL" altLang="en-US" sz="3200" b="1" dirty="0">
                <a:solidFill>
                  <a:srgbClr val="1B2A33"/>
                </a:solidFill>
                <a:latin typeface="Arial" pitchFamily="34" charset="0"/>
                <a:ea typeface="Arial" pitchFamily="34" charset="-122"/>
                <a:cs typeface="Arial" pitchFamily="34" charset="-120"/>
              </a:rPr>
              <a:t>הדף במבט אחד</a:t>
            </a:r>
            <a:endParaRPr lang="he-IL"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rtl="1" algn="r" indent="0" marL="0">
              <a:buNone/>
            </a:pPr>
            <a:r>
              <a:rPr lang="he-IL" altLang="en-US" sz="1500" dirty="0">
                <a:solidFill>
                  <a:srgbClr val="5D6F7A"/>
                </a:solidFill>
                <a:latin typeface="Arial" pitchFamily="34" charset="0"/>
                <a:ea typeface="Arial" pitchFamily="34" charset="-122"/>
                <a:cs typeface="Arial" pitchFamily="34" charset="-120"/>
              </a:rPr>
              <a:t>כל הפעולות בדף אחד, לפי ההרשאות שלכם בשרת הקבצים</a:t>
            </a:r>
            <a:endParaRPr lang="he-IL" sz="1500" dirty="0"/>
          </a:p>
        </p:txBody>
      </p:sp>
      <p:sp>
        <p:nvSpPr>
          <p:cNvPr id="4" name="Shape 2"/>
          <p:cNvSpPr/>
          <p:nvPr/>
        </p:nvSpPr>
        <p:spPr>
          <a:xfrm>
            <a:off x="8107680" y="1600200"/>
            <a:ext cx="3505200" cy="2194560"/>
          </a:xfrm>
          <a:prstGeom prst="roundRect">
            <a:avLst>
              <a:gd name="adj" fmla="val 3333"/>
            </a:avLst>
          </a:prstGeom>
          <a:solidFill>
            <a:srgbClr val="FFFFFF"/>
          </a:solidFill>
          <a:ln w="12700">
            <a:solidFill>
              <a:srgbClr val="C9D3D9"/>
            </a:solidFill>
            <a:prstDash val="solid"/>
          </a:ln>
        </p:spPr>
      </p:sp>
      <p:sp>
        <p:nvSpPr>
          <p:cNvPr id="5" name="Shape 3"/>
          <p:cNvSpPr/>
          <p:nvPr/>
        </p:nvSpPr>
        <p:spPr>
          <a:xfrm>
            <a:off x="11045952" y="1783080"/>
            <a:ext cx="384048" cy="384048"/>
          </a:xfrm>
          <a:prstGeom prst="ellipse">
            <a:avLst/>
          </a:prstGeom>
          <a:solidFill>
            <a:srgbClr val="0E6F73"/>
          </a:solidFill>
          <a:ln w="12700">
            <a:solidFill>
              <a:srgbClr val="0E6F73"/>
            </a:solidFill>
            <a:prstDash val="solid"/>
          </a:ln>
        </p:spPr>
      </p:sp>
      <p:sp>
        <p:nvSpPr>
          <p:cNvPr id="6" name="Text 4"/>
          <p:cNvSpPr txBox="1"/>
          <p:nvPr/>
        </p:nvSpPr>
        <p:spPr>
          <a:xfrm>
            <a:off x="11045952"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290560" y="1783080"/>
            <a:ext cx="2636520" cy="384048"/>
          </a:xfrm>
          <a:prstGeom prst="rect">
            <a:avLst/>
          </a:prstGeom>
          <a:noFill/>
          <a:ln/>
        </p:spPr>
        <p:txBody>
          <a:bodyPr wrap="square" lIns="0" tIns="0" rIns="0" bIns="0" rtlCol="0" anchor="ctr"/>
          <a:lstStyle/>
          <a:p>
            <a:pPr rtl="1" algn="r" indent="0" marL="0">
              <a:buNone/>
            </a:pPr>
            <a:r>
              <a:rPr lang="he-IL" altLang="en-US" sz="1600" b="1" dirty="0">
                <a:solidFill>
                  <a:srgbClr val="1B2A33"/>
                </a:solidFill>
                <a:latin typeface="Arial" pitchFamily="34" charset="0"/>
                <a:ea typeface="Arial" pitchFamily="34" charset="-122"/>
                <a:cs typeface="Arial" pitchFamily="34" charset="-120"/>
              </a:rPr>
              <a:t>חיפוש</a:t>
            </a:r>
            <a:endParaRPr lang="he-IL" sz="1600" dirty="0"/>
          </a:p>
        </p:txBody>
      </p:sp>
      <p:sp>
        <p:nvSpPr>
          <p:cNvPr id="8" name="Text 6"/>
          <p:cNvSpPr txBox="1"/>
          <p:nvPr/>
        </p:nvSpPr>
        <p:spPr>
          <a:xfrm>
            <a:off x="8290560" y="2258568"/>
            <a:ext cx="3139440" cy="1417320"/>
          </a:xfrm>
          <a:prstGeom prst="rect">
            <a:avLst/>
          </a:prstGeom>
          <a:noFill/>
          <a:ln/>
        </p:spPr>
        <p:txBody>
          <a:bodyPr wrap="square" lIns="0" tIns="0" rIns="0" bIns="0" rtlCol="0" anchor="t"/>
          <a:lstStyle/>
          <a:p>
            <a:pPr rtl="1" algn="r" indent="0" marL="0">
              <a:buNone/>
            </a:pPr>
            <a:r>
              <a:rPr lang="he-IL" altLang="en-US" sz="1300" dirty="0">
                <a:solidFill>
                  <a:srgbClr val="5D6F7A"/>
                </a:solidFill>
                <a:latin typeface="Arial" pitchFamily="34" charset="0"/>
                <a:ea typeface="Arial" pitchFamily="34" charset="-122"/>
                <a:cs typeface="Arial" pitchFamily="34" charset="-120"/>
              </a:rPr>
              <a:t>שורת החיפוש מכסה את כל המאגר: תיקיות, שמות קבצים ומזהי מסמכים (DMS-00001), כמה מילים בכל סדר. הצעות מופיעות תוך כדי הקלדה.</a:t>
            </a:r>
            <a:endParaRPr lang="he-IL" sz="1300" dirty="0"/>
          </a:p>
        </p:txBody>
      </p:sp>
      <p:sp>
        <p:nvSpPr>
          <p:cNvPr id="9" name="Shape 7"/>
          <p:cNvSpPr/>
          <p:nvPr/>
        </p:nvSpPr>
        <p:spPr>
          <a:xfrm>
            <a:off x="4328160" y="1600200"/>
            <a:ext cx="3505200" cy="2194560"/>
          </a:xfrm>
          <a:prstGeom prst="roundRect">
            <a:avLst>
              <a:gd name="adj" fmla="val 3333"/>
            </a:avLst>
          </a:prstGeom>
          <a:solidFill>
            <a:srgbClr val="FFFFFF"/>
          </a:solidFill>
          <a:ln w="12700">
            <a:solidFill>
              <a:srgbClr val="C9D3D9"/>
            </a:solidFill>
            <a:prstDash val="solid"/>
          </a:ln>
        </p:spPr>
      </p:sp>
      <p:sp>
        <p:nvSpPr>
          <p:cNvPr id="10" name="Shape 8"/>
          <p:cNvSpPr/>
          <p:nvPr/>
        </p:nvSpPr>
        <p:spPr>
          <a:xfrm>
            <a:off x="7266432" y="1783080"/>
            <a:ext cx="384048" cy="384048"/>
          </a:xfrm>
          <a:prstGeom prst="ellipse">
            <a:avLst/>
          </a:prstGeom>
          <a:solidFill>
            <a:srgbClr val="0E6F73"/>
          </a:solidFill>
          <a:ln w="12700">
            <a:solidFill>
              <a:srgbClr val="0E6F73"/>
            </a:solidFill>
            <a:prstDash val="solid"/>
          </a:ln>
        </p:spPr>
      </p:sp>
      <p:sp>
        <p:nvSpPr>
          <p:cNvPr id="11" name="Text 9"/>
          <p:cNvSpPr txBox="1"/>
          <p:nvPr/>
        </p:nvSpPr>
        <p:spPr>
          <a:xfrm>
            <a:off x="7266432"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511040" y="1783080"/>
            <a:ext cx="2636520" cy="384048"/>
          </a:xfrm>
          <a:prstGeom prst="rect">
            <a:avLst/>
          </a:prstGeom>
          <a:noFill/>
          <a:ln/>
        </p:spPr>
        <p:txBody>
          <a:bodyPr wrap="square" lIns="0" tIns="0" rIns="0" bIns="0" rtlCol="0" anchor="ctr"/>
          <a:lstStyle/>
          <a:p>
            <a:pPr rtl="1" algn="r" indent="0" marL="0">
              <a:buNone/>
            </a:pPr>
            <a:r>
              <a:rPr lang="he-IL" altLang="en-US" sz="1600" b="1" dirty="0">
                <a:solidFill>
                  <a:srgbClr val="1B2A33"/>
                </a:solidFill>
                <a:latin typeface="Arial" pitchFamily="34" charset="0"/>
                <a:ea typeface="Arial" pitchFamily="34" charset="-122"/>
                <a:cs typeface="Arial" pitchFamily="34" charset="-120"/>
              </a:rPr>
              <a:t>מיקום</a:t>
            </a:r>
            <a:endParaRPr lang="he-IL" sz="1600" dirty="0"/>
          </a:p>
        </p:txBody>
      </p:sp>
      <p:sp>
        <p:nvSpPr>
          <p:cNvPr id="13" name="Text 11"/>
          <p:cNvSpPr txBox="1"/>
          <p:nvPr/>
        </p:nvSpPr>
        <p:spPr>
          <a:xfrm>
            <a:off x="4511040" y="2258568"/>
            <a:ext cx="3139440" cy="1417320"/>
          </a:xfrm>
          <a:prstGeom prst="rect">
            <a:avLst/>
          </a:prstGeom>
          <a:noFill/>
          <a:ln/>
        </p:spPr>
        <p:txBody>
          <a:bodyPr wrap="square" lIns="0" tIns="0" rIns="0" bIns="0" rtlCol="0" anchor="t"/>
          <a:lstStyle/>
          <a:p>
            <a:pPr rtl="1" algn="r" indent="0" marL="0">
              <a:buNone/>
            </a:pPr>
            <a:r>
              <a:rPr lang="he-IL" altLang="en-US" sz="1300" dirty="0">
                <a:solidFill>
                  <a:srgbClr val="5D6F7A"/>
                </a:solidFill>
                <a:latin typeface="Arial" pitchFamily="34" charset="0"/>
                <a:ea typeface="Arial" pitchFamily="34" charset="-122"/>
                <a:cs typeface="Arial" pitchFamily="34" charset="-120"/>
              </a:rPr>
              <a:t>לקוחות ← לקוח ← תיקייה, לפי עץ הבלופרינט. איתור נתיב בונה נתיב שלב אחר שלב. לחיצה על לוגו RH חוזרת למסך הבית.</a:t>
            </a:r>
            <a:endParaRPr lang="he-IL" sz="1300" dirty="0"/>
          </a:p>
        </p:txBody>
      </p:sp>
      <p:sp>
        <p:nvSpPr>
          <p:cNvPr id="14" name="Shape 12"/>
          <p:cNvSpPr/>
          <p:nvPr/>
        </p:nvSpPr>
        <p:spPr>
          <a:xfrm>
            <a:off x="548640" y="1600200"/>
            <a:ext cx="3505200" cy="2194560"/>
          </a:xfrm>
          <a:prstGeom prst="roundRect">
            <a:avLst>
              <a:gd name="adj" fmla="val 3333"/>
            </a:avLst>
          </a:prstGeom>
          <a:solidFill>
            <a:srgbClr val="FFFFFF"/>
          </a:solidFill>
          <a:ln w="12700">
            <a:solidFill>
              <a:srgbClr val="C9D3D9"/>
            </a:solidFill>
            <a:prstDash val="solid"/>
          </a:ln>
        </p:spPr>
      </p:sp>
      <p:sp>
        <p:nvSpPr>
          <p:cNvPr id="15" name="Shape 13"/>
          <p:cNvSpPr/>
          <p:nvPr/>
        </p:nvSpPr>
        <p:spPr>
          <a:xfrm>
            <a:off x="3486912" y="1783080"/>
            <a:ext cx="384048" cy="384048"/>
          </a:xfrm>
          <a:prstGeom prst="ellipse">
            <a:avLst/>
          </a:prstGeom>
          <a:solidFill>
            <a:srgbClr val="0E6F73"/>
          </a:solidFill>
          <a:ln w="12700">
            <a:solidFill>
              <a:srgbClr val="0E6F73"/>
            </a:solidFill>
            <a:prstDash val="solid"/>
          </a:ln>
        </p:spPr>
      </p:sp>
      <p:sp>
        <p:nvSpPr>
          <p:cNvPr id="16" name="Text 14"/>
          <p:cNvSpPr txBox="1"/>
          <p:nvPr/>
        </p:nvSpPr>
        <p:spPr>
          <a:xfrm>
            <a:off x="3486912"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731520" y="1783080"/>
            <a:ext cx="2636520" cy="384048"/>
          </a:xfrm>
          <a:prstGeom prst="rect">
            <a:avLst/>
          </a:prstGeom>
          <a:noFill/>
          <a:ln/>
        </p:spPr>
        <p:txBody>
          <a:bodyPr wrap="square" lIns="0" tIns="0" rIns="0" bIns="0" rtlCol="0" anchor="ctr"/>
          <a:lstStyle/>
          <a:p>
            <a:pPr rtl="1" algn="r" indent="0" marL="0">
              <a:buNone/>
            </a:pPr>
            <a:r>
              <a:rPr lang="he-IL" altLang="en-US" sz="1600" b="1" dirty="0">
                <a:solidFill>
                  <a:srgbClr val="1B2A33"/>
                </a:solidFill>
                <a:latin typeface="Arial" pitchFamily="34" charset="0"/>
                <a:ea typeface="Arial" pitchFamily="34" charset="-122"/>
                <a:cs typeface="Arial" pitchFamily="34" charset="-120"/>
              </a:rPr>
              <a:t>העתקת קישור</a:t>
            </a:r>
            <a:endParaRPr lang="he-IL" sz="1600" dirty="0"/>
          </a:p>
        </p:txBody>
      </p:sp>
      <p:sp>
        <p:nvSpPr>
          <p:cNvPr id="18" name="Text 16"/>
          <p:cNvSpPr txBox="1"/>
          <p:nvPr/>
        </p:nvSpPr>
        <p:spPr>
          <a:xfrm>
            <a:off x="731520" y="2258568"/>
            <a:ext cx="3139440" cy="1417320"/>
          </a:xfrm>
          <a:prstGeom prst="rect">
            <a:avLst/>
          </a:prstGeom>
          <a:noFill/>
          <a:ln/>
        </p:spPr>
        <p:txBody>
          <a:bodyPr wrap="square" lIns="0" tIns="0" rIns="0" bIns="0" rtlCol="0" anchor="t"/>
          <a:lstStyle/>
          <a:p>
            <a:pPr rtl="1" algn="r" indent="0" marL="0">
              <a:buNone/>
            </a:pPr>
            <a:r>
              <a:rPr lang="he-IL" altLang="en-US" sz="1300" dirty="0">
                <a:solidFill>
                  <a:srgbClr val="5D6F7A"/>
                </a:solidFill>
                <a:latin typeface="Arial" pitchFamily="34" charset="0"/>
                <a:ea typeface="Arial" pitchFamily="34" charset="-122"/>
                <a:cs typeface="Arial" pitchFamily="34" charset="-120"/>
              </a:rPr>
              <a:t>לכל תיקייה, קובץ ונתיב העבודה: 🔗 מעתיק את הנתיב להדבקה במייל או ב-Teams.</a:t>
            </a:r>
            <a:endParaRPr lang="he-IL" sz="1300" dirty="0"/>
          </a:p>
        </p:txBody>
      </p:sp>
      <p:sp>
        <p:nvSpPr>
          <p:cNvPr id="19" name="Shape 17"/>
          <p:cNvSpPr/>
          <p:nvPr/>
        </p:nvSpPr>
        <p:spPr>
          <a:xfrm>
            <a:off x="8107680" y="4069080"/>
            <a:ext cx="3505200" cy="2194560"/>
          </a:xfrm>
          <a:prstGeom prst="roundRect">
            <a:avLst>
              <a:gd name="adj" fmla="val 3333"/>
            </a:avLst>
          </a:prstGeom>
          <a:solidFill>
            <a:srgbClr val="FFFFFF"/>
          </a:solidFill>
          <a:ln w="12700">
            <a:solidFill>
              <a:srgbClr val="C9D3D9"/>
            </a:solidFill>
            <a:prstDash val="solid"/>
          </a:ln>
        </p:spPr>
      </p:sp>
      <p:sp>
        <p:nvSpPr>
          <p:cNvPr id="20" name="Shape 18"/>
          <p:cNvSpPr/>
          <p:nvPr/>
        </p:nvSpPr>
        <p:spPr>
          <a:xfrm>
            <a:off x="11045952" y="4251960"/>
            <a:ext cx="384048" cy="384048"/>
          </a:xfrm>
          <a:prstGeom prst="ellipse">
            <a:avLst/>
          </a:prstGeom>
          <a:solidFill>
            <a:srgbClr val="0E6F73"/>
          </a:solidFill>
          <a:ln w="12700">
            <a:solidFill>
              <a:srgbClr val="0E6F73"/>
            </a:solidFill>
            <a:prstDash val="solid"/>
          </a:ln>
        </p:spPr>
      </p:sp>
      <p:sp>
        <p:nvSpPr>
          <p:cNvPr id="21" name="Text 19"/>
          <p:cNvSpPr txBox="1"/>
          <p:nvPr/>
        </p:nvSpPr>
        <p:spPr>
          <a:xfrm>
            <a:off x="11045952" y="4251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8290560" y="4251960"/>
            <a:ext cx="2636520" cy="384048"/>
          </a:xfrm>
          <a:prstGeom prst="rect">
            <a:avLst/>
          </a:prstGeom>
          <a:noFill/>
          <a:ln/>
        </p:spPr>
        <p:txBody>
          <a:bodyPr wrap="square" lIns="0" tIns="0" rIns="0" bIns="0" rtlCol="0" anchor="ctr"/>
          <a:lstStyle/>
          <a:p>
            <a:pPr rtl="1" algn="r" indent="0" marL="0">
              <a:buNone/>
            </a:pPr>
            <a:r>
              <a:rPr lang="he-IL" altLang="en-US" sz="1600" b="1" dirty="0">
                <a:solidFill>
                  <a:srgbClr val="1B2A33"/>
                </a:solidFill>
                <a:latin typeface="Arial" pitchFamily="34" charset="0"/>
                <a:ea typeface="Arial" pitchFamily="34" charset="-122"/>
                <a:cs typeface="Arial" pitchFamily="34" charset="-120"/>
              </a:rPr>
              <a:t>תהליכי האישור שלי</a:t>
            </a:r>
            <a:endParaRPr lang="he-IL" sz="1600" dirty="0"/>
          </a:p>
        </p:txBody>
      </p:sp>
      <p:sp>
        <p:nvSpPr>
          <p:cNvPr id="23" name="Text 21"/>
          <p:cNvSpPr txBox="1"/>
          <p:nvPr/>
        </p:nvSpPr>
        <p:spPr>
          <a:xfrm>
            <a:off x="8290560" y="4727448"/>
            <a:ext cx="3139440" cy="1417320"/>
          </a:xfrm>
          <a:prstGeom prst="rect">
            <a:avLst/>
          </a:prstGeom>
          <a:noFill/>
          <a:ln/>
        </p:spPr>
        <p:txBody>
          <a:bodyPr wrap="square" lIns="0" tIns="0" rIns="0" bIns="0" rtlCol="0" anchor="t"/>
          <a:lstStyle/>
          <a:p>
            <a:pPr rtl="1" algn="r" indent="0" marL="0">
              <a:buNone/>
            </a:pPr>
            <a:r>
              <a:rPr lang="he-IL" altLang="en-US" sz="1300" dirty="0">
                <a:solidFill>
                  <a:srgbClr val="5D6F7A"/>
                </a:solidFill>
                <a:latin typeface="Arial" pitchFamily="34" charset="0"/>
                <a:ea typeface="Arial" pitchFamily="34" charset="-122"/>
                <a:cs typeface="Arial" pitchFamily="34" charset="-120"/>
              </a:rPr>
              <a:t>כל המסמכים שלכם לפי סטטוס: בעבודה, הוגש, מאושר, נדחה. עם גרסה (Rev), ממתין ל, פעולה אחרונה והיסטוריה.</a:t>
            </a:r>
            <a:endParaRPr lang="he-IL" sz="1300" dirty="0"/>
          </a:p>
        </p:txBody>
      </p:sp>
      <p:sp>
        <p:nvSpPr>
          <p:cNvPr id="24" name="Shape 22"/>
          <p:cNvSpPr/>
          <p:nvPr/>
        </p:nvSpPr>
        <p:spPr>
          <a:xfrm>
            <a:off x="4328160" y="4069080"/>
            <a:ext cx="3505200" cy="2194560"/>
          </a:xfrm>
          <a:prstGeom prst="roundRect">
            <a:avLst>
              <a:gd name="adj" fmla="val 3333"/>
            </a:avLst>
          </a:prstGeom>
          <a:solidFill>
            <a:srgbClr val="FFFFFF"/>
          </a:solidFill>
          <a:ln w="12700">
            <a:solidFill>
              <a:srgbClr val="C9D3D9"/>
            </a:solidFill>
            <a:prstDash val="solid"/>
          </a:ln>
        </p:spPr>
      </p:sp>
      <p:sp>
        <p:nvSpPr>
          <p:cNvPr id="25" name="Shape 23"/>
          <p:cNvSpPr/>
          <p:nvPr/>
        </p:nvSpPr>
        <p:spPr>
          <a:xfrm>
            <a:off x="7266432" y="4251960"/>
            <a:ext cx="384048" cy="384048"/>
          </a:xfrm>
          <a:prstGeom prst="ellipse">
            <a:avLst/>
          </a:prstGeom>
          <a:solidFill>
            <a:srgbClr val="0E6F73"/>
          </a:solidFill>
          <a:ln w="12700">
            <a:solidFill>
              <a:srgbClr val="0E6F73"/>
            </a:solidFill>
            <a:prstDash val="solid"/>
          </a:ln>
        </p:spPr>
      </p:sp>
      <p:sp>
        <p:nvSpPr>
          <p:cNvPr id="26" name="Text 24"/>
          <p:cNvSpPr txBox="1"/>
          <p:nvPr/>
        </p:nvSpPr>
        <p:spPr>
          <a:xfrm>
            <a:off x="7266432" y="4251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7" name="Text 25"/>
          <p:cNvSpPr txBox="1"/>
          <p:nvPr/>
        </p:nvSpPr>
        <p:spPr>
          <a:xfrm>
            <a:off x="4511040" y="4251960"/>
            <a:ext cx="2636520" cy="384048"/>
          </a:xfrm>
          <a:prstGeom prst="rect">
            <a:avLst/>
          </a:prstGeom>
          <a:noFill/>
          <a:ln/>
        </p:spPr>
        <p:txBody>
          <a:bodyPr wrap="square" lIns="0" tIns="0" rIns="0" bIns="0" rtlCol="0" anchor="ctr"/>
          <a:lstStyle/>
          <a:p>
            <a:pPr rtl="1" algn="r" indent="0" marL="0">
              <a:buNone/>
            </a:pPr>
            <a:r>
              <a:rPr lang="he-IL" altLang="en-US" sz="1600" b="1" dirty="0">
                <a:solidFill>
                  <a:srgbClr val="1B2A33"/>
                </a:solidFill>
                <a:latin typeface="Arial" pitchFamily="34" charset="0"/>
                <a:ea typeface="Arial" pitchFamily="34" charset="-122"/>
                <a:cs typeface="Arial" pitchFamily="34" charset="-120"/>
              </a:rPr>
              <a:t>אישורים</a:t>
            </a:r>
            <a:endParaRPr lang="he-IL" sz="1600" dirty="0"/>
          </a:p>
        </p:txBody>
      </p:sp>
      <p:sp>
        <p:nvSpPr>
          <p:cNvPr id="28" name="Text 26"/>
          <p:cNvSpPr txBox="1"/>
          <p:nvPr/>
        </p:nvSpPr>
        <p:spPr>
          <a:xfrm>
            <a:off x="4511040" y="4727448"/>
            <a:ext cx="3139440" cy="1417320"/>
          </a:xfrm>
          <a:prstGeom prst="rect">
            <a:avLst/>
          </a:prstGeom>
          <a:noFill/>
          <a:ln/>
        </p:spPr>
        <p:txBody>
          <a:bodyPr wrap="square" lIns="0" tIns="0" rIns="0" bIns="0" rtlCol="0" anchor="t"/>
          <a:lstStyle/>
          <a:p>
            <a:pPr rtl="1" algn="r" indent="0" marL="0">
              <a:buNone/>
            </a:pPr>
            <a:r>
              <a:rPr lang="he-IL" altLang="en-US" sz="1300" dirty="0">
                <a:solidFill>
                  <a:srgbClr val="5D6F7A"/>
                </a:solidFill>
                <a:latin typeface="Arial" pitchFamily="34" charset="0"/>
                <a:ea typeface="Arial" pitchFamily="34" charset="-122"/>
                <a:cs typeface="Arial" pitchFamily="34" charset="-120"/>
              </a:rPr>
              <a:t>מה שממתין לאישור שלכם: אישור, דחייה עם הערה, או האצלה למישהו אחר.</a:t>
            </a:r>
            <a:endParaRPr lang="he-IL" sz="1300" dirty="0"/>
          </a:p>
        </p:txBody>
      </p:sp>
      <p:sp>
        <p:nvSpPr>
          <p:cNvPr id="29" name="Shape 27"/>
          <p:cNvSpPr/>
          <p:nvPr/>
        </p:nvSpPr>
        <p:spPr>
          <a:xfrm>
            <a:off x="548640" y="4069080"/>
            <a:ext cx="3505200" cy="2194560"/>
          </a:xfrm>
          <a:prstGeom prst="roundRect">
            <a:avLst>
              <a:gd name="adj" fmla="val 3333"/>
            </a:avLst>
          </a:prstGeom>
          <a:solidFill>
            <a:srgbClr val="FFFFFF"/>
          </a:solidFill>
          <a:ln w="12700">
            <a:solidFill>
              <a:srgbClr val="C9D3D9"/>
            </a:solidFill>
            <a:prstDash val="solid"/>
          </a:ln>
        </p:spPr>
      </p:sp>
      <p:sp>
        <p:nvSpPr>
          <p:cNvPr id="30" name="Shape 28"/>
          <p:cNvSpPr/>
          <p:nvPr/>
        </p:nvSpPr>
        <p:spPr>
          <a:xfrm>
            <a:off x="3486912" y="4251960"/>
            <a:ext cx="384048" cy="384048"/>
          </a:xfrm>
          <a:prstGeom prst="ellipse">
            <a:avLst/>
          </a:prstGeom>
          <a:solidFill>
            <a:srgbClr val="0E6F73"/>
          </a:solidFill>
          <a:ln w="12700">
            <a:solidFill>
              <a:srgbClr val="0E6F73"/>
            </a:solidFill>
            <a:prstDash val="solid"/>
          </a:ln>
        </p:spPr>
      </p:sp>
      <p:sp>
        <p:nvSpPr>
          <p:cNvPr id="31" name="Text 29"/>
          <p:cNvSpPr txBox="1"/>
          <p:nvPr/>
        </p:nvSpPr>
        <p:spPr>
          <a:xfrm>
            <a:off x="3486912" y="4251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30"/>
          <p:cNvSpPr txBox="1"/>
          <p:nvPr/>
        </p:nvSpPr>
        <p:spPr>
          <a:xfrm>
            <a:off x="731520" y="4251960"/>
            <a:ext cx="2636520" cy="384048"/>
          </a:xfrm>
          <a:prstGeom prst="rect">
            <a:avLst/>
          </a:prstGeom>
          <a:noFill/>
          <a:ln/>
        </p:spPr>
        <p:txBody>
          <a:bodyPr wrap="square" lIns="0" tIns="0" rIns="0" bIns="0" rtlCol="0" anchor="ctr"/>
          <a:lstStyle/>
          <a:p>
            <a:pPr rtl="1" algn="r" indent="0" marL="0">
              <a:buNone/>
            </a:pPr>
            <a:r>
              <a:rPr lang="he-IL" altLang="en-US" sz="1600" b="1" dirty="0">
                <a:solidFill>
                  <a:srgbClr val="1B2A33"/>
                </a:solidFill>
                <a:latin typeface="Arial" pitchFamily="34" charset="0"/>
                <a:ea typeface="Arial" pitchFamily="34" charset="-122"/>
                <a:cs typeface="Arial" pitchFamily="34" charset="-120"/>
              </a:rPr>
              <a:t>שפה</a:t>
            </a:r>
            <a:endParaRPr lang="he-IL" sz="1600" dirty="0"/>
          </a:p>
        </p:txBody>
      </p:sp>
      <p:sp>
        <p:nvSpPr>
          <p:cNvPr id="33" name="Text 31"/>
          <p:cNvSpPr txBox="1"/>
          <p:nvPr/>
        </p:nvSpPr>
        <p:spPr>
          <a:xfrm>
            <a:off x="731520" y="4727448"/>
            <a:ext cx="3139440" cy="1417320"/>
          </a:xfrm>
          <a:prstGeom prst="rect">
            <a:avLst/>
          </a:prstGeom>
          <a:noFill/>
          <a:ln/>
        </p:spPr>
        <p:txBody>
          <a:bodyPr wrap="square" lIns="0" tIns="0" rIns="0" bIns="0" rtlCol="0" anchor="t"/>
          <a:lstStyle/>
          <a:p>
            <a:pPr rtl="1" algn="r" indent="0" marL="0">
              <a:buNone/>
            </a:pPr>
            <a:r>
              <a:rPr lang="he-IL" altLang="en-US" sz="1300" dirty="0">
                <a:solidFill>
                  <a:srgbClr val="5D6F7A"/>
                </a:solidFill>
                <a:latin typeface="Arial" pitchFamily="34" charset="0"/>
                <a:ea typeface="Arial" pitchFamily="34" charset="-122"/>
                <a:cs typeface="Arial" pitchFamily="34" charset="-120"/>
              </a:rPr>
              <a:t>עברית או אנגלית מהתפריט העליון. ההתראות במייל וב-Teams נשלחות בשפה שבחרתם.</a:t>
            </a:r>
            <a:endParaRPr lang="he-IL"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rtl="1" algn="r" indent="0" marL="0">
              <a:buNone/>
            </a:pPr>
            <a:r>
              <a:rPr lang="he-IL" altLang="en-US" sz="3200" b="1" dirty="0">
                <a:solidFill>
                  <a:srgbClr val="1B2A33"/>
                </a:solidFill>
                <a:latin typeface="Arial" pitchFamily="34" charset="0"/>
                <a:ea typeface="Arial" pitchFamily="34" charset="-122"/>
                <a:cs typeface="Arial" pitchFamily="34" charset="-120"/>
              </a:rPr>
              <a:t>שמירת מסמך ושליחה לאישור</a:t>
            </a:r>
            <a:endParaRPr lang="he-IL"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rtl="1" algn="r" indent="0" marL="0">
              <a:buNone/>
            </a:pPr>
            <a:r>
              <a:rPr lang="he-IL" altLang="en-US" sz="1500" dirty="0">
                <a:solidFill>
                  <a:srgbClr val="5D6F7A"/>
                </a:solidFill>
                <a:latin typeface="Arial" pitchFamily="34" charset="0"/>
                <a:ea typeface="Arial" pitchFamily="34" charset="-122"/>
                <a:cs typeface="Arial" pitchFamily="34" charset="-120"/>
              </a:rPr>
              <a:t>מהקובץ במחשב ועד "הוגש לאישור" בארבעה צעדים</a:t>
            </a:r>
            <a:endParaRPr lang="he-IL" sz="1500" dirty="0"/>
          </a:p>
        </p:txBody>
      </p:sp>
      <p:sp>
        <p:nvSpPr>
          <p:cNvPr id="4" name="Shape 2"/>
          <p:cNvSpPr/>
          <p:nvPr/>
        </p:nvSpPr>
        <p:spPr>
          <a:xfrm>
            <a:off x="9134856" y="1783080"/>
            <a:ext cx="2478024" cy="2331720"/>
          </a:xfrm>
          <a:prstGeom prst="roundRect">
            <a:avLst>
              <a:gd name="adj" fmla="val 3137"/>
            </a:avLst>
          </a:prstGeom>
          <a:solidFill>
            <a:srgbClr val="D9EEEE"/>
          </a:solidFill>
          <a:ln w="15875">
            <a:solidFill>
              <a:srgbClr val="0E6F73"/>
            </a:solidFill>
            <a:prstDash val="solid"/>
          </a:ln>
        </p:spPr>
      </p:sp>
      <p:sp>
        <p:nvSpPr>
          <p:cNvPr id="5" name="Shape 3"/>
          <p:cNvSpPr/>
          <p:nvPr/>
        </p:nvSpPr>
        <p:spPr>
          <a:xfrm>
            <a:off x="10163556" y="1572768"/>
            <a:ext cx="420624" cy="420624"/>
          </a:xfrm>
          <a:prstGeom prst="ellipse">
            <a:avLst/>
          </a:prstGeom>
          <a:solidFill>
            <a:srgbClr val="0E6F73"/>
          </a:solidFill>
          <a:ln w="12700">
            <a:solidFill>
              <a:srgbClr val="0E6F73"/>
            </a:solidFill>
            <a:prstDash val="solid"/>
          </a:ln>
        </p:spPr>
      </p:sp>
      <p:sp>
        <p:nvSpPr>
          <p:cNvPr id="6" name="Text 4"/>
          <p:cNvSpPr txBox="1"/>
          <p:nvPr/>
        </p:nvSpPr>
        <p:spPr>
          <a:xfrm>
            <a:off x="10163556" y="15727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9272016" y="2103120"/>
            <a:ext cx="2203704" cy="1920240"/>
          </a:xfrm>
          <a:prstGeom prst="rect">
            <a:avLst/>
          </a:prstGeom>
          <a:noFill/>
          <a:ln/>
        </p:spPr>
        <p:txBody>
          <a:bodyPr wrap="square" lIns="0" tIns="0" rIns="0" bIns="0" rtlCol="0" anchor="t"/>
          <a:lstStyle/>
          <a:p>
            <a:pPr algn="r" indent="0" marL="0">
              <a:buNone/>
            </a:pPr>
            <a:r>
              <a:rPr lang="he-IL" altLang="en-US" sz="1500" b="1" dirty="0">
                <a:solidFill>
                  <a:srgbClr val="1B2A33"/>
                </a:solidFill>
                <a:latin typeface="Arial" pitchFamily="34" charset="0"/>
                <a:ea typeface="Arial" pitchFamily="34" charset="-122"/>
                <a:cs typeface="Arial" pitchFamily="34" charset="-120"/>
              </a:rPr>
              <a:t>בוחרים מיקום</a:t>
            </a:r>
            <a:endParaRPr lang="he-IL" sz="1500" dirty="0"/>
          </a:p>
          <a:p>
            <a:pPr algn="r" indent="0" marL="0">
              <a:buNone/>
            </a:pPr>
            <a:r>
              <a:rPr lang="he-IL" altLang="en-US" sz="1200" dirty="0">
                <a:solidFill>
                  <a:srgbClr val="5D6F7A"/>
                </a:solidFill>
                <a:latin typeface="Arial" pitchFamily="34" charset="0"/>
                <a:ea typeface="Arial" pitchFamily="34" charset="-122"/>
                <a:cs typeface="Arial" pitchFamily="34" charset="-120"/>
              </a:rPr>
              <a:t>לקוח ← תיקייה, או "מה שומרים?" שמוביל לתיקייה הנכונה</a:t>
            </a:r>
            <a:endParaRPr lang="he-IL" sz="1500" dirty="0"/>
          </a:p>
        </p:txBody>
      </p:sp>
      <p:sp>
        <p:nvSpPr>
          <p:cNvPr id="8" name="Text 6"/>
          <p:cNvSpPr txBox="1"/>
          <p:nvPr/>
        </p:nvSpPr>
        <p:spPr>
          <a:xfrm>
            <a:off x="8750808" y="2720340"/>
            <a:ext cx="384048" cy="457200"/>
          </a:xfrm>
          <a:prstGeom prst="rect">
            <a:avLst/>
          </a:prstGeom>
          <a:noFill/>
          <a:ln/>
        </p:spPr>
        <p:txBody>
          <a:bodyPr wrap="square" lIns="0" tIns="0" rIns="0" bIns="0" rtlCol="0" anchor="ctr"/>
          <a:lstStyle/>
          <a:p>
            <a:pPr algn="ctr" indent="0" marL="0">
              <a:buNone/>
            </a:pPr>
            <a:r>
              <a:rPr lang="en-US" sz="2200" b="1" dirty="0">
                <a:solidFill>
                  <a:srgbClr val="0E6F73"/>
                </a:solidFill>
                <a:latin typeface="Arial" pitchFamily="34" charset="0"/>
                <a:ea typeface="Arial" pitchFamily="34" charset="-122"/>
                <a:cs typeface="Arial" pitchFamily="34" charset="-120"/>
              </a:rPr>
              <a:t>←</a:t>
            </a:r>
            <a:endParaRPr lang="en-US" sz="2200" dirty="0"/>
          </a:p>
        </p:txBody>
      </p:sp>
      <p:sp>
        <p:nvSpPr>
          <p:cNvPr id="9" name="Shape 7"/>
          <p:cNvSpPr/>
          <p:nvPr/>
        </p:nvSpPr>
        <p:spPr>
          <a:xfrm>
            <a:off x="6272784" y="1783080"/>
            <a:ext cx="2478024" cy="2331720"/>
          </a:xfrm>
          <a:prstGeom prst="roundRect">
            <a:avLst>
              <a:gd name="adj" fmla="val 3137"/>
            </a:avLst>
          </a:prstGeom>
          <a:solidFill>
            <a:srgbClr val="FFFFFF"/>
          </a:solidFill>
          <a:ln w="15875">
            <a:solidFill>
              <a:srgbClr val="0E6F73"/>
            </a:solidFill>
            <a:prstDash val="solid"/>
          </a:ln>
        </p:spPr>
      </p:sp>
      <p:sp>
        <p:nvSpPr>
          <p:cNvPr id="10" name="Shape 8"/>
          <p:cNvSpPr/>
          <p:nvPr/>
        </p:nvSpPr>
        <p:spPr>
          <a:xfrm>
            <a:off x="7301484" y="1572768"/>
            <a:ext cx="420624" cy="420624"/>
          </a:xfrm>
          <a:prstGeom prst="ellipse">
            <a:avLst/>
          </a:prstGeom>
          <a:solidFill>
            <a:srgbClr val="0E6F73"/>
          </a:solidFill>
          <a:ln w="12700">
            <a:solidFill>
              <a:srgbClr val="0E6F73"/>
            </a:solidFill>
            <a:prstDash val="solid"/>
          </a:ln>
        </p:spPr>
      </p:sp>
      <p:sp>
        <p:nvSpPr>
          <p:cNvPr id="11" name="Text 9"/>
          <p:cNvSpPr txBox="1"/>
          <p:nvPr/>
        </p:nvSpPr>
        <p:spPr>
          <a:xfrm>
            <a:off x="7301484" y="15727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6409944" y="2103120"/>
            <a:ext cx="2203704" cy="1920240"/>
          </a:xfrm>
          <a:prstGeom prst="rect">
            <a:avLst/>
          </a:prstGeom>
          <a:noFill/>
          <a:ln/>
        </p:spPr>
        <p:txBody>
          <a:bodyPr wrap="square" lIns="0" tIns="0" rIns="0" bIns="0" rtlCol="0" anchor="t"/>
          <a:lstStyle/>
          <a:p>
            <a:pPr algn="r" indent="0" marL="0">
              <a:buNone/>
            </a:pPr>
            <a:r>
              <a:rPr lang="he-IL" altLang="en-US" sz="1500" b="1" dirty="0">
                <a:solidFill>
                  <a:srgbClr val="1B2A33"/>
                </a:solidFill>
                <a:latin typeface="Arial" pitchFamily="34" charset="0"/>
                <a:ea typeface="Arial" pitchFamily="34" charset="-122"/>
                <a:cs typeface="Arial" pitchFamily="34" charset="-120"/>
              </a:rPr>
              <a:t>＋ מסמך חדש</a:t>
            </a:r>
            <a:endParaRPr lang="he-IL" sz="1500" dirty="0"/>
          </a:p>
          <a:p>
            <a:pPr algn="r" indent="0" marL="0">
              <a:buNone/>
            </a:pPr>
            <a:r>
              <a:rPr lang="he-IL" altLang="en-US" sz="1200" dirty="0">
                <a:solidFill>
                  <a:srgbClr val="5D6F7A"/>
                </a:solidFill>
                <a:latin typeface="Arial" pitchFamily="34" charset="0"/>
                <a:ea typeface="Arial" pitchFamily="34" charset="-122"/>
                <a:cs typeface="Arial" pitchFamily="34" charset="-120"/>
              </a:rPr>
              <a:t>בוחרים קובץ מהמחשב ושם. סוג המסמך, התחום ואופן הבקרה ממולאים לפי התיקייה (✓)</a:t>
            </a:r>
            <a:endParaRPr lang="he-IL" sz="1500" dirty="0"/>
          </a:p>
        </p:txBody>
      </p:sp>
      <p:sp>
        <p:nvSpPr>
          <p:cNvPr id="13" name="Text 11"/>
          <p:cNvSpPr txBox="1"/>
          <p:nvPr/>
        </p:nvSpPr>
        <p:spPr>
          <a:xfrm>
            <a:off x="5888736" y="2720340"/>
            <a:ext cx="384048" cy="457200"/>
          </a:xfrm>
          <a:prstGeom prst="rect">
            <a:avLst/>
          </a:prstGeom>
          <a:noFill/>
          <a:ln/>
        </p:spPr>
        <p:txBody>
          <a:bodyPr wrap="square" lIns="0" tIns="0" rIns="0" bIns="0" rtlCol="0" anchor="ctr"/>
          <a:lstStyle/>
          <a:p>
            <a:pPr algn="ctr" indent="0" marL="0">
              <a:buNone/>
            </a:pPr>
            <a:r>
              <a:rPr lang="en-US" sz="2200" b="1" dirty="0">
                <a:solidFill>
                  <a:srgbClr val="0E6F73"/>
                </a:solidFill>
                <a:latin typeface="Arial" pitchFamily="34" charset="0"/>
                <a:ea typeface="Arial" pitchFamily="34" charset="-122"/>
                <a:cs typeface="Arial" pitchFamily="34" charset="-120"/>
              </a:rPr>
              <a:t>←</a:t>
            </a:r>
            <a:endParaRPr lang="en-US" sz="2200" dirty="0"/>
          </a:p>
        </p:txBody>
      </p:sp>
      <p:sp>
        <p:nvSpPr>
          <p:cNvPr id="14" name="Shape 12"/>
          <p:cNvSpPr/>
          <p:nvPr/>
        </p:nvSpPr>
        <p:spPr>
          <a:xfrm>
            <a:off x="3410712" y="1783080"/>
            <a:ext cx="2478024" cy="2331720"/>
          </a:xfrm>
          <a:prstGeom prst="roundRect">
            <a:avLst>
              <a:gd name="adj" fmla="val 3137"/>
            </a:avLst>
          </a:prstGeom>
          <a:solidFill>
            <a:srgbClr val="FFFFFF"/>
          </a:solidFill>
          <a:ln w="15875">
            <a:solidFill>
              <a:srgbClr val="0E6F73"/>
            </a:solidFill>
            <a:prstDash val="solid"/>
          </a:ln>
        </p:spPr>
      </p:sp>
      <p:sp>
        <p:nvSpPr>
          <p:cNvPr id="15" name="Shape 13"/>
          <p:cNvSpPr/>
          <p:nvPr/>
        </p:nvSpPr>
        <p:spPr>
          <a:xfrm>
            <a:off x="4439412" y="1572768"/>
            <a:ext cx="420624" cy="420624"/>
          </a:xfrm>
          <a:prstGeom prst="ellipse">
            <a:avLst/>
          </a:prstGeom>
          <a:solidFill>
            <a:srgbClr val="0E6F73"/>
          </a:solidFill>
          <a:ln w="12700">
            <a:solidFill>
              <a:srgbClr val="0E6F73"/>
            </a:solidFill>
            <a:prstDash val="solid"/>
          </a:ln>
        </p:spPr>
      </p:sp>
      <p:sp>
        <p:nvSpPr>
          <p:cNvPr id="16" name="Text 14"/>
          <p:cNvSpPr txBox="1"/>
          <p:nvPr/>
        </p:nvSpPr>
        <p:spPr>
          <a:xfrm>
            <a:off x="4439412" y="15727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3547872" y="2103120"/>
            <a:ext cx="2203704" cy="1920240"/>
          </a:xfrm>
          <a:prstGeom prst="rect">
            <a:avLst/>
          </a:prstGeom>
          <a:noFill/>
          <a:ln/>
        </p:spPr>
        <p:txBody>
          <a:bodyPr wrap="square" lIns="0" tIns="0" rIns="0" bIns="0" rtlCol="0" anchor="t"/>
          <a:lstStyle/>
          <a:p>
            <a:pPr algn="r" indent="0" marL="0">
              <a:buNone/>
            </a:pPr>
            <a:r>
              <a:rPr lang="he-IL" altLang="en-US" sz="1500" b="1" dirty="0">
                <a:solidFill>
                  <a:srgbClr val="1B2A33"/>
                </a:solidFill>
                <a:latin typeface="Arial" pitchFamily="34" charset="0"/>
                <a:ea typeface="Arial" pitchFamily="34" charset="-122"/>
                <a:cs typeface="Arial" pitchFamily="34" charset="-120"/>
              </a:rPr>
              <a:t>מאשרים</a:t>
            </a:r>
            <a:endParaRPr lang="he-IL" sz="1500" dirty="0"/>
          </a:p>
          <a:p>
            <a:pPr algn="r" indent="0" marL="0">
              <a:buNone/>
            </a:pPr>
            <a:r>
              <a:rPr lang="he-IL" altLang="en-US" sz="1200" dirty="0">
                <a:solidFill>
                  <a:srgbClr val="5D6F7A"/>
                </a:solidFill>
                <a:latin typeface="Arial" pitchFamily="34" charset="0"/>
                <a:ea typeface="Arial" pitchFamily="34" charset="-122"/>
                <a:cs typeface="Arial" pitchFamily="34" charset="-120"/>
              </a:rPr>
              <a:t>לפי מטריצת המאשרים, או "לבחור את המאשרים בעצמי": רשימת כל עובדי RH עם חיפוש ובחירה מרובה</a:t>
            </a:r>
            <a:endParaRPr lang="he-IL" sz="1500" dirty="0"/>
          </a:p>
        </p:txBody>
      </p:sp>
      <p:sp>
        <p:nvSpPr>
          <p:cNvPr id="18" name="Text 16"/>
          <p:cNvSpPr txBox="1"/>
          <p:nvPr/>
        </p:nvSpPr>
        <p:spPr>
          <a:xfrm>
            <a:off x="3026664" y="2720340"/>
            <a:ext cx="384048" cy="457200"/>
          </a:xfrm>
          <a:prstGeom prst="rect">
            <a:avLst/>
          </a:prstGeom>
          <a:noFill/>
          <a:ln/>
        </p:spPr>
        <p:txBody>
          <a:bodyPr wrap="square" lIns="0" tIns="0" rIns="0" bIns="0" rtlCol="0" anchor="ctr"/>
          <a:lstStyle/>
          <a:p>
            <a:pPr algn="ctr" indent="0" marL="0">
              <a:buNone/>
            </a:pPr>
            <a:r>
              <a:rPr lang="en-US" sz="2200" b="1" dirty="0">
                <a:solidFill>
                  <a:srgbClr val="0E6F73"/>
                </a:solidFill>
                <a:latin typeface="Arial" pitchFamily="34" charset="0"/>
                <a:ea typeface="Arial" pitchFamily="34" charset="-122"/>
                <a:cs typeface="Arial" pitchFamily="34" charset="-120"/>
              </a:rPr>
              <a:t>←</a:t>
            </a:r>
            <a:endParaRPr lang="en-US" sz="2200" dirty="0"/>
          </a:p>
        </p:txBody>
      </p:sp>
      <p:sp>
        <p:nvSpPr>
          <p:cNvPr id="19" name="Shape 17"/>
          <p:cNvSpPr/>
          <p:nvPr/>
        </p:nvSpPr>
        <p:spPr>
          <a:xfrm>
            <a:off x="548640" y="1783080"/>
            <a:ext cx="2478024" cy="2331720"/>
          </a:xfrm>
          <a:prstGeom prst="roundRect">
            <a:avLst>
              <a:gd name="adj" fmla="val 3137"/>
            </a:avLst>
          </a:prstGeom>
          <a:solidFill>
            <a:srgbClr val="FFFFFF"/>
          </a:solidFill>
          <a:ln w="15875">
            <a:solidFill>
              <a:srgbClr val="0E6F73"/>
            </a:solidFill>
            <a:prstDash val="solid"/>
          </a:ln>
        </p:spPr>
      </p:sp>
      <p:sp>
        <p:nvSpPr>
          <p:cNvPr id="20" name="Shape 18"/>
          <p:cNvSpPr/>
          <p:nvPr/>
        </p:nvSpPr>
        <p:spPr>
          <a:xfrm>
            <a:off x="1577340" y="1572768"/>
            <a:ext cx="420624" cy="420624"/>
          </a:xfrm>
          <a:prstGeom prst="ellipse">
            <a:avLst/>
          </a:prstGeom>
          <a:solidFill>
            <a:srgbClr val="0E6F73"/>
          </a:solidFill>
          <a:ln w="12700">
            <a:solidFill>
              <a:srgbClr val="0E6F73"/>
            </a:solidFill>
            <a:prstDash val="solid"/>
          </a:ln>
        </p:spPr>
      </p:sp>
      <p:sp>
        <p:nvSpPr>
          <p:cNvPr id="21" name="Text 19"/>
          <p:cNvSpPr txBox="1"/>
          <p:nvPr/>
        </p:nvSpPr>
        <p:spPr>
          <a:xfrm>
            <a:off x="1577340" y="15727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685800" y="2103120"/>
            <a:ext cx="2203704" cy="1920240"/>
          </a:xfrm>
          <a:prstGeom prst="rect">
            <a:avLst/>
          </a:prstGeom>
          <a:noFill/>
          <a:ln/>
        </p:spPr>
        <p:txBody>
          <a:bodyPr wrap="square" lIns="0" tIns="0" rIns="0" bIns="0" rtlCol="0" anchor="t"/>
          <a:lstStyle/>
          <a:p>
            <a:pPr algn="r" indent="0" marL="0">
              <a:buNone/>
            </a:pPr>
            <a:r>
              <a:rPr lang="he-IL" altLang="en-US" sz="1500" b="1" dirty="0">
                <a:solidFill>
                  <a:srgbClr val="1B2A33"/>
                </a:solidFill>
                <a:latin typeface="Arial" pitchFamily="34" charset="0"/>
                <a:ea typeface="Arial" pitchFamily="34" charset="-122"/>
                <a:cs typeface="Arial" pitchFamily="34" charset="-120"/>
              </a:rPr>
              <a:t>רישום והגשה</a:t>
            </a:r>
            <a:endParaRPr lang="he-IL" sz="1500" dirty="0"/>
          </a:p>
          <a:p>
            <a:pPr algn="r" indent="0" marL="0">
              <a:buNone/>
            </a:pPr>
            <a:r>
              <a:rPr lang="he-IL" altLang="en-US" sz="1200" dirty="0">
                <a:solidFill>
                  <a:srgbClr val="5D6F7A"/>
                </a:solidFill>
                <a:latin typeface="Arial" pitchFamily="34" charset="0"/>
                <a:ea typeface="Arial" pitchFamily="34" charset="-122"/>
                <a:cs typeface="Arial" pitchFamily="34" charset="-120"/>
              </a:rPr>
              <a:t>המסמך מקבל מזהה DMS, הקובץ ננעל ב-Submitted והמאשרים מקבלים התראה</a:t>
            </a:r>
            <a:endParaRPr lang="he-IL" sz="1500" dirty="0"/>
          </a:p>
        </p:txBody>
      </p:sp>
      <p:sp>
        <p:nvSpPr>
          <p:cNvPr id="23" name="Shape 21"/>
          <p:cNvSpPr/>
          <p:nvPr/>
        </p:nvSpPr>
        <p:spPr>
          <a:xfrm>
            <a:off x="548640" y="4572000"/>
            <a:ext cx="11064240" cy="566928"/>
          </a:xfrm>
          <a:prstGeom prst="roundRect">
            <a:avLst>
              <a:gd name="adj" fmla="val 12903"/>
            </a:avLst>
          </a:prstGeom>
          <a:solidFill>
            <a:srgbClr val="D9EEEE"/>
          </a:solidFill>
          <a:ln w="12700">
            <a:solidFill>
              <a:srgbClr val="D9EEEE"/>
            </a:solidFill>
            <a:prstDash val="solid"/>
          </a:ln>
        </p:spPr>
      </p:sp>
      <p:sp>
        <p:nvSpPr>
          <p:cNvPr id="24" name="Text 22"/>
          <p:cNvSpPr txBox="1"/>
          <p:nvPr/>
        </p:nvSpPr>
        <p:spPr>
          <a:xfrm>
            <a:off x="731520" y="4572000"/>
            <a:ext cx="10698480" cy="566928"/>
          </a:xfrm>
          <a:prstGeom prst="rect">
            <a:avLst/>
          </a:prstGeom>
          <a:noFill/>
          <a:ln/>
        </p:spPr>
        <p:txBody>
          <a:bodyPr wrap="square" lIns="0" tIns="0" rIns="0" bIns="0" rtlCol="0" anchor="ctr"/>
          <a:lstStyle/>
          <a:p>
            <a:pPr rtl="1" algn="r" indent="0" marL="0">
              <a:buNone/>
            </a:pPr>
            <a:r>
              <a:rPr lang="he-IL" altLang="en-US" sz="1300" dirty="0">
                <a:solidFill>
                  <a:srgbClr val="1B2A33"/>
                </a:solidFill>
                <a:latin typeface="Arial" pitchFamily="34" charset="0"/>
                <a:ea typeface="Arial" pitchFamily="34" charset="-122"/>
                <a:cs typeface="Arial" pitchFamily="34" charset="-120"/>
              </a:rPr>
              <a:t>קובץ שכבר נמצא בתיקייה: "Start workflow" בשורת הקובץ. אחרי דחייה או משיכה, ההגשה הבאה זוכרת את המאשרים שבחרתם.</a:t>
            </a:r>
            <a:endParaRPr lang="he-IL" sz="1300" dirty="0"/>
          </a:p>
        </p:txBody>
      </p:sp>
      <p:sp>
        <p:nvSpPr>
          <p:cNvPr id="25" name="Shape 23"/>
          <p:cNvSpPr/>
          <p:nvPr/>
        </p:nvSpPr>
        <p:spPr>
          <a:xfrm>
            <a:off x="548640" y="5303520"/>
            <a:ext cx="11064240" cy="566928"/>
          </a:xfrm>
          <a:prstGeom prst="roundRect">
            <a:avLst>
              <a:gd name="adj" fmla="val 12903"/>
            </a:avLst>
          </a:prstGeom>
          <a:solidFill>
            <a:srgbClr val="FBE4E2"/>
          </a:solidFill>
          <a:ln w="12700">
            <a:solidFill>
              <a:srgbClr val="FBE4E2"/>
            </a:solidFill>
            <a:prstDash val="solid"/>
          </a:ln>
        </p:spPr>
      </p:sp>
      <p:sp>
        <p:nvSpPr>
          <p:cNvPr id="26" name="Text 24"/>
          <p:cNvSpPr txBox="1"/>
          <p:nvPr/>
        </p:nvSpPr>
        <p:spPr>
          <a:xfrm>
            <a:off x="731520" y="5303520"/>
            <a:ext cx="10698480" cy="566928"/>
          </a:xfrm>
          <a:prstGeom prst="rect">
            <a:avLst/>
          </a:prstGeom>
          <a:noFill/>
          <a:ln/>
        </p:spPr>
        <p:txBody>
          <a:bodyPr wrap="square" lIns="0" tIns="0" rIns="0" bIns="0" rtlCol="0" anchor="ctr"/>
          <a:lstStyle/>
          <a:p>
            <a:pPr rtl="1" algn="r" indent="0" marL="0">
              <a:buNone/>
            </a:pPr>
            <a:r>
              <a:rPr lang="he-IL" altLang="en-US" sz="1300" dirty="0">
                <a:solidFill>
                  <a:srgbClr val="B3261E"/>
                </a:solidFill>
                <a:latin typeface="Arial" pitchFamily="34" charset="0"/>
                <a:ea typeface="Arial" pitchFamily="34" charset="-122"/>
                <a:cs typeface="Arial" pitchFamily="34" charset="-120"/>
              </a:rPr>
              <a:t>לא עורכים קבצים בתיקיות Submitted, Current_ReadOnly ו-Obsolete_ReadOnly: הן מנוהלות על ידי ה-DMS.</a:t>
            </a:r>
            <a:endParaRPr lang="he-IL"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rtl="1" algn="r" indent="0" marL="0">
              <a:buNone/>
            </a:pPr>
            <a:r>
              <a:rPr lang="he-IL" altLang="en-US" sz="3200" b="1" dirty="0">
                <a:solidFill>
                  <a:srgbClr val="1B2A33"/>
                </a:solidFill>
                <a:latin typeface="Arial" pitchFamily="34" charset="0"/>
                <a:ea typeface="Arial" pitchFamily="34" charset="-122"/>
                <a:cs typeface="Arial" pitchFamily="34" charset="-120"/>
              </a:rPr>
              <a:t>תהליכי האישור שלי: מה אפשר בכל סטטוס</a:t>
            </a:r>
            <a:endParaRPr lang="he-IL"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394960"/>
                <a:gridCol w="3291840"/>
                <a:gridCol w="2377440"/>
              </a:tblGrid>
              <a:tr h="0">
                <a:tc>
                  <a:txBody>
                    <a:bodyPr/>
                    <a:lstStyle/>
                    <a:p>
                      <a:pPr algn="r" indent="0" marL="0">
                        <a:buNone/>
                      </a:pPr>
                      <a:r>
                        <a:rPr lang="en-US" sz="1400" b="1" dirty="0">
                          <a:solidFill>
                            <a:srgbClr val="FFFFFF"/>
                          </a:solidFill>
                          <a:latin typeface="Arial" pitchFamily="34" charset="0"/>
                          <a:ea typeface="Arial" pitchFamily="34" charset="-122"/>
                          <a:cs typeface="Arial" pitchFamily="34" charset="-120"/>
                        </a:rPr>
                        <a:t>מה אפשר לעשות</a:t>
                      </a:r>
                      <a:endParaRPr lang="en-US" sz="14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0E6F73"/>
                    </a:solidFill>
                  </a:tcPr>
                </a:tc>
                <a:tc>
                  <a:txBody>
                    <a:bodyPr/>
                    <a:lstStyle/>
                    <a:p>
                      <a:pPr algn="r" indent="0" marL="0">
                        <a:buNone/>
                      </a:pPr>
                      <a:r>
                        <a:rPr lang="en-US" sz="1400" b="1" dirty="0">
                          <a:solidFill>
                            <a:srgbClr val="FFFFFF"/>
                          </a:solidFill>
                          <a:latin typeface="Arial" pitchFamily="34" charset="0"/>
                          <a:ea typeface="Arial" pitchFamily="34" charset="-122"/>
                          <a:cs typeface="Arial" pitchFamily="34" charset="-120"/>
                        </a:rPr>
                        <a:t>איפה הקובץ</a:t>
                      </a:r>
                      <a:endParaRPr lang="en-US" sz="14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0E6F73"/>
                    </a:solidFill>
                  </a:tcPr>
                </a:tc>
                <a:tc>
                  <a:txBody>
                    <a:bodyPr/>
                    <a:lstStyle/>
                    <a:p>
                      <a:pPr algn="r" indent="0" marL="0">
                        <a:buNone/>
                      </a:pPr>
                      <a:r>
                        <a:rPr lang="en-US" sz="1400" b="1" dirty="0">
                          <a:solidFill>
                            <a:srgbClr val="FFFFFF"/>
                          </a:solidFill>
                          <a:latin typeface="Arial" pitchFamily="34" charset="0"/>
                          <a:ea typeface="Arial" pitchFamily="34" charset="-122"/>
                          <a:cs typeface="Arial" pitchFamily="34" charset="-120"/>
                        </a:rPr>
                        <a:t>סטטוס</a:t>
                      </a:r>
                      <a:endParaRPr lang="en-US" sz="14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0E6F73"/>
                    </a:solidFill>
                  </a:tcPr>
                </a:tc>
              </a:tr>
              <a:tr h="0">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שליחה לאישור, שינוי שם, מחיקה (לתיקיית המחזור), העתקת נתיב העבודה</a:t>
                      </a:r>
                      <a:endParaRPr lang="en-US" sz="14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בתיקייה שבה נשמר, ניתן לעריכה</a:t>
                      </a:r>
                      <a:endParaRPr lang="en-US" sz="14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בעבודה</a:t>
                      </a:r>
                      <a:endParaRPr lang="en-US" sz="14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r h="0">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משיכה: הקובץ חוזר מיד לבעבודה, עם השם המקורי שלו</a:t>
                      </a:r>
                      <a:endParaRPr lang="en-US" sz="14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Submitted, קריאה בלבד</a:t>
                      </a:r>
                      <a:endParaRPr lang="en-US" sz="14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הוגש לאישור</a:t>
                      </a:r>
                      <a:endParaRPr lang="en-US" sz="14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r h="0">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מתקנים לפי ההערה ושולחים שוב (המאשרים שבחרתם נשמרים)</a:t>
                      </a:r>
                      <a:endParaRPr lang="en-US" sz="14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חוזר למקומו, ניתן לעריכה</a:t>
                      </a:r>
                      <a:endParaRPr lang="en-US" sz="14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נדחה - חזר אליך</a:t>
                      </a:r>
                      <a:endParaRPr lang="en-US" sz="14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r h="0">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גרסה חדשה, שיתוף עם לקוח, העתקת קישור</a:t>
                      </a:r>
                      <a:endParaRPr lang="en-US" sz="14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Current_ReadOnly, קריאה בלבד</a:t>
                      </a:r>
                      <a:endParaRPr lang="en-US" sz="14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מאושר - קריאה בלבד</a:t>
                      </a:r>
                      <a:endParaRPr lang="en-US" sz="14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bl>
          </a:graphicData>
        </a:graphic>
      </p:graphicFrame>
      <p:sp>
        <p:nvSpPr>
          <p:cNvPr id="4" name="Shape 1"/>
          <p:cNvSpPr/>
          <p:nvPr/>
        </p:nvSpPr>
        <p:spPr>
          <a:xfrm>
            <a:off x="548640" y="4800600"/>
            <a:ext cx="11064240" cy="566928"/>
          </a:xfrm>
          <a:prstGeom prst="roundRect">
            <a:avLst>
              <a:gd name="adj" fmla="val 12903"/>
            </a:avLst>
          </a:prstGeom>
          <a:solidFill>
            <a:srgbClr val="D9EEEE"/>
          </a:solidFill>
          <a:ln w="12700">
            <a:solidFill>
              <a:srgbClr val="D9EEEE"/>
            </a:solidFill>
            <a:prstDash val="solid"/>
          </a:ln>
        </p:spPr>
      </p:sp>
      <p:sp>
        <p:nvSpPr>
          <p:cNvPr id="5" name="Text 2"/>
          <p:cNvSpPr txBox="1"/>
          <p:nvPr/>
        </p:nvSpPr>
        <p:spPr>
          <a:xfrm>
            <a:off x="731520" y="4800600"/>
            <a:ext cx="10698480" cy="566928"/>
          </a:xfrm>
          <a:prstGeom prst="rect">
            <a:avLst/>
          </a:prstGeom>
          <a:noFill/>
          <a:ln/>
        </p:spPr>
        <p:txBody>
          <a:bodyPr wrap="square" lIns="0" tIns="0" rIns="0" bIns="0" rtlCol="0" anchor="ctr"/>
          <a:lstStyle/>
          <a:p>
            <a:pPr rtl="1" algn="r" indent="0" marL="0">
              <a:buNone/>
            </a:pPr>
            <a:r>
              <a:rPr lang="he-IL" altLang="en-US" sz="1300" dirty="0">
                <a:solidFill>
                  <a:srgbClr val="1B2A33"/>
                </a:solidFill>
                <a:latin typeface="Arial" pitchFamily="34" charset="0"/>
                <a:ea typeface="Arial" pitchFamily="34" charset="-122"/>
                <a:cs typeface="Arial" pitchFamily="34" charset="-120"/>
              </a:rPr>
              <a:t>עמודת Rev מציגה את הגרסה. בגרסה חדשה בעבודה מופיעה גם "הגרסה המאושרת" מתחת. "היסטוריה" מציגה כל פעולה מיומן הביקורת.</a:t>
            </a:r>
            <a:endParaRPr lang="he-IL"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rtl="1" algn="r" indent="0" marL="0">
              <a:buNone/>
            </a:pPr>
            <a:r>
              <a:rPr lang="he-IL" altLang="en-US" sz="3200" b="1" dirty="0">
                <a:solidFill>
                  <a:srgbClr val="1B2A33"/>
                </a:solidFill>
                <a:latin typeface="Arial" pitchFamily="34" charset="0"/>
                <a:ea typeface="Arial" pitchFamily="34" charset="-122"/>
                <a:cs typeface="Arial" pitchFamily="34" charset="-120"/>
              </a:rPr>
              <a:t>למאשרים: מסך האישורים</a:t>
            </a:r>
            <a:endParaRPr lang="he-IL"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rtl="1" algn="r" indent="0" marL="0">
              <a:buNone/>
            </a:pPr>
            <a:r>
              <a:rPr lang="he-IL" altLang="en-US" sz="1500" dirty="0">
                <a:solidFill>
                  <a:srgbClr val="5D6F7A"/>
                </a:solidFill>
                <a:latin typeface="Arial" pitchFamily="34" charset="0"/>
                <a:ea typeface="Arial" pitchFamily="34" charset="-122"/>
                <a:cs typeface="Arial" pitchFamily="34" charset="-120"/>
              </a:rPr>
              <a:t>מגיעים מההתראה במייל וב-Teams, או מ"אישורים" בתפריט</a:t>
            </a:r>
            <a:endParaRPr lang="he-IL" sz="1500" dirty="0"/>
          </a:p>
        </p:txBody>
      </p:sp>
      <p:sp>
        <p:nvSpPr>
          <p:cNvPr id="4" name="Shape 2"/>
          <p:cNvSpPr/>
          <p:nvPr/>
        </p:nvSpPr>
        <p:spPr>
          <a:xfrm>
            <a:off x="8107680" y="1645920"/>
            <a:ext cx="3505200" cy="2834640"/>
          </a:xfrm>
          <a:prstGeom prst="roundRect">
            <a:avLst>
              <a:gd name="adj" fmla="val 2581"/>
            </a:avLst>
          </a:prstGeom>
          <a:solidFill>
            <a:srgbClr val="FFFFFF"/>
          </a:solidFill>
          <a:ln w="12700">
            <a:solidFill>
              <a:srgbClr val="C9D3D9"/>
            </a:solidFill>
            <a:prstDash val="solid"/>
          </a:ln>
        </p:spPr>
      </p:sp>
      <p:sp>
        <p:nvSpPr>
          <p:cNvPr id="5" name="Shape 3"/>
          <p:cNvSpPr/>
          <p:nvPr/>
        </p:nvSpPr>
        <p:spPr>
          <a:xfrm>
            <a:off x="11045952" y="1828800"/>
            <a:ext cx="384048" cy="384048"/>
          </a:xfrm>
          <a:prstGeom prst="ellipse">
            <a:avLst/>
          </a:prstGeom>
          <a:solidFill>
            <a:srgbClr val="0E6F73"/>
          </a:solidFill>
          <a:ln w="12700">
            <a:solidFill>
              <a:srgbClr val="0E6F73"/>
            </a:solidFill>
            <a:prstDash val="solid"/>
          </a:ln>
        </p:spPr>
      </p:sp>
      <p:sp>
        <p:nvSpPr>
          <p:cNvPr id="6" name="Text 4"/>
          <p:cNvSpPr txBox="1"/>
          <p:nvPr/>
        </p:nvSpPr>
        <p:spPr>
          <a:xfrm>
            <a:off x="11045952" y="1828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290560" y="1828800"/>
            <a:ext cx="2636520" cy="384048"/>
          </a:xfrm>
          <a:prstGeom prst="rect">
            <a:avLst/>
          </a:prstGeom>
          <a:noFill/>
          <a:ln/>
        </p:spPr>
        <p:txBody>
          <a:bodyPr wrap="square" lIns="0" tIns="0" rIns="0" bIns="0" rtlCol="0" anchor="ctr"/>
          <a:lstStyle/>
          <a:p>
            <a:pPr rtl="1" algn="r" indent="0" marL="0">
              <a:buNone/>
            </a:pPr>
            <a:r>
              <a:rPr lang="he-IL" altLang="en-US" sz="1600" b="1" dirty="0">
                <a:solidFill>
                  <a:srgbClr val="1B2A33"/>
                </a:solidFill>
                <a:latin typeface="Arial" pitchFamily="34" charset="0"/>
                <a:ea typeface="Arial" pitchFamily="34" charset="-122"/>
                <a:cs typeface="Arial" pitchFamily="34" charset="-120"/>
              </a:rPr>
              <a:t>אישור</a:t>
            </a:r>
            <a:endParaRPr lang="he-IL" sz="1600" dirty="0"/>
          </a:p>
        </p:txBody>
      </p:sp>
      <p:sp>
        <p:nvSpPr>
          <p:cNvPr id="8" name="Text 6"/>
          <p:cNvSpPr txBox="1"/>
          <p:nvPr/>
        </p:nvSpPr>
        <p:spPr>
          <a:xfrm>
            <a:off x="8290560" y="2304288"/>
            <a:ext cx="3139440" cy="2057400"/>
          </a:xfrm>
          <a:prstGeom prst="rect">
            <a:avLst/>
          </a:prstGeom>
          <a:noFill/>
          <a:ln/>
        </p:spPr>
        <p:txBody>
          <a:bodyPr wrap="square" lIns="0" tIns="0" rIns="0" bIns="0" rtlCol="0" anchor="t"/>
          <a:lstStyle/>
          <a:p>
            <a:pPr rtl="1" algn="r" indent="0" marL="0">
              <a:buNone/>
            </a:pPr>
            <a:r>
              <a:rPr lang="he-IL" altLang="en-US" sz="1300" dirty="0">
                <a:solidFill>
                  <a:srgbClr val="5D6F7A"/>
                </a:solidFill>
                <a:latin typeface="Arial" pitchFamily="34" charset="0"/>
                <a:ea typeface="Arial" pitchFamily="34" charset="-122"/>
                <a:cs typeface="Arial" pitchFamily="34" charset="-120"/>
              </a:rPr>
              <a:t>פותחים או מורידים את הקובץ, מאשרים עם הערה (רשות). שלב 1: כל מאשרי החובה. שלב 2: המאשר הסופי.</a:t>
            </a:r>
            <a:endParaRPr lang="he-IL" sz="1300" dirty="0"/>
          </a:p>
        </p:txBody>
      </p:sp>
      <p:sp>
        <p:nvSpPr>
          <p:cNvPr id="9" name="Shape 7"/>
          <p:cNvSpPr/>
          <p:nvPr/>
        </p:nvSpPr>
        <p:spPr>
          <a:xfrm>
            <a:off x="4328160" y="1645920"/>
            <a:ext cx="3505200" cy="2834640"/>
          </a:xfrm>
          <a:prstGeom prst="roundRect">
            <a:avLst>
              <a:gd name="adj" fmla="val 2581"/>
            </a:avLst>
          </a:prstGeom>
          <a:solidFill>
            <a:srgbClr val="FFFFFF"/>
          </a:solidFill>
          <a:ln w="12700">
            <a:solidFill>
              <a:srgbClr val="C9D3D9"/>
            </a:solidFill>
            <a:prstDash val="solid"/>
          </a:ln>
        </p:spPr>
      </p:sp>
      <p:sp>
        <p:nvSpPr>
          <p:cNvPr id="10" name="Shape 8"/>
          <p:cNvSpPr/>
          <p:nvPr/>
        </p:nvSpPr>
        <p:spPr>
          <a:xfrm>
            <a:off x="7266432" y="1828800"/>
            <a:ext cx="384048" cy="384048"/>
          </a:xfrm>
          <a:prstGeom prst="ellipse">
            <a:avLst/>
          </a:prstGeom>
          <a:solidFill>
            <a:srgbClr val="0E6F73"/>
          </a:solidFill>
          <a:ln w="12700">
            <a:solidFill>
              <a:srgbClr val="0E6F73"/>
            </a:solidFill>
            <a:prstDash val="solid"/>
          </a:ln>
        </p:spPr>
      </p:sp>
      <p:sp>
        <p:nvSpPr>
          <p:cNvPr id="11" name="Text 9"/>
          <p:cNvSpPr txBox="1"/>
          <p:nvPr/>
        </p:nvSpPr>
        <p:spPr>
          <a:xfrm>
            <a:off x="7266432" y="1828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511040" y="1828800"/>
            <a:ext cx="2636520" cy="384048"/>
          </a:xfrm>
          <a:prstGeom prst="rect">
            <a:avLst/>
          </a:prstGeom>
          <a:noFill/>
          <a:ln/>
        </p:spPr>
        <p:txBody>
          <a:bodyPr wrap="square" lIns="0" tIns="0" rIns="0" bIns="0" rtlCol="0" anchor="ctr"/>
          <a:lstStyle/>
          <a:p>
            <a:pPr rtl="1" algn="r" indent="0" marL="0">
              <a:buNone/>
            </a:pPr>
            <a:r>
              <a:rPr lang="he-IL" altLang="en-US" sz="1600" b="1" dirty="0">
                <a:solidFill>
                  <a:srgbClr val="1B2A33"/>
                </a:solidFill>
                <a:latin typeface="Arial" pitchFamily="34" charset="0"/>
                <a:ea typeface="Arial" pitchFamily="34" charset="-122"/>
                <a:cs typeface="Arial" pitchFamily="34" charset="-120"/>
              </a:rPr>
              <a:t>דחייה</a:t>
            </a:r>
            <a:endParaRPr lang="he-IL" sz="1600" dirty="0"/>
          </a:p>
        </p:txBody>
      </p:sp>
      <p:sp>
        <p:nvSpPr>
          <p:cNvPr id="13" name="Text 11"/>
          <p:cNvSpPr txBox="1"/>
          <p:nvPr/>
        </p:nvSpPr>
        <p:spPr>
          <a:xfrm>
            <a:off x="4511040" y="2304288"/>
            <a:ext cx="3139440" cy="2057400"/>
          </a:xfrm>
          <a:prstGeom prst="rect">
            <a:avLst/>
          </a:prstGeom>
          <a:noFill/>
          <a:ln/>
        </p:spPr>
        <p:txBody>
          <a:bodyPr wrap="square" lIns="0" tIns="0" rIns="0" bIns="0" rtlCol="0" anchor="t"/>
          <a:lstStyle/>
          <a:p>
            <a:pPr rtl="1" algn="r" indent="0" marL="0">
              <a:buNone/>
            </a:pPr>
            <a:r>
              <a:rPr lang="he-IL" altLang="en-US" sz="1300" dirty="0">
                <a:solidFill>
                  <a:srgbClr val="5D6F7A"/>
                </a:solidFill>
                <a:latin typeface="Arial" pitchFamily="34" charset="0"/>
                <a:ea typeface="Arial" pitchFamily="34" charset="-122"/>
                <a:cs typeface="Arial" pitchFamily="34" charset="-120"/>
              </a:rPr>
              <a:t>חובה לכתוב סיבה. המסמך חוזר מיד לבעלים, וההערה מופיעה אצלו בתהליכי האישור.</a:t>
            </a:r>
            <a:endParaRPr lang="he-IL" sz="1300" dirty="0"/>
          </a:p>
        </p:txBody>
      </p:sp>
      <p:sp>
        <p:nvSpPr>
          <p:cNvPr id="14" name="Shape 12"/>
          <p:cNvSpPr/>
          <p:nvPr/>
        </p:nvSpPr>
        <p:spPr>
          <a:xfrm>
            <a:off x="548640" y="1645920"/>
            <a:ext cx="3505200" cy="2834640"/>
          </a:xfrm>
          <a:prstGeom prst="roundRect">
            <a:avLst>
              <a:gd name="adj" fmla="val 2581"/>
            </a:avLst>
          </a:prstGeom>
          <a:solidFill>
            <a:srgbClr val="FFFFFF"/>
          </a:solidFill>
          <a:ln w="12700">
            <a:solidFill>
              <a:srgbClr val="C9D3D9"/>
            </a:solidFill>
            <a:prstDash val="solid"/>
          </a:ln>
        </p:spPr>
      </p:sp>
      <p:sp>
        <p:nvSpPr>
          <p:cNvPr id="15" name="Shape 13"/>
          <p:cNvSpPr/>
          <p:nvPr/>
        </p:nvSpPr>
        <p:spPr>
          <a:xfrm>
            <a:off x="3486912" y="1828800"/>
            <a:ext cx="384048" cy="384048"/>
          </a:xfrm>
          <a:prstGeom prst="ellipse">
            <a:avLst/>
          </a:prstGeom>
          <a:solidFill>
            <a:srgbClr val="0E6F73"/>
          </a:solidFill>
          <a:ln w="12700">
            <a:solidFill>
              <a:srgbClr val="0E6F73"/>
            </a:solidFill>
            <a:prstDash val="solid"/>
          </a:ln>
        </p:spPr>
      </p:sp>
      <p:sp>
        <p:nvSpPr>
          <p:cNvPr id="16" name="Text 14"/>
          <p:cNvSpPr txBox="1"/>
          <p:nvPr/>
        </p:nvSpPr>
        <p:spPr>
          <a:xfrm>
            <a:off x="3486912" y="1828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731520" y="1828800"/>
            <a:ext cx="2636520" cy="384048"/>
          </a:xfrm>
          <a:prstGeom prst="rect">
            <a:avLst/>
          </a:prstGeom>
          <a:noFill/>
          <a:ln/>
        </p:spPr>
        <p:txBody>
          <a:bodyPr wrap="square" lIns="0" tIns="0" rIns="0" bIns="0" rtlCol="0" anchor="ctr"/>
          <a:lstStyle/>
          <a:p>
            <a:pPr rtl="1" algn="r" indent="0" marL="0">
              <a:buNone/>
            </a:pPr>
            <a:r>
              <a:rPr lang="he-IL" altLang="en-US" sz="1600" b="1" dirty="0">
                <a:solidFill>
                  <a:srgbClr val="1B2A33"/>
                </a:solidFill>
                <a:latin typeface="Arial" pitchFamily="34" charset="0"/>
                <a:ea typeface="Arial" pitchFamily="34" charset="-122"/>
                <a:cs typeface="Arial" pitchFamily="34" charset="-120"/>
              </a:rPr>
              <a:t>האצלה ⇄</a:t>
            </a:r>
            <a:endParaRPr lang="he-IL" sz="1600" dirty="0"/>
          </a:p>
        </p:txBody>
      </p:sp>
      <p:sp>
        <p:nvSpPr>
          <p:cNvPr id="18" name="Text 16"/>
          <p:cNvSpPr txBox="1"/>
          <p:nvPr/>
        </p:nvSpPr>
        <p:spPr>
          <a:xfrm>
            <a:off x="731520" y="2304288"/>
            <a:ext cx="3139440" cy="2057400"/>
          </a:xfrm>
          <a:prstGeom prst="rect">
            <a:avLst/>
          </a:prstGeom>
          <a:noFill/>
          <a:ln/>
        </p:spPr>
        <p:txBody>
          <a:bodyPr wrap="square" lIns="0" tIns="0" rIns="0" bIns="0" rtlCol="0" anchor="t"/>
          <a:lstStyle/>
          <a:p>
            <a:pPr rtl="1" algn="r" indent="0" marL="0">
              <a:buNone/>
            </a:pPr>
            <a:r>
              <a:rPr lang="he-IL" altLang="en-US" sz="1300" dirty="0">
                <a:solidFill>
                  <a:srgbClr val="5D6F7A"/>
                </a:solidFill>
                <a:latin typeface="Arial" pitchFamily="34" charset="0"/>
                <a:ea typeface="Arial" pitchFamily="34" charset="-122"/>
                <a:cs typeface="Arial" pitchFamily="34" charset="-120"/>
              </a:rPr>
              <a:t>מעבירים את האישור לעובד אחר ל-3 ימי עבודה (ראשון עד חמישי). אחר כך האישור חוזר אליכם אוטומטית. נרשם ברשימת האצלות.</a:t>
            </a:r>
            <a:endParaRPr lang="he-IL" sz="1300" dirty="0"/>
          </a:p>
        </p:txBody>
      </p:sp>
      <p:sp>
        <p:nvSpPr>
          <p:cNvPr id="19" name="Shape 17"/>
          <p:cNvSpPr/>
          <p:nvPr/>
        </p:nvSpPr>
        <p:spPr>
          <a:xfrm>
            <a:off x="548640" y="4846320"/>
            <a:ext cx="11064240" cy="566928"/>
          </a:xfrm>
          <a:prstGeom prst="roundRect">
            <a:avLst>
              <a:gd name="adj" fmla="val 12903"/>
            </a:avLst>
          </a:prstGeom>
          <a:solidFill>
            <a:srgbClr val="D9EEEE"/>
          </a:solidFill>
          <a:ln w="12700">
            <a:solidFill>
              <a:srgbClr val="D9EEEE"/>
            </a:solidFill>
            <a:prstDash val="solid"/>
          </a:ln>
        </p:spPr>
      </p:sp>
      <p:sp>
        <p:nvSpPr>
          <p:cNvPr id="20" name="Text 18"/>
          <p:cNvSpPr txBox="1"/>
          <p:nvPr/>
        </p:nvSpPr>
        <p:spPr>
          <a:xfrm>
            <a:off x="731520" y="4846320"/>
            <a:ext cx="10698480" cy="566928"/>
          </a:xfrm>
          <a:prstGeom prst="rect">
            <a:avLst/>
          </a:prstGeom>
          <a:noFill/>
          <a:ln/>
        </p:spPr>
        <p:txBody>
          <a:bodyPr wrap="square" lIns="0" tIns="0" rIns="0" bIns="0" rtlCol="0" anchor="ctr"/>
          <a:lstStyle/>
          <a:p>
            <a:pPr rtl="1" algn="r" indent="0" marL="0">
              <a:buNone/>
            </a:pPr>
            <a:r>
              <a:rPr lang="he-IL" altLang="en-US" sz="1300" dirty="0">
                <a:solidFill>
                  <a:srgbClr val="1B2A33"/>
                </a:solidFill>
                <a:latin typeface="Arial" pitchFamily="34" charset="0"/>
                <a:ea typeface="Arial" pitchFamily="34" charset="-122"/>
                <a:cs typeface="Arial" pitchFamily="34" charset="-120"/>
              </a:rPr>
              <a:t>כל החלטה נרשמת ביומן הביקורת וברשימת החלטות מאשרים ב-SharePoint. משתמשי-על רואים את כל האישורים הממתינים ויכולים להחליט בכל שלב.</a:t>
            </a:r>
            <a:endParaRPr lang="he-IL"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rtl="1" algn="r" indent="0" marL="0">
              <a:buNone/>
            </a:pPr>
            <a:r>
              <a:rPr lang="he-IL" altLang="en-US" sz="3200" b="1" dirty="0">
                <a:solidFill>
                  <a:srgbClr val="1B2A33"/>
                </a:solidFill>
                <a:latin typeface="Arial" pitchFamily="34" charset="0"/>
                <a:ea typeface="Arial" pitchFamily="34" charset="-122"/>
                <a:cs typeface="Arial" pitchFamily="34" charset="-120"/>
              </a:rPr>
              <a:t>גרסה חדשה של מסמך מאושר</a:t>
            </a:r>
            <a:endParaRPr lang="he-IL" sz="3200" dirty="0"/>
          </a:p>
        </p:txBody>
      </p:sp>
      <p:sp>
        <p:nvSpPr>
          <p:cNvPr id="3" name="Shape 1"/>
          <p:cNvSpPr/>
          <p:nvPr/>
        </p:nvSpPr>
        <p:spPr>
          <a:xfrm>
            <a:off x="9134856" y="1691640"/>
            <a:ext cx="2478024" cy="2103120"/>
          </a:xfrm>
          <a:prstGeom prst="roundRect">
            <a:avLst>
              <a:gd name="adj" fmla="val 3478"/>
            </a:avLst>
          </a:prstGeom>
          <a:solidFill>
            <a:srgbClr val="D9EEEE"/>
          </a:solidFill>
          <a:ln w="15875">
            <a:solidFill>
              <a:srgbClr val="0E6F73"/>
            </a:solidFill>
            <a:prstDash val="solid"/>
          </a:ln>
        </p:spPr>
      </p:sp>
      <p:sp>
        <p:nvSpPr>
          <p:cNvPr id="4" name="Shape 2"/>
          <p:cNvSpPr/>
          <p:nvPr/>
        </p:nvSpPr>
        <p:spPr>
          <a:xfrm>
            <a:off x="10163556" y="1481328"/>
            <a:ext cx="420624" cy="420624"/>
          </a:xfrm>
          <a:prstGeom prst="ellipse">
            <a:avLst/>
          </a:prstGeom>
          <a:solidFill>
            <a:srgbClr val="0E6F73"/>
          </a:solidFill>
          <a:ln w="12700">
            <a:solidFill>
              <a:srgbClr val="0E6F73"/>
            </a:solidFill>
            <a:prstDash val="solid"/>
          </a:ln>
        </p:spPr>
      </p:sp>
      <p:sp>
        <p:nvSpPr>
          <p:cNvPr id="5" name="Text 3"/>
          <p:cNvSpPr txBox="1"/>
          <p:nvPr/>
        </p:nvSpPr>
        <p:spPr>
          <a:xfrm>
            <a:off x="10163556" y="14813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9272016" y="2011680"/>
            <a:ext cx="2203704" cy="1691640"/>
          </a:xfrm>
          <a:prstGeom prst="rect">
            <a:avLst/>
          </a:prstGeom>
          <a:noFill/>
          <a:ln/>
        </p:spPr>
        <p:txBody>
          <a:bodyPr wrap="square" lIns="0" tIns="0" rIns="0" bIns="0" rtlCol="0" anchor="t"/>
          <a:lstStyle/>
          <a:p>
            <a:pPr algn="r" indent="0" marL="0">
              <a:buNone/>
            </a:pPr>
            <a:r>
              <a:rPr lang="he-IL" altLang="en-US" sz="1500" b="1" dirty="0">
                <a:solidFill>
                  <a:srgbClr val="1B2A33"/>
                </a:solidFill>
                <a:latin typeface="Arial" pitchFamily="34" charset="0"/>
                <a:ea typeface="Arial" pitchFamily="34" charset="-122"/>
                <a:cs typeface="Arial" pitchFamily="34" charset="-120"/>
              </a:rPr>
              <a:t>⟳ גרסה חדשה</a:t>
            </a:r>
            <a:endParaRPr lang="he-IL" sz="1500" dirty="0"/>
          </a:p>
          <a:p>
            <a:pPr algn="r" indent="0" marL="0">
              <a:buNone/>
            </a:pPr>
            <a:r>
              <a:rPr lang="he-IL" altLang="en-US" sz="1200" dirty="0">
                <a:solidFill>
                  <a:srgbClr val="5D6F7A"/>
                </a:solidFill>
                <a:latin typeface="Arial" pitchFamily="34" charset="0"/>
                <a:ea typeface="Arial" pitchFamily="34" charset="-122"/>
                <a:cs typeface="Arial" pitchFamily="34" charset="-120"/>
              </a:rPr>
              <a:t>על המסמך המאושר, בתהליכי האישור שלי או בתיקייה</a:t>
            </a:r>
            <a:endParaRPr lang="he-IL" sz="1500" dirty="0"/>
          </a:p>
        </p:txBody>
      </p:sp>
      <p:sp>
        <p:nvSpPr>
          <p:cNvPr id="7" name="Text 5"/>
          <p:cNvSpPr txBox="1"/>
          <p:nvPr/>
        </p:nvSpPr>
        <p:spPr>
          <a:xfrm>
            <a:off x="8750808" y="2514600"/>
            <a:ext cx="384048" cy="457200"/>
          </a:xfrm>
          <a:prstGeom prst="rect">
            <a:avLst/>
          </a:prstGeom>
          <a:noFill/>
          <a:ln/>
        </p:spPr>
        <p:txBody>
          <a:bodyPr wrap="square" lIns="0" tIns="0" rIns="0" bIns="0" rtlCol="0" anchor="ctr"/>
          <a:lstStyle/>
          <a:p>
            <a:pPr algn="ctr" indent="0" marL="0">
              <a:buNone/>
            </a:pPr>
            <a:r>
              <a:rPr lang="en-US" sz="2200" b="1" dirty="0">
                <a:solidFill>
                  <a:srgbClr val="0E6F73"/>
                </a:solidFill>
                <a:latin typeface="Arial" pitchFamily="34" charset="0"/>
                <a:ea typeface="Arial" pitchFamily="34" charset="-122"/>
                <a:cs typeface="Arial" pitchFamily="34" charset="-120"/>
              </a:rPr>
              <a:t>←</a:t>
            </a:r>
            <a:endParaRPr lang="en-US" sz="2200" dirty="0"/>
          </a:p>
        </p:txBody>
      </p:sp>
      <p:sp>
        <p:nvSpPr>
          <p:cNvPr id="8" name="Shape 6"/>
          <p:cNvSpPr/>
          <p:nvPr/>
        </p:nvSpPr>
        <p:spPr>
          <a:xfrm>
            <a:off x="6272784" y="1691640"/>
            <a:ext cx="2478024" cy="2103120"/>
          </a:xfrm>
          <a:prstGeom prst="roundRect">
            <a:avLst>
              <a:gd name="adj" fmla="val 3478"/>
            </a:avLst>
          </a:prstGeom>
          <a:solidFill>
            <a:srgbClr val="FFFFFF"/>
          </a:solidFill>
          <a:ln w="15875">
            <a:solidFill>
              <a:srgbClr val="0E6F73"/>
            </a:solidFill>
            <a:prstDash val="solid"/>
          </a:ln>
        </p:spPr>
      </p:sp>
      <p:sp>
        <p:nvSpPr>
          <p:cNvPr id="9" name="Shape 7"/>
          <p:cNvSpPr/>
          <p:nvPr/>
        </p:nvSpPr>
        <p:spPr>
          <a:xfrm>
            <a:off x="7301484" y="1481328"/>
            <a:ext cx="420624" cy="420624"/>
          </a:xfrm>
          <a:prstGeom prst="ellipse">
            <a:avLst/>
          </a:prstGeom>
          <a:solidFill>
            <a:srgbClr val="0E6F73"/>
          </a:solidFill>
          <a:ln w="12700">
            <a:solidFill>
              <a:srgbClr val="0E6F73"/>
            </a:solidFill>
            <a:prstDash val="solid"/>
          </a:ln>
        </p:spPr>
      </p:sp>
      <p:sp>
        <p:nvSpPr>
          <p:cNvPr id="10" name="Text 8"/>
          <p:cNvSpPr txBox="1"/>
          <p:nvPr/>
        </p:nvSpPr>
        <p:spPr>
          <a:xfrm>
            <a:off x="7301484" y="14813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1" name="Text 9"/>
          <p:cNvSpPr txBox="1"/>
          <p:nvPr/>
        </p:nvSpPr>
        <p:spPr>
          <a:xfrm>
            <a:off x="6409944" y="2011680"/>
            <a:ext cx="2203704" cy="1691640"/>
          </a:xfrm>
          <a:prstGeom prst="rect">
            <a:avLst/>
          </a:prstGeom>
          <a:noFill/>
          <a:ln/>
        </p:spPr>
        <p:txBody>
          <a:bodyPr wrap="square" lIns="0" tIns="0" rIns="0" bIns="0" rtlCol="0" anchor="t"/>
          <a:lstStyle/>
          <a:p>
            <a:pPr algn="r" indent="0" marL="0">
              <a:buNone/>
            </a:pPr>
            <a:r>
              <a:rPr lang="he-IL" altLang="en-US" sz="1500" b="1" dirty="0">
                <a:solidFill>
                  <a:srgbClr val="1B2A33"/>
                </a:solidFill>
                <a:latin typeface="Arial" pitchFamily="34" charset="0"/>
                <a:ea typeface="Arial" pitchFamily="34" charset="-122"/>
                <a:cs typeface="Arial" pitchFamily="34" charset="-120"/>
              </a:rPr>
              <a:t>להתחיל מ</a:t>
            </a:r>
            <a:endParaRPr lang="he-IL" sz="1500" dirty="0"/>
          </a:p>
          <a:p>
            <a:pPr algn="r" indent="0" marL="0">
              <a:buNone/>
            </a:pPr>
            <a:r>
              <a:rPr lang="he-IL" altLang="en-US" sz="1200" dirty="0">
                <a:solidFill>
                  <a:srgbClr val="5D6F7A"/>
                </a:solidFill>
                <a:latin typeface="Arial" pitchFamily="34" charset="0"/>
                <a:ea typeface="Arial" pitchFamily="34" charset="-122"/>
                <a:cs typeface="Arial" pitchFamily="34" charset="-120"/>
              </a:rPr>
              <a:t>עותק של הגרסה המאושרת, או קובץ מהמחשב</a:t>
            </a:r>
            <a:endParaRPr lang="he-IL" sz="1500" dirty="0"/>
          </a:p>
        </p:txBody>
      </p:sp>
      <p:sp>
        <p:nvSpPr>
          <p:cNvPr id="12" name="Text 10"/>
          <p:cNvSpPr txBox="1"/>
          <p:nvPr/>
        </p:nvSpPr>
        <p:spPr>
          <a:xfrm>
            <a:off x="5888736" y="2514600"/>
            <a:ext cx="384048" cy="457200"/>
          </a:xfrm>
          <a:prstGeom prst="rect">
            <a:avLst/>
          </a:prstGeom>
          <a:noFill/>
          <a:ln/>
        </p:spPr>
        <p:txBody>
          <a:bodyPr wrap="square" lIns="0" tIns="0" rIns="0" bIns="0" rtlCol="0" anchor="ctr"/>
          <a:lstStyle/>
          <a:p>
            <a:pPr algn="ctr" indent="0" marL="0">
              <a:buNone/>
            </a:pPr>
            <a:r>
              <a:rPr lang="en-US" sz="2200" b="1" dirty="0">
                <a:solidFill>
                  <a:srgbClr val="0E6F73"/>
                </a:solidFill>
                <a:latin typeface="Arial" pitchFamily="34" charset="0"/>
                <a:ea typeface="Arial" pitchFamily="34" charset="-122"/>
                <a:cs typeface="Arial" pitchFamily="34" charset="-120"/>
              </a:rPr>
              <a:t>←</a:t>
            </a:r>
            <a:endParaRPr lang="en-US" sz="2200" dirty="0"/>
          </a:p>
        </p:txBody>
      </p:sp>
      <p:sp>
        <p:nvSpPr>
          <p:cNvPr id="13" name="Shape 11"/>
          <p:cNvSpPr/>
          <p:nvPr/>
        </p:nvSpPr>
        <p:spPr>
          <a:xfrm>
            <a:off x="3410712" y="1691640"/>
            <a:ext cx="2478024" cy="2103120"/>
          </a:xfrm>
          <a:prstGeom prst="roundRect">
            <a:avLst>
              <a:gd name="adj" fmla="val 3478"/>
            </a:avLst>
          </a:prstGeom>
          <a:solidFill>
            <a:srgbClr val="FFFFFF"/>
          </a:solidFill>
          <a:ln w="15875">
            <a:solidFill>
              <a:srgbClr val="0E6F73"/>
            </a:solidFill>
            <a:prstDash val="solid"/>
          </a:ln>
        </p:spPr>
      </p:sp>
      <p:sp>
        <p:nvSpPr>
          <p:cNvPr id="14" name="Shape 12"/>
          <p:cNvSpPr/>
          <p:nvPr/>
        </p:nvSpPr>
        <p:spPr>
          <a:xfrm>
            <a:off x="4439412" y="1481328"/>
            <a:ext cx="420624" cy="420624"/>
          </a:xfrm>
          <a:prstGeom prst="ellipse">
            <a:avLst/>
          </a:prstGeom>
          <a:solidFill>
            <a:srgbClr val="0E6F73"/>
          </a:solidFill>
          <a:ln w="12700">
            <a:solidFill>
              <a:srgbClr val="0E6F73"/>
            </a:solidFill>
            <a:prstDash val="solid"/>
          </a:ln>
        </p:spPr>
      </p:sp>
      <p:sp>
        <p:nvSpPr>
          <p:cNvPr id="15" name="Text 13"/>
          <p:cNvSpPr txBox="1"/>
          <p:nvPr/>
        </p:nvSpPr>
        <p:spPr>
          <a:xfrm>
            <a:off x="4439412" y="14813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6" name="Text 14"/>
          <p:cNvSpPr txBox="1"/>
          <p:nvPr/>
        </p:nvSpPr>
        <p:spPr>
          <a:xfrm>
            <a:off x="3547872" y="2011680"/>
            <a:ext cx="2203704" cy="1691640"/>
          </a:xfrm>
          <a:prstGeom prst="rect">
            <a:avLst/>
          </a:prstGeom>
          <a:noFill/>
          <a:ln/>
        </p:spPr>
        <p:txBody>
          <a:bodyPr wrap="square" lIns="0" tIns="0" rIns="0" bIns="0" rtlCol="0" anchor="t"/>
          <a:lstStyle/>
          <a:p>
            <a:pPr algn="r" indent="0" marL="0">
              <a:buNone/>
            </a:pPr>
            <a:r>
              <a:rPr lang="he-IL" altLang="en-US" sz="1500" b="1" dirty="0">
                <a:solidFill>
                  <a:srgbClr val="1B2A33"/>
                </a:solidFill>
                <a:latin typeface="Arial" pitchFamily="34" charset="0"/>
                <a:ea typeface="Arial" pitchFamily="34" charset="-122"/>
                <a:cs typeface="Arial" pitchFamily="34" charset="-120"/>
              </a:rPr>
              <a:t>עריכה ושליחה</a:t>
            </a:r>
            <a:endParaRPr lang="he-IL" sz="1500" dirty="0"/>
          </a:p>
          <a:p>
            <a:pPr algn="r" indent="0" marL="0">
              <a:buNone/>
            </a:pPr>
            <a:r>
              <a:rPr lang="he-IL" altLang="en-US" sz="1200" dirty="0">
                <a:solidFill>
                  <a:srgbClr val="5D6F7A"/>
                </a:solidFill>
                <a:latin typeface="Arial" pitchFamily="34" charset="0"/>
                <a:ea typeface="Arial" pitchFamily="34" charset="-122"/>
                <a:cs typeface="Arial" pitchFamily="34" charset="-120"/>
              </a:rPr>
              <a:t>הטיוטה (Rev 02) בעבודה; אפשר להגיש מיד</a:t>
            </a:r>
            <a:endParaRPr lang="he-IL" sz="1500" dirty="0"/>
          </a:p>
        </p:txBody>
      </p:sp>
      <p:sp>
        <p:nvSpPr>
          <p:cNvPr id="17" name="Text 15"/>
          <p:cNvSpPr txBox="1"/>
          <p:nvPr/>
        </p:nvSpPr>
        <p:spPr>
          <a:xfrm>
            <a:off x="3026664" y="2514600"/>
            <a:ext cx="384048" cy="457200"/>
          </a:xfrm>
          <a:prstGeom prst="rect">
            <a:avLst/>
          </a:prstGeom>
          <a:noFill/>
          <a:ln/>
        </p:spPr>
        <p:txBody>
          <a:bodyPr wrap="square" lIns="0" tIns="0" rIns="0" bIns="0" rtlCol="0" anchor="ctr"/>
          <a:lstStyle/>
          <a:p>
            <a:pPr algn="ctr" indent="0" marL="0">
              <a:buNone/>
            </a:pPr>
            <a:r>
              <a:rPr lang="en-US" sz="2200" b="1" dirty="0">
                <a:solidFill>
                  <a:srgbClr val="0E6F73"/>
                </a:solidFill>
                <a:latin typeface="Arial" pitchFamily="34" charset="0"/>
                <a:ea typeface="Arial" pitchFamily="34" charset="-122"/>
                <a:cs typeface="Arial" pitchFamily="34" charset="-120"/>
              </a:rPr>
              <a:t>←</a:t>
            </a:r>
            <a:endParaRPr lang="en-US" sz="2200" dirty="0"/>
          </a:p>
        </p:txBody>
      </p:sp>
      <p:sp>
        <p:nvSpPr>
          <p:cNvPr id="18" name="Shape 16"/>
          <p:cNvSpPr/>
          <p:nvPr/>
        </p:nvSpPr>
        <p:spPr>
          <a:xfrm>
            <a:off x="548640" y="1691640"/>
            <a:ext cx="2478024" cy="2103120"/>
          </a:xfrm>
          <a:prstGeom prst="roundRect">
            <a:avLst>
              <a:gd name="adj" fmla="val 3478"/>
            </a:avLst>
          </a:prstGeom>
          <a:solidFill>
            <a:srgbClr val="FFFFFF"/>
          </a:solidFill>
          <a:ln w="15875">
            <a:solidFill>
              <a:srgbClr val="0E6F73"/>
            </a:solidFill>
            <a:prstDash val="solid"/>
          </a:ln>
        </p:spPr>
      </p:sp>
      <p:sp>
        <p:nvSpPr>
          <p:cNvPr id="19" name="Shape 17"/>
          <p:cNvSpPr/>
          <p:nvPr/>
        </p:nvSpPr>
        <p:spPr>
          <a:xfrm>
            <a:off x="1577340" y="1481328"/>
            <a:ext cx="420624" cy="420624"/>
          </a:xfrm>
          <a:prstGeom prst="ellipse">
            <a:avLst/>
          </a:prstGeom>
          <a:solidFill>
            <a:srgbClr val="0E6F73"/>
          </a:solidFill>
          <a:ln w="12700">
            <a:solidFill>
              <a:srgbClr val="0E6F73"/>
            </a:solidFill>
            <a:prstDash val="solid"/>
          </a:ln>
        </p:spPr>
      </p:sp>
      <p:sp>
        <p:nvSpPr>
          <p:cNvPr id="20" name="Text 18"/>
          <p:cNvSpPr txBox="1"/>
          <p:nvPr/>
        </p:nvSpPr>
        <p:spPr>
          <a:xfrm>
            <a:off x="1577340" y="14813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1" name="Text 19"/>
          <p:cNvSpPr txBox="1"/>
          <p:nvPr/>
        </p:nvSpPr>
        <p:spPr>
          <a:xfrm>
            <a:off x="685800" y="2011680"/>
            <a:ext cx="2203704" cy="1691640"/>
          </a:xfrm>
          <a:prstGeom prst="rect">
            <a:avLst/>
          </a:prstGeom>
          <a:noFill/>
          <a:ln/>
        </p:spPr>
        <p:txBody>
          <a:bodyPr wrap="square" lIns="0" tIns="0" rIns="0" bIns="0" rtlCol="0" anchor="t"/>
          <a:lstStyle/>
          <a:p>
            <a:pPr algn="r" indent="0" marL="0">
              <a:buNone/>
            </a:pPr>
            <a:r>
              <a:rPr lang="he-IL" altLang="en-US" sz="1500" b="1" dirty="0">
                <a:solidFill>
                  <a:srgbClr val="1B2A33"/>
                </a:solidFill>
                <a:latin typeface="Arial" pitchFamily="34" charset="0"/>
                <a:ea typeface="Arial" pitchFamily="34" charset="-122"/>
                <a:cs typeface="Arial" pitchFamily="34" charset="-120"/>
              </a:rPr>
              <a:t>אישור</a:t>
            </a:r>
            <a:endParaRPr lang="he-IL" sz="1500" dirty="0"/>
          </a:p>
          <a:p>
            <a:pPr algn="r" indent="0" marL="0">
              <a:buNone/>
            </a:pPr>
            <a:r>
              <a:rPr lang="he-IL" altLang="en-US" sz="1200" dirty="0">
                <a:solidFill>
                  <a:srgbClr val="5D6F7A"/>
                </a:solidFill>
                <a:latin typeface="Arial" pitchFamily="34" charset="0"/>
                <a:ea typeface="Arial" pitchFamily="34" charset="-122"/>
                <a:cs typeface="Arial" pitchFamily="34" charset="-120"/>
              </a:rPr>
              <a:t>Rev 02 עוברת ל-Current_ReadOnly, Rev 01 ל-Obsolete_ReadOnly</a:t>
            </a:r>
            <a:endParaRPr lang="he-IL" sz="1500" dirty="0"/>
          </a:p>
        </p:txBody>
      </p:sp>
      <p:sp>
        <p:nvSpPr>
          <p:cNvPr id="22" name="Shape 20"/>
          <p:cNvSpPr/>
          <p:nvPr/>
        </p:nvSpPr>
        <p:spPr>
          <a:xfrm>
            <a:off x="548640" y="4343400"/>
            <a:ext cx="11064240" cy="566928"/>
          </a:xfrm>
          <a:prstGeom prst="roundRect">
            <a:avLst>
              <a:gd name="adj" fmla="val 12903"/>
            </a:avLst>
          </a:prstGeom>
          <a:solidFill>
            <a:srgbClr val="D9EEEE"/>
          </a:solidFill>
          <a:ln w="12700">
            <a:solidFill>
              <a:srgbClr val="D9EEEE"/>
            </a:solidFill>
            <a:prstDash val="solid"/>
          </a:ln>
        </p:spPr>
      </p:sp>
      <p:sp>
        <p:nvSpPr>
          <p:cNvPr id="23" name="Text 21"/>
          <p:cNvSpPr txBox="1"/>
          <p:nvPr/>
        </p:nvSpPr>
        <p:spPr>
          <a:xfrm>
            <a:off x="731520" y="4343400"/>
            <a:ext cx="10698480" cy="566928"/>
          </a:xfrm>
          <a:prstGeom prst="rect">
            <a:avLst/>
          </a:prstGeom>
          <a:noFill/>
          <a:ln/>
        </p:spPr>
        <p:txBody>
          <a:bodyPr wrap="square" lIns="0" tIns="0" rIns="0" bIns="0" rtlCol="0" anchor="ctr"/>
          <a:lstStyle/>
          <a:p>
            <a:pPr rtl="1" algn="r" indent="0" marL="0">
              <a:buNone/>
            </a:pPr>
            <a:r>
              <a:rPr lang="he-IL" altLang="en-US" sz="1300" dirty="0">
                <a:solidFill>
                  <a:srgbClr val="1B2A33"/>
                </a:solidFill>
                <a:latin typeface="Arial" pitchFamily="34" charset="0"/>
                <a:ea typeface="Arial" pitchFamily="34" charset="-122"/>
                <a:cs typeface="Arial" pitchFamily="34" charset="-120"/>
              </a:rPr>
              <a:t>עד שהגרסה החדשה מאושרת, הגרסה הקודמת נשארת בתוקף ופתוחה לכולם. מחיקת הטיוטה לא נוגעת בגרסה המאושרת.</a:t>
            </a:r>
            <a:endParaRPr lang="he-IL" sz="1300" dirty="0"/>
          </a:p>
        </p:txBody>
      </p:sp>
      <p:sp>
        <p:nvSpPr>
          <p:cNvPr id="24" name="Shape 22"/>
          <p:cNvSpPr/>
          <p:nvPr/>
        </p:nvSpPr>
        <p:spPr>
          <a:xfrm>
            <a:off x="548640" y="5074920"/>
            <a:ext cx="11064240" cy="566928"/>
          </a:xfrm>
          <a:prstGeom prst="roundRect">
            <a:avLst>
              <a:gd name="adj" fmla="val 12903"/>
            </a:avLst>
          </a:prstGeom>
          <a:solidFill>
            <a:srgbClr val="D9EEEE"/>
          </a:solidFill>
          <a:ln w="12700">
            <a:solidFill>
              <a:srgbClr val="D9EEEE"/>
            </a:solidFill>
            <a:prstDash val="solid"/>
          </a:ln>
        </p:spPr>
      </p:sp>
      <p:sp>
        <p:nvSpPr>
          <p:cNvPr id="25" name="Text 23"/>
          <p:cNvSpPr txBox="1"/>
          <p:nvPr/>
        </p:nvSpPr>
        <p:spPr>
          <a:xfrm>
            <a:off x="731520" y="5074920"/>
            <a:ext cx="10698480" cy="566928"/>
          </a:xfrm>
          <a:prstGeom prst="rect">
            <a:avLst/>
          </a:prstGeom>
          <a:noFill/>
          <a:ln/>
        </p:spPr>
        <p:txBody>
          <a:bodyPr wrap="square" lIns="0" tIns="0" rIns="0" bIns="0" rtlCol="0" anchor="ctr"/>
          <a:lstStyle/>
          <a:p>
            <a:pPr rtl="1" algn="r" indent="0" marL="0">
              <a:buNone/>
            </a:pPr>
            <a:r>
              <a:rPr lang="he-IL" altLang="en-US" sz="1300" dirty="0">
                <a:solidFill>
                  <a:srgbClr val="1B2A33"/>
                </a:solidFill>
                <a:latin typeface="Arial" pitchFamily="34" charset="0"/>
                <a:ea typeface="Arial" pitchFamily="34" charset="-122"/>
                <a:cs typeface="Arial" pitchFamily="34" charset="-120"/>
              </a:rPr>
              <a:t>הקבצים עוברים תיקייה על ידי שירות ה-DMS תוך דקה. משתמשי-על יכולים ללחוץ "העברת קבצים עכשיו".</a:t>
            </a:r>
            <a:endParaRPr lang="he-IL"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rtl="1" algn="r" indent="0" marL="0">
              <a:buNone/>
            </a:pPr>
            <a:r>
              <a:rPr lang="he-IL" altLang="en-US" sz="3200" b="1" dirty="0">
                <a:solidFill>
                  <a:srgbClr val="1B2A33"/>
                </a:solidFill>
                <a:latin typeface="Arial" pitchFamily="34" charset="0"/>
                <a:ea typeface="Arial" pitchFamily="34" charset="-122"/>
                <a:cs typeface="Arial" pitchFamily="34" charset="-120"/>
              </a:rPr>
              <a:t>שיתוף עם לקוח</a:t>
            </a:r>
            <a:endParaRPr lang="he-IL"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rtl="1" algn="r" indent="0" marL="0">
              <a:buNone/>
            </a:pPr>
            <a:r>
              <a:rPr lang="he-IL" altLang="en-US" sz="1500" dirty="0">
                <a:solidFill>
                  <a:srgbClr val="5D6F7A"/>
                </a:solidFill>
                <a:latin typeface="Arial" pitchFamily="34" charset="0"/>
                <a:ea typeface="Arial" pitchFamily="34" charset="-122"/>
                <a:cs typeface="Arial" pitchFamily="34" charset="-120"/>
              </a:rPr>
              <a:t>רק מסמך מאושר, על ידי בעל המסמך או משתמש-על</a:t>
            </a:r>
            <a:endParaRPr lang="he-IL" sz="1500" dirty="0"/>
          </a:p>
        </p:txBody>
      </p:sp>
      <p:sp>
        <p:nvSpPr>
          <p:cNvPr id="4" name="Shape 2"/>
          <p:cNvSpPr/>
          <p:nvPr/>
        </p:nvSpPr>
        <p:spPr>
          <a:xfrm>
            <a:off x="9134856" y="1645920"/>
            <a:ext cx="2478024" cy="1874520"/>
          </a:xfrm>
          <a:prstGeom prst="roundRect">
            <a:avLst>
              <a:gd name="adj" fmla="val 3902"/>
            </a:avLst>
          </a:prstGeom>
          <a:solidFill>
            <a:srgbClr val="D9EEEE"/>
          </a:solidFill>
          <a:ln w="15875">
            <a:solidFill>
              <a:srgbClr val="0E6F73"/>
            </a:solidFill>
            <a:prstDash val="solid"/>
          </a:ln>
        </p:spPr>
      </p:sp>
      <p:sp>
        <p:nvSpPr>
          <p:cNvPr id="5" name="Shape 3"/>
          <p:cNvSpPr/>
          <p:nvPr/>
        </p:nvSpPr>
        <p:spPr>
          <a:xfrm>
            <a:off x="10163556" y="1435608"/>
            <a:ext cx="420624" cy="420624"/>
          </a:xfrm>
          <a:prstGeom prst="ellipse">
            <a:avLst/>
          </a:prstGeom>
          <a:solidFill>
            <a:srgbClr val="0E6F73"/>
          </a:solidFill>
          <a:ln w="12700">
            <a:solidFill>
              <a:srgbClr val="0E6F73"/>
            </a:solidFill>
            <a:prstDash val="solid"/>
          </a:ln>
        </p:spPr>
      </p:sp>
      <p:sp>
        <p:nvSpPr>
          <p:cNvPr id="6" name="Text 4"/>
          <p:cNvSpPr txBox="1"/>
          <p:nvPr/>
        </p:nvSpPr>
        <p:spPr>
          <a:xfrm>
            <a:off x="10163556" y="14356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9272016" y="1965960"/>
            <a:ext cx="2203704" cy="1463040"/>
          </a:xfrm>
          <a:prstGeom prst="rect">
            <a:avLst/>
          </a:prstGeom>
          <a:noFill/>
          <a:ln/>
        </p:spPr>
        <p:txBody>
          <a:bodyPr wrap="square" lIns="0" tIns="0" rIns="0" bIns="0" rtlCol="0" anchor="t"/>
          <a:lstStyle/>
          <a:p>
            <a:pPr algn="r" indent="0" marL="0">
              <a:buNone/>
            </a:pPr>
            <a:r>
              <a:rPr lang="he-IL" altLang="en-US" sz="1500" b="1" dirty="0">
                <a:solidFill>
                  <a:srgbClr val="1B2A33"/>
                </a:solidFill>
                <a:latin typeface="Arial" pitchFamily="34" charset="0"/>
                <a:ea typeface="Arial" pitchFamily="34" charset="-122"/>
                <a:cs typeface="Arial" pitchFamily="34" charset="-120"/>
              </a:rPr>
              <a:t>✉ שיתוף עם לקוח</a:t>
            </a:r>
            <a:endParaRPr lang="he-IL" sz="1500" dirty="0"/>
          </a:p>
          <a:p>
            <a:pPr algn="r" indent="0" marL="0">
              <a:buNone/>
            </a:pPr>
            <a:r>
              <a:rPr lang="he-IL" altLang="en-US" sz="1200" dirty="0">
                <a:solidFill>
                  <a:srgbClr val="5D6F7A"/>
                </a:solidFill>
                <a:latin typeface="Arial" pitchFamily="34" charset="0"/>
                <a:ea typeface="Arial" pitchFamily="34" charset="-122"/>
                <a:cs typeface="Arial" pitchFamily="34" charset="-120"/>
              </a:rPr>
              <a:t>על המסמך המאושר</a:t>
            </a:r>
            <a:endParaRPr lang="he-IL" sz="1500" dirty="0"/>
          </a:p>
        </p:txBody>
      </p:sp>
      <p:sp>
        <p:nvSpPr>
          <p:cNvPr id="8" name="Text 6"/>
          <p:cNvSpPr txBox="1"/>
          <p:nvPr/>
        </p:nvSpPr>
        <p:spPr>
          <a:xfrm>
            <a:off x="8750808" y="2354580"/>
            <a:ext cx="384048" cy="457200"/>
          </a:xfrm>
          <a:prstGeom prst="rect">
            <a:avLst/>
          </a:prstGeom>
          <a:noFill/>
          <a:ln/>
        </p:spPr>
        <p:txBody>
          <a:bodyPr wrap="square" lIns="0" tIns="0" rIns="0" bIns="0" rtlCol="0" anchor="ctr"/>
          <a:lstStyle/>
          <a:p>
            <a:pPr algn="ctr" indent="0" marL="0">
              <a:buNone/>
            </a:pPr>
            <a:r>
              <a:rPr lang="en-US" sz="2200" b="1" dirty="0">
                <a:solidFill>
                  <a:srgbClr val="0E6F73"/>
                </a:solidFill>
                <a:latin typeface="Arial" pitchFamily="34" charset="0"/>
                <a:ea typeface="Arial" pitchFamily="34" charset="-122"/>
                <a:cs typeface="Arial" pitchFamily="34" charset="-120"/>
              </a:rPr>
              <a:t>←</a:t>
            </a:r>
            <a:endParaRPr lang="en-US" sz="2200" dirty="0"/>
          </a:p>
        </p:txBody>
      </p:sp>
      <p:sp>
        <p:nvSpPr>
          <p:cNvPr id="9" name="Shape 7"/>
          <p:cNvSpPr/>
          <p:nvPr/>
        </p:nvSpPr>
        <p:spPr>
          <a:xfrm>
            <a:off x="6272784" y="1645920"/>
            <a:ext cx="2478024" cy="1874520"/>
          </a:xfrm>
          <a:prstGeom prst="roundRect">
            <a:avLst>
              <a:gd name="adj" fmla="val 3902"/>
            </a:avLst>
          </a:prstGeom>
          <a:solidFill>
            <a:srgbClr val="FFFFFF"/>
          </a:solidFill>
          <a:ln w="15875">
            <a:solidFill>
              <a:srgbClr val="0E6F73"/>
            </a:solidFill>
            <a:prstDash val="solid"/>
          </a:ln>
        </p:spPr>
      </p:sp>
      <p:sp>
        <p:nvSpPr>
          <p:cNvPr id="10" name="Shape 8"/>
          <p:cNvSpPr/>
          <p:nvPr/>
        </p:nvSpPr>
        <p:spPr>
          <a:xfrm>
            <a:off x="7301484" y="1435608"/>
            <a:ext cx="420624" cy="420624"/>
          </a:xfrm>
          <a:prstGeom prst="ellipse">
            <a:avLst/>
          </a:prstGeom>
          <a:solidFill>
            <a:srgbClr val="0E6F73"/>
          </a:solidFill>
          <a:ln w="12700">
            <a:solidFill>
              <a:srgbClr val="0E6F73"/>
            </a:solidFill>
            <a:prstDash val="solid"/>
          </a:ln>
        </p:spPr>
      </p:sp>
      <p:sp>
        <p:nvSpPr>
          <p:cNvPr id="11" name="Text 9"/>
          <p:cNvSpPr txBox="1"/>
          <p:nvPr/>
        </p:nvSpPr>
        <p:spPr>
          <a:xfrm>
            <a:off x="7301484" y="14356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6409944" y="1965960"/>
            <a:ext cx="2203704" cy="1463040"/>
          </a:xfrm>
          <a:prstGeom prst="rect">
            <a:avLst/>
          </a:prstGeom>
          <a:noFill/>
          <a:ln/>
        </p:spPr>
        <p:txBody>
          <a:bodyPr wrap="square" lIns="0" tIns="0" rIns="0" bIns="0" rtlCol="0" anchor="t"/>
          <a:lstStyle/>
          <a:p>
            <a:pPr algn="r" indent="0" marL="0">
              <a:buNone/>
            </a:pPr>
            <a:r>
              <a:rPr lang="he-IL" altLang="en-US" sz="1500" b="1" dirty="0">
                <a:solidFill>
                  <a:srgbClr val="1B2A33"/>
                </a:solidFill>
                <a:latin typeface="Arial" pitchFamily="34" charset="0"/>
                <a:ea typeface="Arial" pitchFamily="34" charset="-122"/>
                <a:cs typeface="Arial" pitchFamily="34" charset="-120"/>
              </a:rPr>
              <a:t>לקוח</a:t>
            </a:r>
            <a:endParaRPr lang="he-IL" sz="1500" dirty="0"/>
          </a:p>
          <a:p>
            <a:pPr algn="r" indent="0" marL="0">
              <a:buNone/>
            </a:pPr>
            <a:r>
              <a:rPr lang="he-IL" altLang="en-US" sz="1200" dirty="0">
                <a:solidFill>
                  <a:srgbClr val="5D6F7A"/>
                </a:solidFill>
                <a:latin typeface="Arial" pitchFamily="34" charset="0"/>
                <a:ea typeface="Arial" pitchFamily="34" charset="-122"/>
                <a:cs typeface="Arial" pitchFamily="34" charset="-120"/>
              </a:rPr>
              <a:t>הלקוח של התיקייה מסומן מראש (✓); אפשר לבחור כל לקוח אחר</a:t>
            </a:r>
            <a:endParaRPr lang="he-IL" sz="1500" dirty="0"/>
          </a:p>
        </p:txBody>
      </p:sp>
      <p:sp>
        <p:nvSpPr>
          <p:cNvPr id="13" name="Text 11"/>
          <p:cNvSpPr txBox="1"/>
          <p:nvPr/>
        </p:nvSpPr>
        <p:spPr>
          <a:xfrm>
            <a:off x="5888736" y="2354580"/>
            <a:ext cx="384048" cy="457200"/>
          </a:xfrm>
          <a:prstGeom prst="rect">
            <a:avLst/>
          </a:prstGeom>
          <a:noFill/>
          <a:ln/>
        </p:spPr>
        <p:txBody>
          <a:bodyPr wrap="square" lIns="0" tIns="0" rIns="0" bIns="0" rtlCol="0" anchor="ctr"/>
          <a:lstStyle/>
          <a:p>
            <a:pPr algn="ctr" indent="0" marL="0">
              <a:buNone/>
            </a:pPr>
            <a:r>
              <a:rPr lang="en-US" sz="2200" b="1" dirty="0">
                <a:solidFill>
                  <a:srgbClr val="0E6F73"/>
                </a:solidFill>
                <a:latin typeface="Arial" pitchFamily="34" charset="0"/>
                <a:ea typeface="Arial" pitchFamily="34" charset="-122"/>
                <a:cs typeface="Arial" pitchFamily="34" charset="-120"/>
              </a:rPr>
              <a:t>←</a:t>
            </a:r>
            <a:endParaRPr lang="en-US" sz="2200" dirty="0"/>
          </a:p>
        </p:txBody>
      </p:sp>
      <p:sp>
        <p:nvSpPr>
          <p:cNvPr id="14" name="Shape 12"/>
          <p:cNvSpPr/>
          <p:nvPr/>
        </p:nvSpPr>
        <p:spPr>
          <a:xfrm>
            <a:off x="3410712" y="1645920"/>
            <a:ext cx="2478024" cy="1874520"/>
          </a:xfrm>
          <a:prstGeom prst="roundRect">
            <a:avLst>
              <a:gd name="adj" fmla="val 3902"/>
            </a:avLst>
          </a:prstGeom>
          <a:solidFill>
            <a:srgbClr val="FFFFFF"/>
          </a:solidFill>
          <a:ln w="15875">
            <a:solidFill>
              <a:srgbClr val="0E6F73"/>
            </a:solidFill>
            <a:prstDash val="solid"/>
          </a:ln>
        </p:spPr>
      </p:sp>
      <p:sp>
        <p:nvSpPr>
          <p:cNvPr id="15" name="Shape 13"/>
          <p:cNvSpPr/>
          <p:nvPr/>
        </p:nvSpPr>
        <p:spPr>
          <a:xfrm>
            <a:off x="4439412" y="1435608"/>
            <a:ext cx="420624" cy="420624"/>
          </a:xfrm>
          <a:prstGeom prst="ellipse">
            <a:avLst/>
          </a:prstGeom>
          <a:solidFill>
            <a:srgbClr val="0E6F73"/>
          </a:solidFill>
          <a:ln w="12700">
            <a:solidFill>
              <a:srgbClr val="0E6F73"/>
            </a:solidFill>
            <a:prstDash val="solid"/>
          </a:ln>
        </p:spPr>
      </p:sp>
      <p:sp>
        <p:nvSpPr>
          <p:cNvPr id="16" name="Text 14"/>
          <p:cNvSpPr txBox="1"/>
          <p:nvPr/>
        </p:nvSpPr>
        <p:spPr>
          <a:xfrm>
            <a:off x="4439412" y="14356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3547872" y="1965960"/>
            <a:ext cx="2203704" cy="1463040"/>
          </a:xfrm>
          <a:prstGeom prst="rect">
            <a:avLst/>
          </a:prstGeom>
          <a:noFill/>
          <a:ln/>
        </p:spPr>
        <p:txBody>
          <a:bodyPr wrap="square" lIns="0" tIns="0" rIns="0" bIns="0" rtlCol="0" anchor="t"/>
          <a:lstStyle/>
          <a:p>
            <a:pPr algn="r" indent="0" marL="0">
              <a:buNone/>
            </a:pPr>
            <a:r>
              <a:rPr lang="he-IL" altLang="en-US" sz="1500" b="1" dirty="0">
                <a:solidFill>
                  <a:srgbClr val="1B2A33"/>
                </a:solidFill>
                <a:latin typeface="Arial" pitchFamily="34" charset="0"/>
                <a:ea typeface="Arial" pitchFamily="34" charset="-122"/>
                <a:cs typeface="Arial" pitchFamily="34" charset="-120"/>
              </a:rPr>
              <a:t>דוא״ל והודעה</a:t>
            </a:r>
            <a:endParaRPr lang="he-IL" sz="1500" dirty="0"/>
          </a:p>
          <a:p>
            <a:pPr algn="r" indent="0" marL="0">
              <a:buNone/>
            </a:pPr>
            <a:r>
              <a:rPr lang="he-IL" altLang="en-US" sz="1200" dirty="0">
                <a:solidFill>
                  <a:srgbClr val="5D6F7A"/>
                </a:solidFill>
                <a:latin typeface="Arial" pitchFamily="34" charset="0"/>
                <a:ea typeface="Arial" pitchFamily="34" charset="-122"/>
                <a:cs typeface="Arial" pitchFamily="34" charset="-120"/>
              </a:rPr>
              <a:t>כתובת הלקוח והודעה (רשות). אפשר לסמן עוד קבצים מאושרים</a:t>
            </a:r>
            <a:endParaRPr lang="he-IL" sz="1500" dirty="0"/>
          </a:p>
        </p:txBody>
      </p:sp>
      <p:sp>
        <p:nvSpPr>
          <p:cNvPr id="18" name="Text 16"/>
          <p:cNvSpPr txBox="1"/>
          <p:nvPr/>
        </p:nvSpPr>
        <p:spPr>
          <a:xfrm>
            <a:off x="3026664" y="2354580"/>
            <a:ext cx="384048" cy="457200"/>
          </a:xfrm>
          <a:prstGeom prst="rect">
            <a:avLst/>
          </a:prstGeom>
          <a:noFill/>
          <a:ln/>
        </p:spPr>
        <p:txBody>
          <a:bodyPr wrap="square" lIns="0" tIns="0" rIns="0" bIns="0" rtlCol="0" anchor="ctr"/>
          <a:lstStyle/>
          <a:p>
            <a:pPr algn="ctr" indent="0" marL="0">
              <a:buNone/>
            </a:pPr>
            <a:r>
              <a:rPr lang="en-US" sz="2200" b="1" dirty="0">
                <a:solidFill>
                  <a:srgbClr val="0E6F73"/>
                </a:solidFill>
                <a:latin typeface="Arial" pitchFamily="34" charset="0"/>
                <a:ea typeface="Arial" pitchFamily="34" charset="-122"/>
                <a:cs typeface="Arial" pitchFamily="34" charset="-120"/>
              </a:rPr>
              <a:t>←</a:t>
            </a:r>
            <a:endParaRPr lang="en-US" sz="2200" dirty="0"/>
          </a:p>
        </p:txBody>
      </p:sp>
      <p:sp>
        <p:nvSpPr>
          <p:cNvPr id="19" name="Shape 17"/>
          <p:cNvSpPr/>
          <p:nvPr/>
        </p:nvSpPr>
        <p:spPr>
          <a:xfrm>
            <a:off x="548640" y="1645920"/>
            <a:ext cx="2478024" cy="1874520"/>
          </a:xfrm>
          <a:prstGeom prst="roundRect">
            <a:avLst>
              <a:gd name="adj" fmla="val 3902"/>
            </a:avLst>
          </a:prstGeom>
          <a:solidFill>
            <a:srgbClr val="FFFFFF"/>
          </a:solidFill>
          <a:ln w="15875">
            <a:solidFill>
              <a:srgbClr val="0E6F73"/>
            </a:solidFill>
            <a:prstDash val="solid"/>
          </a:ln>
        </p:spPr>
      </p:sp>
      <p:sp>
        <p:nvSpPr>
          <p:cNvPr id="20" name="Shape 18"/>
          <p:cNvSpPr/>
          <p:nvPr/>
        </p:nvSpPr>
        <p:spPr>
          <a:xfrm>
            <a:off x="1577340" y="1435608"/>
            <a:ext cx="420624" cy="420624"/>
          </a:xfrm>
          <a:prstGeom prst="ellipse">
            <a:avLst/>
          </a:prstGeom>
          <a:solidFill>
            <a:srgbClr val="0E6F73"/>
          </a:solidFill>
          <a:ln w="12700">
            <a:solidFill>
              <a:srgbClr val="0E6F73"/>
            </a:solidFill>
            <a:prstDash val="solid"/>
          </a:ln>
        </p:spPr>
      </p:sp>
      <p:sp>
        <p:nvSpPr>
          <p:cNvPr id="21" name="Text 19"/>
          <p:cNvSpPr txBox="1"/>
          <p:nvPr/>
        </p:nvSpPr>
        <p:spPr>
          <a:xfrm>
            <a:off x="1577340" y="14356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685800" y="1965960"/>
            <a:ext cx="2203704" cy="1463040"/>
          </a:xfrm>
          <a:prstGeom prst="rect">
            <a:avLst/>
          </a:prstGeom>
          <a:noFill/>
          <a:ln/>
        </p:spPr>
        <p:txBody>
          <a:bodyPr wrap="square" lIns="0" tIns="0" rIns="0" bIns="0" rtlCol="0" anchor="t"/>
          <a:lstStyle/>
          <a:p>
            <a:pPr algn="r" indent="0" marL="0">
              <a:buNone/>
            </a:pPr>
            <a:r>
              <a:rPr lang="he-IL" altLang="en-US" sz="1500" b="1" dirty="0">
                <a:solidFill>
                  <a:srgbClr val="1B2A33"/>
                </a:solidFill>
                <a:latin typeface="Arial" pitchFamily="34" charset="0"/>
                <a:ea typeface="Arial" pitchFamily="34" charset="-122"/>
                <a:cs typeface="Arial" pitchFamily="34" charset="-120"/>
              </a:rPr>
              <a:t>שליחה</a:t>
            </a:r>
            <a:endParaRPr lang="he-IL" sz="1500" dirty="0"/>
          </a:p>
          <a:p>
            <a:pPr algn="r" indent="0" marL="0">
              <a:buNone/>
            </a:pPr>
            <a:r>
              <a:rPr lang="he-IL" altLang="en-US" sz="1200" dirty="0">
                <a:solidFill>
                  <a:srgbClr val="5D6F7A"/>
                </a:solidFill>
                <a:latin typeface="Arial" pitchFamily="34" charset="0"/>
                <a:ea typeface="Arial" pitchFamily="34" charset="-122"/>
                <a:cs typeface="Arial" pitchFamily="34" charset="-120"/>
              </a:rPr>
              <a:t>הלקוח מקבל הזמנה אישית לתיקייה, צפייה בלבד</a:t>
            </a:r>
            <a:endParaRPr lang="he-IL"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3931920"/>
          <a:ext cx="11064240" cy="914400"/>
        </p:xfrm>
        <a:graphic>
          <a:graphicData uri="http://schemas.openxmlformats.org/drawingml/2006/table">
            <a:tbl>
              <a:tblPr/>
              <a:tblGrid>
                <a:gridCol w="6949440"/>
                <a:gridCol w="4114800"/>
              </a:tblGrid>
              <a:tr h="0">
                <a:tc>
                  <a:txBody>
                    <a:bodyPr/>
                    <a:lstStyle/>
                    <a:p>
                      <a:pPr algn="r" indent="0" marL="0">
                        <a:buNone/>
                      </a:pPr>
                      <a:r>
                        <a:rPr lang="en-US" sz="1250" b="1" dirty="0">
                          <a:solidFill>
                            <a:srgbClr val="FFFFFF"/>
                          </a:solidFill>
                          <a:latin typeface="Arial" pitchFamily="34" charset="0"/>
                          <a:ea typeface="Arial" pitchFamily="34" charset="-122"/>
                          <a:cs typeface="Arial" pitchFamily="34" charset="-120"/>
                        </a:rPr>
                        <a:t>מה קורה</a:t>
                      </a:r>
                      <a:endParaRPr lang="en-US" sz="125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0E6F73"/>
                    </a:solidFill>
                  </a:tcPr>
                </a:tc>
                <a:tc>
                  <a:txBody>
                    <a:bodyPr/>
                    <a:lstStyle/>
                    <a:p>
                      <a:pPr algn="r" indent="0" marL="0">
                        <a:buNone/>
                      </a:pPr>
                      <a:r>
                        <a:rPr lang="en-US" sz="1250" b="1" dirty="0">
                          <a:solidFill>
                            <a:srgbClr val="FFFFFF"/>
                          </a:solidFill>
                          <a:latin typeface="Arial" pitchFamily="34" charset="0"/>
                          <a:ea typeface="Arial" pitchFamily="34" charset="-122"/>
                          <a:cs typeface="Arial" pitchFamily="34" charset="-120"/>
                        </a:rPr>
                        <a:t>איפה</a:t>
                      </a:r>
                      <a:endParaRPr lang="en-US" sz="125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0E6F73"/>
                    </a:solidFill>
                  </a:tcPr>
                </a:tc>
              </a:tr>
              <a:tr h="0">
                <a:tc>
                  <a:txBody>
                    <a:bodyPr/>
                    <a:lstStyle/>
                    <a:p>
                      <a:pPr algn="r" indent="0" marL="0">
                        <a:buNone/>
                      </a:pPr>
                      <a:r>
                        <a:rPr lang="en-US" sz="1250" dirty="0">
                          <a:solidFill>
                            <a:srgbClr val="1B2A33"/>
                          </a:solidFill>
                          <a:latin typeface="Arial" pitchFamily="34" charset="0"/>
                          <a:ea typeface="Arial" pitchFamily="34" charset="-122"/>
                          <a:cs typeface="Arial" pitchFamily="34" charset="-120"/>
                        </a:rPr>
                        <a:t>הקבצים מועתקים לתיקיית הלקוח, כל שיתוף נוסף מתווסף אליה</a:t>
                      </a:r>
                      <a:endParaRPr lang="en-US" sz="125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B2A33"/>
                          </a:solidFill>
                          <a:latin typeface="Arial" pitchFamily="34" charset="0"/>
                          <a:ea typeface="Arial" pitchFamily="34" charset="-122"/>
                          <a:cs typeface="Arial" pitchFamily="34" charset="-120"/>
                        </a:rPr>
                        <a:t>LargeFileExchange: Outbound/&lt;לקוח&gt;</a:t>
                      </a:r>
                      <a:endParaRPr lang="en-US" sz="125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r h="0">
                <a:tc>
                  <a:txBody>
                    <a:bodyPr/>
                    <a:lstStyle/>
                    <a:p>
                      <a:pPr algn="r" indent="0" marL="0">
                        <a:buNone/>
                      </a:pPr>
                      <a:r>
                        <a:rPr lang="en-US" sz="1250" dirty="0">
                          <a:solidFill>
                            <a:srgbClr val="1B2A33"/>
                          </a:solidFill>
                          <a:latin typeface="Arial" pitchFamily="34" charset="0"/>
                          <a:ea typeface="Arial" pitchFamily="34" charset="-122"/>
                          <a:cs typeface="Arial" pitchFamily="34" charset="-120"/>
                        </a:rPr>
                        <a:t>הקבצים נמחקים 30 יום אחרי השיתוף האחרון שלהם; "עד &lt;תאריך&gt;" מוצג בתהליכי האישור</a:t>
                      </a:r>
                      <a:endParaRPr lang="en-US" sz="125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B2A33"/>
                          </a:solidFill>
                          <a:latin typeface="Arial" pitchFamily="34" charset="0"/>
                          <a:ea typeface="Arial" pitchFamily="34" charset="-122"/>
                          <a:cs typeface="Arial" pitchFamily="34" charset="-120"/>
                        </a:rPr>
                        <a:t>אתר העברת הקבצים</a:t>
                      </a:r>
                      <a:endParaRPr lang="en-US" sz="125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r h="0">
                <a:tc>
                  <a:txBody>
                    <a:bodyPr/>
                    <a:lstStyle/>
                    <a:p>
                      <a:pPr algn="r" indent="0" marL="0">
                        <a:buNone/>
                      </a:pPr>
                      <a:r>
                        <a:rPr lang="en-US" sz="1250" dirty="0">
                          <a:solidFill>
                            <a:srgbClr val="1B2A33"/>
                          </a:solidFill>
                          <a:latin typeface="Arial" pitchFamily="34" charset="0"/>
                          <a:ea typeface="Arial" pitchFamily="34" charset="-122"/>
                          <a:cs typeface="Arial" pitchFamily="34" charset="-120"/>
                        </a:rPr>
                        <a:t>קיצור דרך DMS_&lt;לקוח&gt; לתיקייה</a:t>
                      </a:r>
                      <a:endParaRPr lang="en-US" sz="125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B2A33"/>
                          </a:solidFill>
                          <a:latin typeface="Arial" pitchFamily="34" charset="0"/>
                          <a:ea typeface="Arial" pitchFamily="34" charset="-122"/>
                          <a:cs typeface="Arial" pitchFamily="34" charset="-120"/>
                        </a:rPr>
                        <a:t>OneDrive ← DMS Shortcuts</a:t>
                      </a:r>
                      <a:endParaRPr lang="en-US" sz="125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r h="0">
                <a:tc>
                  <a:txBody>
                    <a:bodyPr/>
                    <a:lstStyle/>
                    <a:p>
                      <a:pPr algn="r" indent="0" marL="0">
                        <a:buNone/>
                      </a:pPr>
                      <a:r>
                        <a:rPr lang="en-US" sz="1250" dirty="0">
                          <a:solidFill>
                            <a:srgbClr val="1B2A33"/>
                          </a:solidFill>
                          <a:latin typeface="Arial" pitchFamily="34" charset="0"/>
                          <a:ea typeface="Arial" pitchFamily="34" charset="-122"/>
                          <a:cs typeface="Arial" pitchFamily="34" charset="-120"/>
                        </a:rPr>
                        <a:t>יומן השיתופים, שורה לכל שיתוף; לקריאה בלבד</a:t>
                      </a:r>
                      <a:endParaRPr lang="en-US" sz="125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B2A33"/>
                          </a:solidFill>
                          <a:latin typeface="Arial" pitchFamily="34" charset="0"/>
                          <a:ea typeface="Arial" pitchFamily="34" charset="-122"/>
                          <a:cs typeface="Arial" pitchFamily="34" charset="-120"/>
                        </a:rPr>
                        <a:t>02_Customers\&lt;לקוח&gt;\Shared</a:t>
                      </a:r>
                      <a:endParaRPr lang="en-US" sz="125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rtl="1" algn="r" indent="0" marL="0">
              <a:buNone/>
            </a:pPr>
            <a:r>
              <a:rPr lang="he-IL" altLang="en-US" sz="3200" b="1" dirty="0">
                <a:solidFill>
                  <a:srgbClr val="1B2A33"/>
                </a:solidFill>
                <a:latin typeface="Arial" pitchFamily="34" charset="0"/>
                <a:ea typeface="Arial" pitchFamily="34" charset="-122"/>
                <a:cs typeface="Arial" pitchFamily="34" charset="-120"/>
              </a:rPr>
              <a:t>AI Insights</a:t>
            </a:r>
            <a:endParaRPr lang="he-IL"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rtl="1" algn="r" indent="0" marL="0">
              <a:buNone/>
            </a:pPr>
            <a:r>
              <a:rPr lang="he-IL" altLang="en-US" sz="1500" dirty="0">
                <a:solidFill>
                  <a:srgbClr val="5D6F7A"/>
                </a:solidFill>
                <a:latin typeface="Arial" pitchFamily="34" charset="0"/>
                <a:ea typeface="Arial" pitchFamily="34" charset="-122"/>
                <a:cs typeface="Arial" pitchFamily="34" charset="-120"/>
              </a:rPr>
              <a:t>שאלות על מסמך או על הידע הארגוני, מה-AI הפנימי של RH</a:t>
            </a:r>
            <a:endParaRPr lang="he-IL" sz="1500" dirty="0"/>
          </a:p>
        </p:txBody>
      </p:sp>
      <p:sp>
        <p:nvSpPr>
          <p:cNvPr id="4" name="Shape 2"/>
          <p:cNvSpPr/>
          <p:nvPr/>
        </p:nvSpPr>
        <p:spPr>
          <a:xfrm>
            <a:off x="8107680" y="1645920"/>
            <a:ext cx="3505200" cy="2468880"/>
          </a:xfrm>
          <a:prstGeom prst="roundRect">
            <a:avLst>
              <a:gd name="adj" fmla="val 2963"/>
            </a:avLst>
          </a:prstGeom>
          <a:solidFill>
            <a:srgbClr val="FFFFFF"/>
          </a:solidFill>
          <a:ln w="12700">
            <a:solidFill>
              <a:srgbClr val="C9D3D9"/>
            </a:solidFill>
            <a:prstDash val="solid"/>
          </a:ln>
        </p:spPr>
      </p:sp>
      <p:sp>
        <p:nvSpPr>
          <p:cNvPr id="5" name="Shape 3"/>
          <p:cNvSpPr/>
          <p:nvPr/>
        </p:nvSpPr>
        <p:spPr>
          <a:xfrm>
            <a:off x="11045952" y="1828800"/>
            <a:ext cx="384048" cy="384048"/>
          </a:xfrm>
          <a:prstGeom prst="ellipse">
            <a:avLst/>
          </a:prstGeom>
          <a:solidFill>
            <a:srgbClr val="0E6F73"/>
          </a:solidFill>
          <a:ln w="12700">
            <a:solidFill>
              <a:srgbClr val="0E6F73"/>
            </a:solidFill>
            <a:prstDash val="solid"/>
          </a:ln>
        </p:spPr>
      </p:sp>
      <p:sp>
        <p:nvSpPr>
          <p:cNvPr id="6" name="Text 4"/>
          <p:cNvSpPr txBox="1"/>
          <p:nvPr/>
        </p:nvSpPr>
        <p:spPr>
          <a:xfrm>
            <a:off x="11045952" y="1828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290560" y="1828800"/>
            <a:ext cx="2636520" cy="384048"/>
          </a:xfrm>
          <a:prstGeom prst="rect">
            <a:avLst/>
          </a:prstGeom>
          <a:noFill/>
          <a:ln/>
        </p:spPr>
        <p:txBody>
          <a:bodyPr wrap="square" lIns="0" tIns="0" rIns="0" bIns="0" rtlCol="0" anchor="ctr"/>
          <a:lstStyle/>
          <a:p>
            <a:pPr rtl="1" algn="r" indent="0" marL="0">
              <a:buNone/>
            </a:pPr>
            <a:r>
              <a:rPr lang="he-IL" altLang="en-US" sz="1600" b="1" dirty="0">
                <a:solidFill>
                  <a:srgbClr val="1B2A33"/>
                </a:solidFill>
                <a:latin typeface="Arial" pitchFamily="34" charset="0"/>
                <a:ea typeface="Arial" pitchFamily="34" charset="-122"/>
                <a:cs typeface="Arial" pitchFamily="34" charset="-120"/>
              </a:rPr>
              <a:t>על מסמך</a:t>
            </a:r>
            <a:endParaRPr lang="he-IL" sz="1600" dirty="0"/>
          </a:p>
        </p:txBody>
      </p:sp>
      <p:sp>
        <p:nvSpPr>
          <p:cNvPr id="8" name="Text 6"/>
          <p:cNvSpPr txBox="1"/>
          <p:nvPr/>
        </p:nvSpPr>
        <p:spPr>
          <a:xfrm>
            <a:off x="8290560" y="2304288"/>
            <a:ext cx="3139440" cy="1691640"/>
          </a:xfrm>
          <a:prstGeom prst="rect">
            <a:avLst/>
          </a:prstGeom>
          <a:noFill/>
          <a:ln/>
        </p:spPr>
        <p:txBody>
          <a:bodyPr wrap="square" lIns="0" tIns="0" rIns="0" bIns="0" rtlCol="0" anchor="t"/>
          <a:lstStyle/>
          <a:p>
            <a:pPr rtl="1" algn="r" indent="0" marL="0">
              <a:buNone/>
            </a:pPr>
            <a:r>
              <a:rPr lang="he-IL" altLang="en-US" sz="1300" dirty="0">
                <a:solidFill>
                  <a:srgbClr val="5D6F7A"/>
                </a:solidFill>
                <a:latin typeface="Arial" pitchFamily="34" charset="0"/>
                <a:ea typeface="Arial" pitchFamily="34" charset="-122"/>
                <a:cs typeface="Arial" pitchFamily="34" charset="-120"/>
              </a:rPr>
              <a:t>בוחרים קובץ ושואלים: סיכום, דרישות עיקריות, סיכונים, תאריכים. הקובץ נשלח ל-AI הפנימי בלבד.</a:t>
            </a:r>
            <a:endParaRPr lang="he-IL" sz="1300" dirty="0"/>
          </a:p>
        </p:txBody>
      </p:sp>
      <p:sp>
        <p:nvSpPr>
          <p:cNvPr id="9" name="Shape 7"/>
          <p:cNvSpPr/>
          <p:nvPr/>
        </p:nvSpPr>
        <p:spPr>
          <a:xfrm>
            <a:off x="4328160" y="1645920"/>
            <a:ext cx="3505200" cy="2468880"/>
          </a:xfrm>
          <a:prstGeom prst="roundRect">
            <a:avLst>
              <a:gd name="adj" fmla="val 2963"/>
            </a:avLst>
          </a:prstGeom>
          <a:solidFill>
            <a:srgbClr val="FFFFFF"/>
          </a:solidFill>
          <a:ln w="12700">
            <a:solidFill>
              <a:srgbClr val="C9D3D9"/>
            </a:solidFill>
            <a:prstDash val="solid"/>
          </a:ln>
        </p:spPr>
      </p:sp>
      <p:sp>
        <p:nvSpPr>
          <p:cNvPr id="10" name="Shape 8"/>
          <p:cNvSpPr/>
          <p:nvPr/>
        </p:nvSpPr>
        <p:spPr>
          <a:xfrm>
            <a:off x="7266432" y="1828800"/>
            <a:ext cx="384048" cy="384048"/>
          </a:xfrm>
          <a:prstGeom prst="ellipse">
            <a:avLst/>
          </a:prstGeom>
          <a:solidFill>
            <a:srgbClr val="0E6F73"/>
          </a:solidFill>
          <a:ln w="12700">
            <a:solidFill>
              <a:srgbClr val="0E6F73"/>
            </a:solidFill>
            <a:prstDash val="solid"/>
          </a:ln>
        </p:spPr>
      </p:sp>
      <p:sp>
        <p:nvSpPr>
          <p:cNvPr id="11" name="Text 9"/>
          <p:cNvSpPr txBox="1"/>
          <p:nvPr/>
        </p:nvSpPr>
        <p:spPr>
          <a:xfrm>
            <a:off x="7266432" y="1828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511040" y="1828800"/>
            <a:ext cx="2636520" cy="384048"/>
          </a:xfrm>
          <a:prstGeom prst="rect">
            <a:avLst/>
          </a:prstGeom>
          <a:noFill/>
          <a:ln/>
        </p:spPr>
        <p:txBody>
          <a:bodyPr wrap="square" lIns="0" tIns="0" rIns="0" bIns="0" rtlCol="0" anchor="ctr"/>
          <a:lstStyle/>
          <a:p>
            <a:pPr rtl="1" algn="r" indent="0" marL="0">
              <a:buNone/>
            </a:pPr>
            <a:r>
              <a:rPr lang="he-IL" altLang="en-US" sz="1600" b="1" dirty="0">
                <a:solidFill>
                  <a:srgbClr val="1B2A33"/>
                </a:solidFill>
                <a:latin typeface="Arial" pitchFamily="34" charset="0"/>
                <a:ea typeface="Arial" pitchFamily="34" charset="-122"/>
                <a:cs typeface="Arial" pitchFamily="34" charset="-120"/>
              </a:rPr>
              <a:t>ידע ארגוני</a:t>
            </a:r>
            <a:endParaRPr lang="he-IL" sz="1600" dirty="0"/>
          </a:p>
        </p:txBody>
      </p:sp>
      <p:sp>
        <p:nvSpPr>
          <p:cNvPr id="13" name="Text 11"/>
          <p:cNvSpPr txBox="1"/>
          <p:nvPr/>
        </p:nvSpPr>
        <p:spPr>
          <a:xfrm>
            <a:off x="4511040" y="2304288"/>
            <a:ext cx="3139440" cy="1691640"/>
          </a:xfrm>
          <a:prstGeom prst="rect">
            <a:avLst/>
          </a:prstGeom>
          <a:noFill/>
          <a:ln/>
        </p:spPr>
        <p:txBody>
          <a:bodyPr wrap="square" lIns="0" tIns="0" rIns="0" bIns="0" rtlCol="0" anchor="t"/>
          <a:lstStyle/>
          <a:p>
            <a:pPr rtl="1" algn="r" indent="0" marL="0">
              <a:buNone/>
            </a:pPr>
            <a:r>
              <a:rPr lang="he-IL" altLang="en-US" sz="1300" dirty="0">
                <a:solidFill>
                  <a:srgbClr val="5D6F7A"/>
                </a:solidFill>
                <a:latin typeface="Arial" pitchFamily="34" charset="0"/>
                <a:ea typeface="Arial" pitchFamily="34" charset="-122"/>
                <a:cs typeface="Arial" pitchFamily="34" charset="-120"/>
              </a:rPr>
              <a:t>שאלה כללית על הידע של RH, בלי קובץ.</a:t>
            </a:r>
            <a:endParaRPr lang="he-IL" sz="1300" dirty="0"/>
          </a:p>
        </p:txBody>
      </p:sp>
      <p:sp>
        <p:nvSpPr>
          <p:cNvPr id="14" name="Shape 12"/>
          <p:cNvSpPr/>
          <p:nvPr/>
        </p:nvSpPr>
        <p:spPr>
          <a:xfrm>
            <a:off x="548640" y="1645920"/>
            <a:ext cx="3505200" cy="2468880"/>
          </a:xfrm>
          <a:prstGeom prst="roundRect">
            <a:avLst>
              <a:gd name="adj" fmla="val 2963"/>
            </a:avLst>
          </a:prstGeom>
          <a:solidFill>
            <a:srgbClr val="FFFFFF"/>
          </a:solidFill>
          <a:ln w="12700">
            <a:solidFill>
              <a:srgbClr val="C9D3D9"/>
            </a:solidFill>
            <a:prstDash val="solid"/>
          </a:ln>
        </p:spPr>
      </p:sp>
      <p:sp>
        <p:nvSpPr>
          <p:cNvPr id="15" name="Shape 13"/>
          <p:cNvSpPr/>
          <p:nvPr/>
        </p:nvSpPr>
        <p:spPr>
          <a:xfrm>
            <a:off x="3486912" y="1828800"/>
            <a:ext cx="384048" cy="384048"/>
          </a:xfrm>
          <a:prstGeom prst="ellipse">
            <a:avLst/>
          </a:prstGeom>
          <a:solidFill>
            <a:srgbClr val="0E6F73"/>
          </a:solidFill>
          <a:ln w="12700">
            <a:solidFill>
              <a:srgbClr val="0E6F73"/>
            </a:solidFill>
            <a:prstDash val="solid"/>
          </a:ln>
        </p:spPr>
      </p:sp>
      <p:sp>
        <p:nvSpPr>
          <p:cNvPr id="16" name="Text 14"/>
          <p:cNvSpPr txBox="1"/>
          <p:nvPr/>
        </p:nvSpPr>
        <p:spPr>
          <a:xfrm>
            <a:off x="3486912" y="1828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731520" y="1828800"/>
            <a:ext cx="2636520" cy="384048"/>
          </a:xfrm>
          <a:prstGeom prst="rect">
            <a:avLst/>
          </a:prstGeom>
          <a:noFill/>
          <a:ln/>
        </p:spPr>
        <p:txBody>
          <a:bodyPr wrap="square" lIns="0" tIns="0" rIns="0" bIns="0" rtlCol="0" anchor="ctr"/>
          <a:lstStyle/>
          <a:p>
            <a:pPr rtl="1" algn="r" indent="0" marL="0">
              <a:buNone/>
            </a:pPr>
            <a:r>
              <a:rPr lang="he-IL" altLang="en-US" sz="1600" b="1" dirty="0">
                <a:solidFill>
                  <a:srgbClr val="1B2A33"/>
                </a:solidFill>
                <a:latin typeface="Arial" pitchFamily="34" charset="0"/>
                <a:ea typeface="Arial" pitchFamily="34" charset="-122"/>
                <a:cs typeface="Arial" pitchFamily="34" charset="-120"/>
              </a:rPr>
              <a:t>QMS</a:t>
            </a:r>
            <a:endParaRPr lang="he-IL" sz="1600" dirty="0"/>
          </a:p>
        </p:txBody>
      </p:sp>
      <p:sp>
        <p:nvSpPr>
          <p:cNvPr id="18" name="Text 16"/>
          <p:cNvSpPr txBox="1"/>
          <p:nvPr/>
        </p:nvSpPr>
        <p:spPr>
          <a:xfrm>
            <a:off x="731520" y="2304288"/>
            <a:ext cx="3139440" cy="1691640"/>
          </a:xfrm>
          <a:prstGeom prst="rect">
            <a:avLst/>
          </a:prstGeom>
          <a:noFill/>
          <a:ln/>
        </p:spPr>
        <p:txBody>
          <a:bodyPr wrap="square" lIns="0" tIns="0" rIns="0" bIns="0" rtlCol="0" anchor="t"/>
          <a:lstStyle/>
          <a:p>
            <a:pPr rtl="1" algn="r" indent="0" marL="0">
              <a:buNone/>
            </a:pPr>
            <a:r>
              <a:rPr lang="he-IL" altLang="en-US" sz="1300" dirty="0">
                <a:solidFill>
                  <a:srgbClr val="5D6F7A"/>
                </a:solidFill>
                <a:latin typeface="Arial" pitchFamily="34" charset="0"/>
                <a:ea typeface="Arial" pitchFamily="34" charset="-122"/>
                <a:cs typeface="Arial" pitchFamily="34" charset="-120"/>
              </a:rPr>
              <a:t>לשונית הנהלים והאיכות (RAG): התשובה כוללת את המקורות, מזהה הנוהל והסעיף.</a:t>
            </a:r>
            <a:endParaRPr lang="he-IL" sz="1300" dirty="0"/>
          </a:p>
        </p:txBody>
      </p:sp>
      <p:sp>
        <p:nvSpPr>
          <p:cNvPr id="19" name="Shape 17"/>
          <p:cNvSpPr/>
          <p:nvPr/>
        </p:nvSpPr>
        <p:spPr>
          <a:xfrm>
            <a:off x="548640" y="4480560"/>
            <a:ext cx="11064240" cy="566928"/>
          </a:xfrm>
          <a:prstGeom prst="roundRect">
            <a:avLst>
              <a:gd name="adj" fmla="val 12903"/>
            </a:avLst>
          </a:prstGeom>
          <a:solidFill>
            <a:srgbClr val="D9EEEE"/>
          </a:solidFill>
          <a:ln w="12700">
            <a:solidFill>
              <a:srgbClr val="D9EEEE"/>
            </a:solidFill>
            <a:prstDash val="solid"/>
          </a:ln>
        </p:spPr>
      </p:sp>
      <p:sp>
        <p:nvSpPr>
          <p:cNvPr id="20" name="Text 18"/>
          <p:cNvSpPr txBox="1"/>
          <p:nvPr/>
        </p:nvSpPr>
        <p:spPr>
          <a:xfrm>
            <a:off x="731520" y="4480560"/>
            <a:ext cx="10698480" cy="566928"/>
          </a:xfrm>
          <a:prstGeom prst="rect">
            <a:avLst/>
          </a:prstGeom>
          <a:noFill/>
          <a:ln/>
        </p:spPr>
        <p:txBody>
          <a:bodyPr wrap="square" lIns="0" tIns="0" rIns="0" bIns="0" rtlCol="0" anchor="ctr"/>
          <a:lstStyle/>
          <a:p>
            <a:pPr rtl="1" algn="r" indent="0" marL="0">
              <a:buNone/>
            </a:pPr>
            <a:r>
              <a:rPr lang="he-IL" altLang="en-US" sz="1300" dirty="0">
                <a:solidFill>
                  <a:srgbClr val="1B2A33"/>
                </a:solidFill>
                <a:latin typeface="Arial" pitchFamily="34" charset="0"/>
                <a:ea typeface="Arial" pitchFamily="34" charset="-122"/>
                <a:cs typeface="Arial" pitchFamily="34" charset="-120"/>
              </a:rPr>
              <a:t>התשובה מגיעה בשפת השאלה. בדקו עובדות חשובות במסמך עצמו. כל שאלה נרשמת ביומן הביקורת.</a:t>
            </a:r>
            <a:endParaRPr lang="he-IL"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rtl="1" algn="r" indent="0" marL="0">
              <a:buNone/>
            </a:pPr>
            <a:r>
              <a:rPr lang="he-IL" altLang="en-US" sz="3200" b="1" dirty="0">
                <a:solidFill>
                  <a:srgbClr val="1B2A33"/>
                </a:solidFill>
                <a:latin typeface="Arial" pitchFamily="34" charset="0"/>
                <a:ea typeface="Arial" pitchFamily="34" charset="-122"/>
                <a:cs typeface="Arial" pitchFamily="34" charset="-120"/>
              </a:rPr>
              <a:t>מה נשמר ב-SharePoint</a:t>
            </a:r>
            <a:endParaRPr lang="he-IL"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rtl="1" algn="r" indent="0" marL="0">
              <a:buNone/>
            </a:pPr>
            <a:r>
              <a:rPr lang="he-IL" altLang="en-US" sz="1500" dirty="0">
                <a:solidFill>
                  <a:srgbClr val="5D6F7A"/>
                </a:solidFill>
                <a:latin typeface="Arial" pitchFamily="34" charset="0"/>
                <a:ea typeface="Arial" pitchFamily="34" charset="-122"/>
                <a:cs typeface="Arial" pitchFamily="34" charset="-120"/>
              </a:rPr>
              <a:t>אתר DocumentControl-TEST: רשימות לקריאה בלבד למשתמשים</a:t>
            </a:r>
            <a:endParaRPr lang="he-IL"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7863840"/>
                <a:gridCol w="3200400"/>
              </a:tblGrid>
              <a:tr h="0">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מה יש בה</a:t>
                      </a:r>
                      <a:endParaRPr lang="en-US" sz="13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0E6F73"/>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רשימה</a:t>
                      </a:r>
                      <a:endParaRPr lang="en-US" sz="13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0E6F73"/>
                    </a:solidFill>
                  </a:tcPr>
                </a:tc>
              </a:tr>
              <a:tr h="0">
                <a:tc>
                  <a:txBody>
                    <a:bodyPr/>
                    <a:lstStyle/>
                    <a:p>
                      <a:pPr algn="r" indent="0" marL="0">
                        <a:buNone/>
                      </a:pPr>
                      <a:r>
                        <a:rPr lang="en-US" sz="1300" dirty="0">
                          <a:solidFill>
                            <a:srgbClr val="1B2A33"/>
                          </a:solidFill>
                          <a:latin typeface="Arial" pitchFamily="34" charset="0"/>
                          <a:ea typeface="Arial" pitchFamily="34" charset="-122"/>
                          <a:cs typeface="Arial" pitchFamily="34" charset="-120"/>
                        </a:rPr>
                        <a:t>שורה לכל מסמך: מזהה, סוג, תחום, סטטוס, גרסה, נתיבים, SHA-256</a:t>
                      </a:r>
                      <a:endParaRPr lang="en-US" sz="13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A33"/>
                          </a:solidFill>
                          <a:latin typeface="Arial" pitchFamily="34" charset="0"/>
                          <a:ea typeface="Arial" pitchFamily="34" charset="-122"/>
                          <a:cs typeface="Arial" pitchFamily="34" charset="-120"/>
                        </a:rPr>
                        <a:t>מרשם מסמכים</a:t>
                      </a:r>
                      <a:endParaRPr lang="en-US" sz="13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r h="0">
                <a:tc>
                  <a:txBody>
                    <a:bodyPr/>
                    <a:lstStyle/>
                    <a:p>
                      <a:pPr algn="r" indent="0" marL="0">
                        <a:buNone/>
                      </a:pPr>
                      <a:r>
                        <a:rPr lang="en-US" sz="1300" dirty="0">
                          <a:solidFill>
                            <a:srgbClr val="1B2A33"/>
                          </a:solidFill>
                          <a:latin typeface="Arial" pitchFamily="34" charset="0"/>
                          <a:ea typeface="Arial" pitchFamily="34" charset="-122"/>
                          <a:cs typeface="Arial" pitchFamily="34" charset="-120"/>
                        </a:rPr>
                        <a:t>כל פעולה: נוצר, הוגש, אושר, נדחה, הועבר, שותף, פג תוקף, שאלות AI</a:t>
                      </a:r>
                      <a:endParaRPr lang="en-US" sz="13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A33"/>
                          </a:solidFill>
                          <a:latin typeface="Arial" pitchFamily="34" charset="0"/>
                          <a:ea typeface="Arial" pitchFamily="34" charset="-122"/>
                          <a:cs typeface="Arial" pitchFamily="34" charset="-120"/>
                        </a:rPr>
                        <a:t>יומן ביקורת</a:t>
                      </a:r>
                      <a:endParaRPr lang="en-US" sz="13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r h="0">
                <a:tc>
                  <a:txBody>
                    <a:bodyPr/>
                    <a:lstStyle/>
                    <a:p>
                      <a:pPr algn="r" indent="0" marL="0">
                        <a:buNone/>
                      </a:pPr>
                      <a:r>
                        <a:rPr lang="en-US" sz="1300" dirty="0">
                          <a:solidFill>
                            <a:srgbClr val="1B2A33"/>
                          </a:solidFill>
                          <a:latin typeface="Arial" pitchFamily="34" charset="0"/>
                          <a:ea typeface="Arial" pitchFamily="34" charset="-122"/>
                          <a:cs typeface="Arial" pitchFamily="34" charset="-120"/>
                        </a:rPr>
                        <a:t>שורה לכל אישור, דחייה והאצלה, עם שלב, תפקיד והערה</a:t>
                      </a:r>
                      <a:endParaRPr lang="en-US" sz="13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A33"/>
                          </a:solidFill>
                          <a:latin typeface="Arial" pitchFamily="34" charset="0"/>
                          <a:ea typeface="Arial" pitchFamily="34" charset="-122"/>
                          <a:cs typeface="Arial" pitchFamily="34" charset="-120"/>
                        </a:rPr>
                        <a:t>החלטות מאשרים</a:t>
                      </a:r>
                      <a:endParaRPr lang="en-US" sz="13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r h="0">
                <a:tc>
                  <a:txBody>
                    <a:bodyPr/>
                    <a:lstStyle/>
                    <a:p>
                      <a:pPr algn="r" indent="0" marL="0">
                        <a:buNone/>
                      </a:pPr>
                      <a:r>
                        <a:rPr lang="en-US" sz="1300" dirty="0">
                          <a:solidFill>
                            <a:srgbClr val="1B2A33"/>
                          </a:solidFill>
                          <a:latin typeface="Arial" pitchFamily="34" charset="0"/>
                          <a:ea typeface="Arial" pitchFamily="34" charset="-122"/>
                          <a:cs typeface="Arial" pitchFamily="34" charset="-120"/>
                        </a:rPr>
                        <a:t>מי מאשר כל סוג מסמך (חובה וסופי)</a:t>
                      </a:r>
                      <a:endParaRPr lang="en-US" sz="13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A33"/>
                          </a:solidFill>
                          <a:latin typeface="Arial" pitchFamily="34" charset="0"/>
                          <a:ea typeface="Arial" pitchFamily="34" charset="-122"/>
                          <a:cs typeface="Arial" pitchFamily="34" charset="-120"/>
                        </a:rPr>
                        <a:t>מטריצת מאשרים</a:t>
                      </a:r>
                      <a:endParaRPr lang="en-US" sz="13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r h="0">
                <a:tc>
                  <a:txBody>
                    <a:bodyPr/>
                    <a:lstStyle/>
                    <a:p>
                      <a:pPr algn="r" indent="0" marL="0">
                        <a:buNone/>
                      </a:pPr>
                      <a:r>
                        <a:rPr lang="en-US" sz="1300" dirty="0">
                          <a:solidFill>
                            <a:srgbClr val="1B2A33"/>
                          </a:solidFill>
                          <a:latin typeface="Arial" pitchFamily="34" charset="0"/>
                          <a:ea typeface="Arial" pitchFamily="34" charset="-122"/>
                          <a:cs typeface="Arial" pitchFamily="34" charset="-120"/>
                        </a:rPr>
                        <a:t>כל האצלה: ממי, למי, מתאריך, עד תאריך, סיבה</a:t>
                      </a:r>
                      <a:endParaRPr lang="en-US" sz="13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A33"/>
                          </a:solidFill>
                          <a:latin typeface="Arial" pitchFamily="34" charset="0"/>
                          <a:ea typeface="Arial" pitchFamily="34" charset="-122"/>
                          <a:cs typeface="Arial" pitchFamily="34" charset="-120"/>
                        </a:rPr>
                        <a:t>האצלות</a:t>
                      </a:r>
                      <a:endParaRPr lang="en-US" sz="13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r h="0">
                <a:tc>
                  <a:txBody>
                    <a:bodyPr/>
                    <a:lstStyle/>
                    <a:p>
                      <a:pPr algn="r" indent="0" marL="0">
                        <a:buNone/>
                      </a:pPr>
                      <a:r>
                        <a:rPr lang="en-US" sz="1300" dirty="0">
                          <a:solidFill>
                            <a:srgbClr val="1B2A33"/>
                          </a:solidFill>
                          <a:latin typeface="Arial" pitchFamily="34" charset="0"/>
                          <a:ea typeface="Arial" pitchFamily="34" charset="-122"/>
                          <a:cs typeface="Arial" pitchFamily="34" charset="-120"/>
                        </a:rPr>
                        <a:t>כל התראה במייל וב-Teams</a:t>
                      </a:r>
                      <a:endParaRPr lang="en-US" sz="13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A33"/>
                          </a:solidFill>
                          <a:latin typeface="Arial" pitchFamily="34" charset="0"/>
                          <a:ea typeface="Arial" pitchFamily="34" charset="-122"/>
                          <a:cs typeface="Arial" pitchFamily="34" charset="-120"/>
                        </a:rPr>
                        <a:t>DMS Notifications</a:t>
                      </a:r>
                      <a:endParaRPr lang="en-US" sz="1300" dirty="0">
                        <a:latin typeface="Arial" charset="0"/>
                        <a:ea typeface="Arial" charset="0"/>
                        <a:cs typeface="Arial" charset="0"/>
                      </a:endParaRPr>
                    </a:p>
                  </a:txBody>
                  <a:tcPr marL="101600" marR="101600" marT="50800" marB="5080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rtl="1" algn="r" indent="0" marL="0">
              <a:buNone/>
            </a:pPr>
            <a:r>
              <a:rPr lang="he-IL" altLang="en-US" sz="3200" b="1" dirty="0">
                <a:solidFill>
                  <a:srgbClr val="1B2A33"/>
                </a:solidFill>
                <a:latin typeface="Arial" pitchFamily="34" charset="0"/>
                <a:ea typeface="Arial" pitchFamily="34" charset="-122"/>
                <a:cs typeface="Arial" pitchFamily="34" charset="-120"/>
              </a:rPr>
              <a:t>כללים חשובים</a:t>
            </a:r>
            <a:endParaRPr lang="he-IL" sz="3200" dirty="0"/>
          </a:p>
        </p:txBody>
      </p:sp>
      <p:sp>
        <p:nvSpPr>
          <p:cNvPr id="3" name="Shape 1"/>
          <p:cNvSpPr/>
          <p:nvPr/>
        </p:nvSpPr>
        <p:spPr>
          <a:xfrm>
            <a:off x="8107680" y="1463040"/>
            <a:ext cx="3505200" cy="2103120"/>
          </a:xfrm>
          <a:prstGeom prst="roundRect">
            <a:avLst>
              <a:gd name="adj" fmla="val 3478"/>
            </a:avLst>
          </a:prstGeom>
          <a:solidFill>
            <a:srgbClr val="FFFFFF"/>
          </a:solidFill>
          <a:ln w="12700">
            <a:solidFill>
              <a:srgbClr val="C9D3D9"/>
            </a:solidFill>
            <a:prstDash val="solid"/>
          </a:ln>
        </p:spPr>
      </p:sp>
      <p:sp>
        <p:nvSpPr>
          <p:cNvPr id="4" name="Shape 2"/>
          <p:cNvSpPr/>
          <p:nvPr/>
        </p:nvSpPr>
        <p:spPr>
          <a:xfrm>
            <a:off x="11045952" y="1645920"/>
            <a:ext cx="384048" cy="384048"/>
          </a:xfrm>
          <a:prstGeom prst="ellipse">
            <a:avLst/>
          </a:prstGeom>
          <a:solidFill>
            <a:srgbClr val="0E6F73"/>
          </a:solidFill>
          <a:ln w="12700">
            <a:solidFill>
              <a:srgbClr val="0E6F73"/>
            </a:solidFill>
            <a:prstDash val="solid"/>
          </a:ln>
        </p:spPr>
      </p:sp>
      <p:sp>
        <p:nvSpPr>
          <p:cNvPr id="5" name="Text 3"/>
          <p:cNvSpPr txBox="1"/>
          <p:nvPr/>
        </p:nvSpPr>
        <p:spPr>
          <a:xfrm>
            <a:off x="11045952"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8290560" y="1645920"/>
            <a:ext cx="2636520" cy="384048"/>
          </a:xfrm>
          <a:prstGeom prst="rect">
            <a:avLst/>
          </a:prstGeom>
          <a:noFill/>
          <a:ln/>
        </p:spPr>
        <p:txBody>
          <a:bodyPr wrap="square" lIns="0" tIns="0" rIns="0" bIns="0" rtlCol="0" anchor="ctr"/>
          <a:lstStyle/>
          <a:p>
            <a:pPr rtl="1" algn="r" indent="0" marL="0">
              <a:buNone/>
            </a:pPr>
            <a:r>
              <a:rPr lang="he-IL" altLang="en-US" sz="1600" b="1" dirty="0">
                <a:solidFill>
                  <a:srgbClr val="1B2A33"/>
                </a:solidFill>
                <a:latin typeface="Arial" pitchFamily="34" charset="0"/>
                <a:ea typeface="Arial" pitchFamily="34" charset="-122"/>
                <a:cs typeface="Arial" pitchFamily="34" charset="-120"/>
              </a:rPr>
              <a:t>הרשאות</a:t>
            </a:r>
            <a:endParaRPr lang="he-IL" sz="1600" dirty="0"/>
          </a:p>
        </p:txBody>
      </p:sp>
      <p:sp>
        <p:nvSpPr>
          <p:cNvPr id="7" name="Text 5"/>
          <p:cNvSpPr txBox="1"/>
          <p:nvPr/>
        </p:nvSpPr>
        <p:spPr>
          <a:xfrm>
            <a:off x="8290560" y="2121408"/>
            <a:ext cx="3139440" cy="1325880"/>
          </a:xfrm>
          <a:prstGeom prst="rect">
            <a:avLst/>
          </a:prstGeom>
          <a:noFill/>
          <a:ln/>
        </p:spPr>
        <p:txBody>
          <a:bodyPr wrap="square" lIns="0" tIns="0" rIns="0" bIns="0" rtlCol="0" anchor="t"/>
          <a:lstStyle/>
          <a:p>
            <a:pPr rtl="1" algn="r" indent="0" marL="0">
              <a:buNone/>
            </a:pPr>
            <a:r>
              <a:rPr lang="he-IL" altLang="en-US" sz="1250" dirty="0">
                <a:solidFill>
                  <a:srgbClr val="5D6F7A"/>
                </a:solidFill>
                <a:latin typeface="Arial" pitchFamily="34" charset="0"/>
                <a:ea typeface="Arial" pitchFamily="34" charset="-122"/>
                <a:cs typeface="Arial" pitchFamily="34" charset="-120"/>
              </a:rPr>
              <a:t>הדף מציג רק מה שמותר לכם בשרת הקבצים (AD). אין צורך בהרשאה נוספת.</a:t>
            </a:r>
            <a:endParaRPr lang="he-IL" sz="1250" dirty="0"/>
          </a:p>
        </p:txBody>
      </p:sp>
      <p:sp>
        <p:nvSpPr>
          <p:cNvPr id="8" name="Shape 6"/>
          <p:cNvSpPr/>
          <p:nvPr/>
        </p:nvSpPr>
        <p:spPr>
          <a:xfrm>
            <a:off x="4328160" y="1463040"/>
            <a:ext cx="3505200" cy="2103120"/>
          </a:xfrm>
          <a:prstGeom prst="roundRect">
            <a:avLst>
              <a:gd name="adj" fmla="val 3478"/>
            </a:avLst>
          </a:prstGeom>
          <a:solidFill>
            <a:srgbClr val="FFFFFF"/>
          </a:solidFill>
          <a:ln w="12700">
            <a:solidFill>
              <a:srgbClr val="C9D3D9"/>
            </a:solidFill>
            <a:prstDash val="solid"/>
          </a:ln>
        </p:spPr>
      </p:sp>
      <p:sp>
        <p:nvSpPr>
          <p:cNvPr id="9" name="Shape 7"/>
          <p:cNvSpPr/>
          <p:nvPr/>
        </p:nvSpPr>
        <p:spPr>
          <a:xfrm>
            <a:off x="7266432" y="1645920"/>
            <a:ext cx="384048" cy="384048"/>
          </a:xfrm>
          <a:prstGeom prst="ellipse">
            <a:avLst/>
          </a:prstGeom>
          <a:solidFill>
            <a:srgbClr val="0E6F73"/>
          </a:solidFill>
          <a:ln w="12700">
            <a:solidFill>
              <a:srgbClr val="0E6F73"/>
            </a:solidFill>
            <a:prstDash val="solid"/>
          </a:ln>
        </p:spPr>
      </p:sp>
      <p:sp>
        <p:nvSpPr>
          <p:cNvPr id="10" name="Text 8"/>
          <p:cNvSpPr txBox="1"/>
          <p:nvPr/>
        </p:nvSpPr>
        <p:spPr>
          <a:xfrm>
            <a:off x="7266432"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1" name="Text 9"/>
          <p:cNvSpPr txBox="1"/>
          <p:nvPr/>
        </p:nvSpPr>
        <p:spPr>
          <a:xfrm>
            <a:off x="4511040" y="1645920"/>
            <a:ext cx="2636520" cy="384048"/>
          </a:xfrm>
          <a:prstGeom prst="rect">
            <a:avLst/>
          </a:prstGeom>
          <a:noFill/>
          <a:ln/>
        </p:spPr>
        <p:txBody>
          <a:bodyPr wrap="square" lIns="0" tIns="0" rIns="0" bIns="0" rtlCol="0" anchor="ctr"/>
          <a:lstStyle/>
          <a:p>
            <a:pPr rtl="1" algn="r" indent="0" marL="0">
              <a:buNone/>
            </a:pPr>
            <a:r>
              <a:rPr lang="he-IL" altLang="en-US" sz="1600" b="1" dirty="0">
                <a:solidFill>
                  <a:srgbClr val="1B2A33"/>
                </a:solidFill>
                <a:latin typeface="Arial" pitchFamily="34" charset="0"/>
                <a:ea typeface="Arial" pitchFamily="34" charset="-122"/>
                <a:cs typeface="Arial" pitchFamily="34" charset="-120"/>
              </a:rPr>
              <a:t>מחיקה</a:t>
            </a:r>
            <a:endParaRPr lang="he-IL" sz="1600" dirty="0"/>
          </a:p>
        </p:txBody>
      </p:sp>
      <p:sp>
        <p:nvSpPr>
          <p:cNvPr id="12" name="Text 10"/>
          <p:cNvSpPr txBox="1"/>
          <p:nvPr/>
        </p:nvSpPr>
        <p:spPr>
          <a:xfrm>
            <a:off x="4511040" y="2121408"/>
            <a:ext cx="3139440" cy="1325880"/>
          </a:xfrm>
          <a:prstGeom prst="rect">
            <a:avLst/>
          </a:prstGeom>
          <a:noFill/>
          <a:ln/>
        </p:spPr>
        <p:txBody>
          <a:bodyPr wrap="square" lIns="0" tIns="0" rIns="0" bIns="0" rtlCol="0" anchor="t"/>
          <a:lstStyle/>
          <a:p>
            <a:pPr rtl="1" algn="r" indent="0" marL="0">
              <a:buNone/>
            </a:pPr>
            <a:r>
              <a:rPr lang="he-IL" altLang="en-US" sz="1250" dirty="0">
                <a:solidFill>
                  <a:srgbClr val="5D6F7A"/>
                </a:solidFill>
                <a:latin typeface="Arial" pitchFamily="34" charset="0"/>
                <a:ea typeface="Arial" pitchFamily="34" charset="-122"/>
                <a:cs typeface="Arial" pitchFamily="34" charset="-120"/>
              </a:rPr>
              <a:t>מחיקה מהדף מעבירה לתיקיית המחזור; IT יכולים לשחזר. רשומת המסמך נשמרת.</a:t>
            </a:r>
            <a:endParaRPr lang="he-IL" sz="1250" dirty="0"/>
          </a:p>
        </p:txBody>
      </p:sp>
      <p:sp>
        <p:nvSpPr>
          <p:cNvPr id="13" name="Shape 11"/>
          <p:cNvSpPr/>
          <p:nvPr/>
        </p:nvSpPr>
        <p:spPr>
          <a:xfrm>
            <a:off x="548640" y="1463040"/>
            <a:ext cx="3505200" cy="2103120"/>
          </a:xfrm>
          <a:prstGeom prst="roundRect">
            <a:avLst>
              <a:gd name="adj" fmla="val 3478"/>
            </a:avLst>
          </a:prstGeom>
          <a:solidFill>
            <a:srgbClr val="FFFFFF"/>
          </a:solidFill>
          <a:ln w="12700">
            <a:solidFill>
              <a:srgbClr val="C9D3D9"/>
            </a:solidFill>
            <a:prstDash val="solid"/>
          </a:ln>
        </p:spPr>
      </p:sp>
      <p:sp>
        <p:nvSpPr>
          <p:cNvPr id="14" name="Shape 12"/>
          <p:cNvSpPr/>
          <p:nvPr/>
        </p:nvSpPr>
        <p:spPr>
          <a:xfrm>
            <a:off x="3486912" y="1645920"/>
            <a:ext cx="384048" cy="384048"/>
          </a:xfrm>
          <a:prstGeom prst="ellipse">
            <a:avLst/>
          </a:prstGeom>
          <a:solidFill>
            <a:srgbClr val="0E6F73"/>
          </a:solidFill>
          <a:ln w="12700">
            <a:solidFill>
              <a:srgbClr val="0E6F73"/>
            </a:solidFill>
            <a:prstDash val="solid"/>
          </a:ln>
        </p:spPr>
      </p:sp>
      <p:sp>
        <p:nvSpPr>
          <p:cNvPr id="15" name="Text 13"/>
          <p:cNvSpPr txBox="1"/>
          <p:nvPr/>
        </p:nvSpPr>
        <p:spPr>
          <a:xfrm>
            <a:off x="3486912"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6" name="Text 14"/>
          <p:cNvSpPr txBox="1"/>
          <p:nvPr/>
        </p:nvSpPr>
        <p:spPr>
          <a:xfrm>
            <a:off x="731520" y="1645920"/>
            <a:ext cx="2636520" cy="384048"/>
          </a:xfrm>
          <a:prstGeom prst="rect">
            <a:avLst/>
          </a:prstGeom>
          <a:noFill/>
          <a:ln/>
        </p:spPr>
        <p:txBody>
          <a:bodyPr wrap="square" lIns="0" tIns="0" rIns="0" bIns="0" rtlCol="0" anchor="ctr"/>
          <a:lstStyle/>
          <a:p>
            <a:pPr rtl="1" algn="r" indent="0" marL="0">
              <a:buNone/>
            </a:pPr>
            <a:r>
              <a:rPr lang="he-IL" altLang="en-US" sz="1600" b="1" dirty="0">
                <a:solidFill>
                  <a:srgbClr val="1B2A33"/>
                </a:solidFill>
                <a:latin typeface="Arial" pitchFamily="34" charset="0"/>
                <a:ea typeface="Arial" pitchFamily="34" charset="-122"/>
                <a:cs typeface="Arial" pitchFamily="34" charset="-120"/>
              </a:rPr>
              <a:t>שלד התיקיות</a:t>
            </a:r>
            <a:endParaRPr lang="he-IL" sz="1600" dirty="0"/>
          </a:p>
        </p:txBody>
      </p:sp>
      <p:sp>
        <p:nvSpPr>
          <p:cNvPr id="17" name="Text 15"/>
          <p:cNvSpPr txBox="1"/>
          <p:nvPr/>
        </p:nvSpPr>
        <p:spPr>
          <a:xfrm>
            <a:off x="731520" y="2121408"/>
            <a:ext cx="3139440" cy="1325880"/>
          </a:xfrm>
          <a:prstGeom prst="rect">
            <a:avLst/>
          </a:prstGeom>
          <a:noFill/>
          <a:ln/>
        </p:spPr>
        <p:txBody>
          <a:bodyPr wrap="square" lIns="0" tIns="0" rIns="0" bIns="0" rtlCol="0" anchor="t"/>
          <a:lstStyle/>
          <a:p>
            <a:pPr rtl="1" algn="r" indent="0" marL="0">
              <a:buNone/>
            </a:pPr>
            <a:r>
              <a:rPr lang="he-IL" altLang="en-US" sz="1250" dirty="0">
                <a:solidFill>
                  <a:srgbClr val="5D6F7A"/>
                </a:solidFill>
                <a:latin typeface="Arial" pitchFamily="34" charset="0"/>
                <a:ea typeface="Arial" pitchFamily="34" charset="-122"/>
                <a:cs typeface="Arial" pitchFamily="34" charset="-120"/>
              </a:rPr>
              <a:t>תיקיות הבלופרינט (לקוחות, פרויקטים, תחומים) לא ניתנות לשינוי שם או מחיקה. התוכן שלהן כן.</a:t>
            </a:r>
            <a:endParaRPr lang="he-IL" sz="1250" dirty="0"/>
          </a:p>
        </p:txBody>
      </p:sp>
      <p:sp>
        <p:nvSpPr>
          <p:cNvPr id="18" name="Shape 16"/>
          <p:cNvSpPr/>
          <p:nvPr/>
        </p:nvSpPr>
        <p:spPr>
          <a:xfrm>
            <a:off x="8107680" y="3840480"/>
            <a:ext cx="3505200" cy="2103120"/>
          </a:xfrm>
          <a:prstGeom prst="roundRect">
            <a:avLst>
              <a:gd name="adj" fmla="val 3478"/>
            </a:avLst>
          </a:prstGeom>
          <a:solidFill>
            <a:srgbClr val="FFFFFF"/>
          </a:solidFill>
          <a:ln w="12700">
            <a:solidFill>
              <a:srgbClr val="C9D3D9"/>
            </a:solidFill>
            <a:prstDash val="solid"/>
          </a:ln>
        </p:spPr>
      </p:sp>
      <p:sp>
        <p:nvSpPr>
          <p:cNvPr id="19" name="Shape 17"/>
          <p:cNvSpPr/>
          <p:nvPr/>
        </p:nvSpPr>
        <p:spPr>
          <a:xfrm>
            <a:off x="11045952" y="4023360"/>
            <a:ext cx="384048" cy="384048"/>
          </a:xfrm>
          <a:prstGeom prst="ellipse">
            <a:avLst/>
          </a:prstGeom>
          <a:solidFill>
            <a:srgbClr val="0E6F73"/>
          </a:solidFill>
          <a:ln w="12700">
            <a:solidFill>
              <a:srgbClr val="0E6F73"/>
            </a:solidFill>
            <a:prstDash val="solid"/>
          </a:ln>
        </p:spPr>
      </p:sp>
      <p:sp>
        <p:nvSpPr>
          <p:cNvPr id="20" name="Text 18"/>
          <p:cNvSpPr txBox="1"/>
          <p:nvPr/>
        </p:nvSpPr>
        <p:spPr>
          <a:xfrm>
            <a:off x="11045952"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1" name="Text 19"/>
          <p:cNvSpPr txBox="1"/>
          <p:nvPr/>
        </p:nvSpPr>
        <p:spPr>
          <a:xfrm>
            <a:off x="8290560" y="4023360"/>
            <a:ext cx="2636520" cy="384048"/>
          </a:xfrm>
          <a:prstGeom prst="rect">
            <a:avLst/>
          </a:prstGeom>
          <a:noFill/>
          <a:ln/>
        </p:spPr>
        <p:txBody>
          <a:bodyPr wrap="square" lIns="0" tIns="0" rIns="0" bIns="0" rtlCol="0" anchor="ctr"/>
          <a:lstStyle/>
          <a:p>
            <a:pPr rtl="1" algn="r" indent="0" marL="0">
              <a:buNone/>
            </a:pPr>
            <a:r>
              <a:rPr lang="he-IL" altLang="en-US" sz="1600" b="1" dirty="0">
                <a:solidFill>
                  <a:srgbClr val="1B2A33"/>
                </a:solidFill>
                <a:latin typeface="Arial" pitchFamily="34" charset="0"/>
                <a:ea typeface="Arial" pitchFamily="34" charset="-122"/>
                <a:cs typeface="Arial" pitchFamily="34" charset="-120"/>
              </a:rPr>
              <a:t>תיקיית Shared</a:t>
            </a:r>
            <a:endParaRPr lang="he-IL" sz="1600" dirty="0"/>
          </a:p>
        </p:txBody>
      </p:sp>
      <p:sp>
        <p:nvSpPr>
          <p:cNvPr id="22" name="Text 20"/>
          <p:cNvSpPr txBox="1"/>
          <p:nvPr/>
        </p:nvSpPr>
        <p:spPr>
          <a:xfrm>
            <a:off x="8290560" y="4498848"/>
            <a:ext cx="3139440" cy="1325880"/>
          </a:xfrm>
          <a:prstGeom prst="rect">
            <a:avLst/>
          </a:prstGeom>
          <a:noFill/>
          <a:ln/>
        </p:spPr>
        <p:txBody>
          <a:bodyPr wrap="square" lIns="0" tIns="0" rIns="0" bIns="0" rtlCol="0" anchor="t"/>
          <a:lstStyle/>
          <a:p>
            <a:pPr rtl="1" algn="r" indent="0" marL="0">
              <a:buNone/>
            </a:pPr>
            <a:r>
              <a:rPr lang="he-IL" altLang="en-US" sz="1250" dirty="0">
                <a:solidFill>
                  <a:srgbClr val="5D6F7A"/>
                </a:solidFill>
                <a:latin typeface="Arial" pitchFamily="34" charset="0"/>
                <a:ea typeface="Arial" pitchFamily="34" charset="-122"/>
                <a:cs typeface="Arial" pitchFamily="34" charset="-120"/>
              </a:rPr>
              <a:t>בתיקיית Shared של כל לקוח אפשר רק לפתוח, להוריד ולהעתיק נתיב.</a:t>
            </a:r>
            <a:endParaRPr lang="he-IL" sz="1250" dirty="0"/>
          </a:p>
        </p:txBody>
      </p:sp>
      <p:sp>
        <p:nvSpPr>
          <p:cNvPr id="23" name="Shape 21"/>
          <p:cNvSpPr/>
          <p:nvPr/>
        </p:nvSpPr>
        <p:spPr>
          <a:xfrm>
            <a:off x="4328160" y="3840480"/>
            <a:ext cx="3505200" cy="2103120"/>
          </a:xfrm>
          <a:prstGeom prst="roundRect">
            <a:avLst>
              <a:gd name="adj" fmla="val 3478"/>
            </a:avLst>
          </a:prstGeom>
          <a:solidFill>
            <a:srgbClr val="FFFFFF"/>
          </a:solidFill>
          <a:ln w="12700">
            <a:solidFill>
              <a:srgbClr val="C9D3D9"/>
            </a:solidFill>
            <a:prstDash val="solid"/>
          </a:ln>
        </p:spPr>
      </p:sp>
      <p:sp>
        <p:nvSpPr>
          <p:cNvPr id="24" name="Shape 22"/>
          <p:cNvSpPr/>
          <p:nvPr/>
        </p:nvSpPr>
        <p:spPr>
          <a:xfrm>
            <a:off x="7266432" y="4023360"/>
            <a:ext cx="384048" cy="384048"/>
          </a:xfrm>
          <a:prstGeom prst="ellipse">
            <a:avLst/>
          </a:prstGeom>
          <a:solidFill>
            <a:srgbClr val="0E6F73"/>
          </a:solidFill>
          <a:ln w="12700">
            <a:solidFill>
              <a:srgbClr val="0E6F73"/>
            </a:solidFill>
            <a:prstDash val="solid"/>
          </a:ln>
        </p:spPr>
      </p:sp>
      <p:sp>
        <p:nvSpPr>
          <p:cNvPr id="25" name="Text 23"/>
          <p:cNvSpPr txBox="1"/>
          <p:nvPr/>
        </p:nvSpPr>
        <p:spPr>
          <a:xfrm>
            <a:off x="7266432"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4511040" y="4023360"/>
            <a:ext cx="2636520" cy="384048"/>
          </a:xfrm>
          <a:prstGeom prst="rect">
            <a:avLst/>
          </a:prstGeom>
          <a:noFill/>
          <a:ln/>
        </p:spPr>
        <p:txBody>
          <a:bodyPr wrap="square" lIns="0" tIns="0" rIns="0" bIns="0" rtlCol="0" anchor="ctr"/>
          <a:lstStyle/>
          <a:p>
            <a:pPr rtl="1" algn="r" indent="0" marL="0">
              <a:buNone/>
            </a:pPr>
            <a:r>
              <a:rPr lang="he-IL" altLang="en-US" sz="1600" b="1" dirty="0">
                <a:solidFill>
                  <a:srgbClr val="1B2A33"/>
                </a:solidFill>
                <a:latin typeface="Arial" pitchFamily="34" charset="0"/>
                <a:ea typeface="Arial" pitchFamily="34" charset="-122"/>
                <a:cs typeface="Arial" pitchFamily="34" charset="-120"/>
              </a:rPr>
              <a:t>קבצים מנוהלים</a:t>
            </a:r>
            <a:endParaRPr lang="he-IL" sz="1600" dirty="0"/>
          </a:p>
        </p:txBody>
      </p:sp>
      <p:sp>
        <p:nvSpPr>
          <p:cNvPr id="27" name="Text 25"/>
          <p:cNvSpPr txBox="1"/>
          <p:nvPr/>
        </p:nvSpPr>
        <p:spPr>
          <a:xfrm>
            <a:off x="4511040" y="4498848"/>
            <a:ext cx="3139440" cy="1325880"/>
          </a:xfrm>
          <a:prstGeom prst="rect">
            <a:avLst/>
          </a:prstGeom>
          <a:noFill/>
          <a:ln/>
        </p:spPr>
        <p:txBody>
          <a:bodyPr wrap="square" lIns="0" tIns="0" rIns="0" bIns="0" rtlCol="0" anchor="t"/>
          <a:lstStyle/>
          <a:p>
            <a:pPr rtl="1" algn="r" indent="0" marL="0">
              <a:buNone/>
            </a:pPr>
            <a:r>
              <a:rPr lang="he-IL" altLang="en-US" sz="1250" dirty="0">
                <a:solidFill>
                  <a:srgbClr val="5D6F7A"/>
                </a:solidFill>
                <a:latin typeface="Arial" pitchFamily="34" charset="0"/>
                <a:ea typeface="Arial" pitchFamily="34" charset="-122"/>
                <a:cs typeface="Arial" pitchFamily="34" charset="-120"/>
              </a:rPr>
              <a:t>Submitted, Current_ReadOnly ו-Obsolete_ReadOnly מנוהלות על ידי ה-DMS, לקריאה בלבד.</a:t>
            </a:r>
            <a:endParaRPr lang="he-IL" sz="1250" dirty="0"/>
          </a:p>
        </p:txBody>
      </p:sp>
      <p:sp>
        <p:nvSpPr>
          <p:cNvPr id="28" name="Shape 26"/>
          <p:cNvSpPr/>
          <p:nvPr/>
        </p:nvSpPr>
        <p:spPr>
          <a:xfrm>
            <a:off x="548640" y="3840480"/>
            <a:ext cx="3505200" cy="2103120"/>
          </a:xfrm>
          <a:prstGeom prst="roundRect">
            <a:avLst>
              <a:gd name="adj" fmla="val 3478"/>
            </a:avLst>
          </a:prstGeom>
          <a:solidFill>
            <a:srgbClr val="FFFFFF"/>
          </a:solidFill>
          <a:ln w="12700">
            <a:solidFill>
              <a:srgbClr val="C9D3D9"/>
            </a:solidFill>
            <a:prstDash val="solid"/>
          </a:ln>
        </p:spPr>
      </p:sp>
      <p:sp>
        <p:nvSpPr>
          <p:cNvPr id="29" name="Shape 27"/>
          <p:cNvSpPr/>
          <p:nvPr/>
        </p:nvSpPr>
        <p:spPr>
          <a:xfrm>
            <a:off x="3486912" y="4023360"/>
            <a:ext cx="384048" cy="384048"/>
          </a:xfrm>
          <a:prstGeom prst="ellipse">
            <a:avLst/>
          </a:prstGeom>
          <a:solidFill>
            <a:srgbClr val="0E6F73"/>
          </a:solidFill>
          <a:ln w="12700">
            <a:solidFill>
              <a:srgbClr val="0E6F73"/>
            </a:solidFill>
            <a:prstDash val="solid"/>
          </a:ln>
        </p:spPr>
      </p:sp>
      <p:sp>
        <p:nvSpPr>
          <p:cNvPr id="30" name="Text 28"/>
          <p:cNvSpPr txBox="1"/>
          <p:nvPr/>
        </p:nvSpPr>
        <p:spPr>
          <a:xfrm>
            <a:off x="3486912"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1" name="Text 29"/>
          <p:cNvSpPr txBox="1"/>
          <p:nvPr/>
        </p:nvSpPr>
        <p:spPr>
          <a:xfrm>
            <a:off x="731520" y="4023360"/>
            <a:ext cx="2636520" cy="384048"/>
          </a:xfrm>
          <a:prstGeom prst="rect">
            <a:avLst/>
          </a:prstGeom>
          <a:noFill/>
          <a:ln/>
        </p:spPr>
        <p:txBody>
          <a:bodyPr wrap="square" lIns="0" tIns="0" rIns="0" bIns="0" rtlCol="0" anchor="ctr"/>
          <a:lstStyle/>
          <a:p>
            <a:pPr rtl="1" algn="r" indent="0" marL="0">
              <a:buNone/>
            </a:pPr>
            <a:r>
              <a:rPr lang="he-IL" altLang="en-US" sz="1600" b="1" dirty="0">
                <a:solidFill>
                  <a:srgbClr val="1B2A33"/>
                </a:solidFill>
                <a:latin typeface="Arial" pitchFamily="34" charset="0"/>
                <a:ea typeface="Arial" pitchFamily="34" charset="-122"/>
                <a:cs typeface="Arial" pitchFamily="34" charset="-120"/>
              </a:rPr>
              <a:t>תקלה?</a:t>
            </a:r>
            <a:endParaRPr lang="he-IL" sz="1600" dirty="0"/>
          </a:p>
        </p:txBody>
      </p:sp>
      <p:sp>
        <p:nvSpPr>
          <p:cNvPr id="32" name="Text 30"/>
          <p:cNvSpPr txBox="1"/>
          <p:nvPr/>
        </p:nvSpPr>
        <p:spPr>
          <a:xfrm>
            <a:off x="731520" y="4498848"/>
            <a:ext cx="3139440" cy="1325880"/>
          </a:xfrm>
          <a:prstGeom prst="rect">
            <a:avLst/>
          </a:prstGeom>
          <a:noFill/>
          <a:ln/>
        </p:spPr>
        <p:txBody>
          <a:bodyPr wrap="square" lIns="0" tIns="0" rIns="0" bIns="0" rtlCol="0" anchor="t"/>
          <a:lstStyle/>
          <a:p>
            <a:pPr rtl="1" algn="r" indent="0" marL="0">
              <a:buNone/>
            </a:pPr>
            <a:r>
              <a:rPr lang="he-IL" altLang="en-US" sz="1250" dirty="0">
                <a:solidFill>
                  <a:srgbClr val="5D6F7A"/>
                </a:solidFill>
                <a:latin typeface="Arial" pitchFamily="34" charset="0"/>
                <a:ea typeface="Arial" pitchFamily="34" charset="-122"/>
                <a:cs typeface="Arial" pitchFamily="34" charset="-120"/>
              </a:rPr>
              <a:t>צלמו מסך עם ההודעה ושלחו למנהל ה-DMS. משתמשי-על: "בדיקת SharePoint" בתפריט ⋮.</a:t>
            </a:r>
            <a:endParaRPr lang="he-IL"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rtl="1" algn="r" indent="0" marL="0">
              <a:buNone/>
            </a:pPr>
            <a:r>
              <a:rPr lang="he-IL" altLang="en-US" sz="3200" b="1" dirty="0">
                <a:solidFill>
                  <a:srgbClr val="1B2A33"/>
                </a:solidFill>
                <a:latin typeface="Arial" pitchFamily="34" charset="0"/>
                <a:ea typeface="Arial" pitchFamily="34" charset="-122"/>
                <a:cs typeface="Arial" pitchFamily="34" charset="-120"/>
              </a:rPr>
              <a:t>למשתמשי-על</a:t>
            </a:r>
            <a:endParaRPr lang="he-IL"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rtl="1" algn="r" indent="0" marL="0">
              <a:buNone/>
            </a:pPr>
            <a:r>
              <a:rPr lang="he-IL" altLang="en-US" sz="1500" dirty="0">
                <a:solidFill>
                  <a:srgbClr val="5D6F7A"/>
                </a:solidFill>
                <a:latin typeface="Arial" pitchFamily="34" charset="0"/>
                <a:ea typeface="Arial" pitchFamily="34" charset="-122"/>
                <a:cs typeface="Arial" pitchFamily="34" charset="-120"/>
              </a:rPr>
              <a:t>פעולות נוספות בתפריט ⋮ ובמסכים</a:t>
            </a:r>
            <a:endParaRPr lang="he-IL" sz="1500" dirty="0"/>
          </a:p>
        </p:txBody>
      </p:sp>
      <p:sp>
        <p:nvSpPr>
          <p:cNvPr id="4" name="Shape 2"/>
          <p:cNvSpPr/>
          <p:nvPr/>
        </p:nvSpPr>
        <p:spPr>
          <a:xfrm>
            <a:off x="6217920" y="1600200"/>
            <a:ext cx="5394960" cy="1965960"/>
          </a:xfrm>
          <a:prstGeom prst="roundRect">
            <a:avLst>
              <a:gd name="adj" fmla="val 3721"/>
            </a:avLst>
          </a:prstGeom>
          <a:solidFill>
            <a:srgbClr val="FFFFFF"/>
          </a:solidFill>
          <a:ln w="12700">
            <a:solidFill>
              <a:srgbClr val="C9D3D9"/>
            </a:solidFill>
            <a:prstDash val="solid"/>
          </a:ln>
        </p:spPr>
      </p:sp>
      <p:sp>
        <p:nvSpPr>
          <p:cNvPr id="5" name="Shape 3"/>
          <p:cNvSpPr/>
          <p:nvPr/>
        </p:nvSpPr>
        <p:spPr>
          <a:xfrm>
            <a:off x="11045952" y="1783080"/>
            <a:ext cx="384048" cy="384048"/>
          </a:xfrm>
          <a:prstGeom prst="ellipse">
            <a:avLst/>
          </a:prstGeom>
          <a:solidFill>
            <a:srgbClr val="0E6F73"/>
          </a:solidFill>
          <a:ln w="12700">
            <a:solidFill>
              <a:srgbClr val="0E6F73"/>
            </a:solidFill>
            <a:prstDash val="solid"/>
          </a:ln>
        </p:spPr>
      </p:sp>
      <p:sp>
        <p:nvSpPr>
          <p:cNvPr id="6" name="Text 4"/>
          <p:cNvSpPr txBox="1"/>
          <p:nvPr/>
        </p:nvSpPr>
        <p:spPr>
          <a:xfrm>
            <a:off x="11045952"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6400800" y="1783080"/>
            <a:ext cx="4526280" cy="384048"/>
          </a:xfrm>
          <a:prstGeom prst="rect">
            <a:avLst/>
          </a:prstGeom>
          <a:noFill/>
          <a:ln/>
        </p:spPr>
        <p:txBody>
          <a:bodyPr wrap="square" lIns="0" tIns="0" rIns="0" bIns="0" rtlCol="0" anchor="ctr"/>
          <a:lstStyle/>
          <a:p>
            <a:pPr rtl="1" algn="r" indent="0" marL="0">
              <a:buNone/>
            </a:pPr>
            <a:r>
              <a:rPr lang="he-IL" altLang="en-US" sz="1600" b="1" dirty="0">
                <a:solidFill>
                  <a:srgbClr val="1B2A33"/>
                </a:solidFill>
                <a:latin typeface="Arial" pitchFamily="34" charset="0"/>
                <a:ea typeface="Arial" pitchFamily="34" charset="-122"/>
                <a:cs typeface="Arial" pitchFamily="34" charset="-120"/>
              </a:rPr>
              <a:t>כל תהליכי האישור</a:t>
            </a:r>
            <a:endParaRPr lang="he-IL" sz="1600" dirty="0"/>
          </a:p>
        </p:txBody>
      </p:sp>
      <p:sp>
        <p:nvSpPr>
          <p:cNvPr id="8" name="Text 6"/>
          <p:cNvSpPr txBox="1"/>
          <p:nvPr/>
        </p:nvSpPr>
        <p:spPr>
          <a:xfrm>
            <a:off x="6400800" y="2258568"/>
            <a:ext cx="5029200" cy="1188720"/>
          </a:xfrm>
          <a:prstGeom prst="rect">
            <a:avLst/>
          </a:prstGeom>
          <a:noFill/>
          <a:ln/>
        </p:spPr>
        <p:txBody>
          <a:bodyPr wrap="square" lIns="0" tIns="0" rIns="0" bIns="0" rtlCol="0" anchor="t"/>
          <a:lstStyle/>
          <a:p>
            <a:pPr rtl="1" algn="r" indent="0" marL="0">
              <a:buNone/>
            </a:pPr>
            <a:r>
              <a:rPr lang="he-IL" altLang="en-US" sz="1300" dirty="0">
                <a:solidFill>
                  <a:srgbClr val="5D6F7A"/>
                </a:solidFill>
                <a:latin typeface="Arial" pitchFamily="34" charset="0"/>
                <a:ea typeface="Arial" pitchFamily="34" charset="-122"/>
                <a:cs typeface="Arial" pitchFamily="34" charset="-120"/>
              </a:rPr>
              <a:t>בתהליכי האישור ובאישורים: כל המסמכים וכל הממתינים, החלטה בכל שלב והאצלה בשם מאשר.</a:t>
            </a:r>
            <a:endParaRPr lang="he-IL" sz="1300" dirty="0"/>
          </a:p>
        </p:txBody>
      </p:sp>
      <p:sp>
        <p:nvSpPr>
          <p:cNvPr id="9" name="Shape 7"/>
          <p:cNvSpPr/>
          <p:nvPr/>
        </p:nvSpPr>
        <p:spPr>
          <a:xfrm>
            <a:off x="548640" y="1600200"/>
            <a:ext cx="5394960" cy="1965960"/>
          </a:xfrm>
          <a:prstGeom prst="roundRect">
            <a:avLst>
              <a:gd name="adj" fmla="val 3721"/>
            </a:avLst>
          </a:prstGeom>
          <a:solidFill>
            <a:srgbClr val="FFFFFF"/>
          </a:solidFill>
          <a:ln w="12700">
            <a:solidFill>
              <a:srgbClr val="C9D3D9"/>
            </a:solidFill>
            <a:prstDash val="solid"/>
          </a:ln>
        </p:spPr>
      </p:sp>
      <p:sp>
        <p:nvSpPr>
          <p:cNvPr id="10" name="Shape 8"/>
          <p:cNvSpPr/>
          <p:nvPr/>
        </p:nvSpPr>
        <p:spPr>
          <a:xfrm>
            <a:off x="5376672" y="1783080"/>
            <a:ext cx="384048" cy="384048"/>
          </a:xfrm>
          <a:prstGeom prst="ellipse">
            <a:avLst/>
          </a:prstGeom>
          <a:solidFill>
            <a:srgbClr val="0E6F73"/>
          </a:solidFill>
          <a:ln w="12700">
            <a:solidFill>
              <a:srgbClr val="0E6F73"/>
            </a:solidFill>
            <a:prstDash val="solid"/>
          </a:ln>
        </p:spPr>
      </p:sp>
      <p:sp>
        <p:nvSpPr>
          <p:cNvPr id="11" name="Text 9"/>
          <p:cNvSpPr txBox="1"/>
          <p:nvPr/>
        </p:nvSpPr>
        <p:spPr>
          <a:xfrm>
            <a:off x="5376672"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731520" y="1783080"/>
            <a:ext cx="4526280" cy="384048"/>
          </a:xfrm>
          <a:prstGeom prst="rect">
            <a:avLst/>
          </a:prstGeom>
          <a:noFill/>
          <a:ln/>
        </p:spPr>
        <p:txBody>
          <a:bodyPr wrap="square" lIns="0" tIns="0" rIns="0" bIns="0" rtlCol="0" anchor="ctr"/>
          <a:lstStyle/>
          <a:p>
            <a:pPr rtl="1" algn="r" indent="0" marL="0">
              <a:buNone/>
            </a:pPr>
            <a:r>
              <a:rPr lang="he-IL" altLang="en-US" sz="1600" b="1" dirty="0">
                <a:solidFill>
                  <a:srgbClr val="1B2A33"/>
                </a:solidFill>
                <a:latin typeface="Arial" pitchFamily="34" charset="0"/>
                <a:ea typeface="Arial" pitchFamily="34" charset="-122"/>
                <a:cs typeface="Arial" pitchFamily="34" charset="-120"/>
              </a:rPr>
              <a:t>בדיקת SharePoint</a:t>
            </a:r>
            <a:endParaRPr lang="he-IL" sz="1600" dirty="0"/>
          </a:p>
        </p:txBody>
      </p:sp>
      <p:sp>
        <p:nvSpPr>
          <p:cNvPr id="13" name="Text 11"/>
          <p:cNvSpPr txBox="1"/>
          <p:nvPr/>
        </p:nvSpPr>
        <p:spPr>
          <a:xfrm>
            <a:off x="731520" y="2258568"/>
            <a:ext cx="5029200" cy="1188720"/>
          </a:xfrm>
          <a:prstGeom prst="rect">
            <a:avLst/>
          </a:prstGeom>
          <a:noFill/>
          <a:ln/>
        </p:spPr>
        <p:txBody>
          <a:bodyPr wrap="square" lIns="0" tIns="0" rIns="0" bIns="0" rtlCol="0" anchor="t"/>
          <a:lstStyle/>
          <a:p>
            <a:pPr rtl="1" algn="r" indent="0" marL="0">
              <a:buNone/>
            </a:pPr>
            <a:r>
              <a:rPr lang="he-IL" altLang="en-US" sz="1300" dirty="0">
                <a:solidFill>
                  <a:srgbClr val="5D6F7A"/>
                </a:solidFill>
                <a:latin typeface="Arial" pitchFamily="34" charset="0"/>
                <a:ea typeface="Arial" pitchFamily="34" charset="-122"/>
                <a:cs typeface="Arial" pitchFamily="34" charset="-120"/>
              </a:rPr>
              <a:t>הרשימות, מספר הפריטים, הרשאת כתיבה, שגיאות אחרונות, מצב ההתראות והתראת בדיקה.</a:t>
            </a:r>
            <a:endParaRPr lang="he-IL" sz="1300" dirty="0"/>
          </a:p>
        </p:txBody>
      </p:sp>
      <p:sp>
        <p:nvSpPr>
          <p:cNvPr id="14" name="Shape 12"/>
          <p:cNvSpPr/>
          <p:nvPr/>
        </p:nvSpPr>
        <p:spPr>
          <a:xfrm>
            <a:off x="6217920" y="3840480"/>
            <a:ext cx="5394960" cy="1965960"/>
          </a:xfrm>
          <a:prstGeom prst="roundRect">
            <a:avLst>
              <a:gd name="adj" fmla="val 3721"/>
            </a:avLst>
          </a:prstGeom>
          <a:solidFill>
            <a:srgbClr val="FFFFFF"/>
          </a:solidFill>
          <a:ln w="12700">
            <a:solidFill>
              <a:srgbClr val="C9D3D9"/>
            </a:solidFill>
            <a:prstDash val="solid"/>
          </a:ln>
        </p:spPr>
      </p:sp>
      <p:sp>
        <p:nvSpPr>
          <p:cNvPr id="15" name="Shape 13"/>
          <p:cNvSpPr/>
          <p:nvPr/>
        </p:nvSpPr>
        <p:spPr>
          <a:xfrm>
            <a:off x="11045952" y="4023360"/>
            <a:ext cx="384048" cy="384048"/>
          </a:xfrm>
          <a:prstGeom prst="ellipse">
            <a:avLst/>
          </a:prstGeom>
          <a:solidFill>
            <a:srgbClr val="0E6F73"/>
          </a:solidFill>
          <a:ln w="12700">
            <a:solidFill>
              <a:srgbClr val="0E6F73"/>
            </a:solidFill>
            <a:prstDash val="solid"/>
          </a:ln>
        </p:spPr>
      </p:sp>
      <p:sp>
        <p:nvSpPr>
          <p:cNvPr id="16" name="Text 14"/>
          <p:cNvSpPr txBox="1"/>
          <p:nvPr/>
        </p:nvSpPr>
        <p:spPr>
          <a:xfrm>
            <a:off x="11045952"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6400800" y="4023360"/>
            <a:ext cx="4526280" cy="384048"/>
          </a:xfrm>
          <a:prstGeom prst="rect">
            <a:avLst/>
          </a:prstGeom>
          <a:noFill/>
          <a:ln/>
        </p:spPr>
        <p:txBody>
          <a:bodyPr wrap="square" lIns="0" tIns="0" rIns="0" bIns="0" rtlCol="0" anchor="ctr"/>
          <a:lstStyle/>
          <a:p>
            <a:pPr rtl="1" algn="r" indent="0" marL="0">
              <a:buNone/>
            </a:pPr>
            <a:r>
              <a:rPr lang="he-IL" altLang="en-US" sz="1600" b="1" dirty="0">
                <a:solidFill>
                  <a:srgbClr val="1B2A33"/>
                </a:solidFill>
                <a:latin typeface="Arial" pitchFamily="34" charset="0"/>
                <a:ea typeface="Arial" pitchFamily="34" charset="-122"/>
                <a:cs typeface="Arial" pitchFamily="34" charset="-120"/>
              </a:rPr>
              <a:t>טעינה ראשונה</a:t>
            </a:r>
            <a:endParaRPr lang="he-IL" sz="1600" dirty="0"/>
          </a:p>
        </p:txBody>
      </p:sp>
      <p:sp>
        <p:nvSpPr>
          <p:cNvPr id="18" name="Text 16"/>
          <p:cNvSpPr txBox="1"/>
          <p:nvPr/>
        </p:nvSpPr>
        <p:spPr>
          <a:xfrm>
            <a:off x="6400800" y="4498848"/>
            <a:ext cx="5029200" cy="1188720"/>
          </a:xfrm>
          <a:prstGeom prst="rect">
            <a:avLst/>
          </a:prstGeom>
          <a:noFill/>
          <a:ln/>
        </p:spPr>
        <p:txBody>
          <a:bodyPr wrap="square" lIns="0" tIns="0" rIns="0" bIns="0" rtlCol="0" anchor="t"/>
          <a:lstStyle/>
          <a:p>
            <a:pPr rtl="1" algn="r" indent="0" marL="0">
              <a:buNone/>
            </a:pPr>
            <a:r>
              <a:rPr lang="he-IL" altLang="en-US" sz="1300" dirty="0">
                <a:solidFill>
                  <a:srgbClr val="5D6F7A"/>
                </a:solidFill>
                <a:latin typeface="Arial" pitchFamily="34" charset="0"/>
                <a:ea typeface="Arial" pitchFamily="34" charset="-122"/>
                <a:cs typeface="Arial" pitchFamily="34" charset="-120"/>
              </a:rPr>
              <a:t>העברת מסמכים מאושרים מהמאגר הישן, עם הרצת ניסיון ויומן מלא ב-SharePoint.</a:t>
            </a:r>
            <a:endParaRPr lang="he-IL" sz="1300" dirty="0"/>
          </a:p>
        </p:txBody>
      </p:sp>
      <p:sp>
        <p:nvSpPr>
          <p:cNvPr id="19" name="Shape 17"/>
          <p:cNvSpPr/>
          <p:nvPr/>
        </p:nvSpPr>
        <p:spPr>
          <a:xfrm>
            <a:off x="548640" y="3840480"/>
            <a:ext cx="5394960" cy="1965960"/>
          </a:xfrm>
          <a:prstGeom prst="roundRect">
            <a:avLst>
              <a:gd name="adj" fmla="val 3721"/>
            </a:avLst>
          </a:prstGeom>
          <a:solidFill>
            <a:srgbClr val="FFFFFF"/>
          </a:solidFill>
          <a:ln w="12700">
            <a:solidFill>
              <a:srgbClr val="C9D3D9"/>
            </a:solidFill>
            <a:prstDash val="solid"/>
          </a:ln>
        </p:spPr>
      </p:sp>
      <p:sp>
        <p:nvSpPr>
          <p:cNvPr id="20" name="Shape 18"/>
          <p:cNvSpPr/>
          <p:nvPr/>
        </p:nvSpPr>
        <p:spPr>
          <a:xfrm>
            <a:off x="5376672" y="4023360"/>
            <a:ext cx="384048" cy="384048"/>
          </a:xfrm>
          <a:prstGeom prst="ellipse">
            <a:avLst/>
          </a:prstGeom>
          <a:solidFill>
            <a:srgbClr val="0E6F73"/>
          </a:solidFill>
          <a:ln w="12700">
            <a:solidFill>
              <a:srgbClr val="0E6F73"/>
            </a:solidFill>
            <a:prstDash val="solid"/>
          </a:ln>
        </p:spPr>
      </p:sp>
      <p:sp>
        <p:nvSpPr>
          <p:cNvPr id="21" name="Text 19"/>
          <p:cNvSpPr txBox="1"/>
          <p:nvPr/>
        </p:nvSpPr>
        <p:spPr>
          <a:xfrm>
            <a:off x="5376672"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731520" y="4023360"/>
            <a:ext cx="4526280" cy="384048"/>
          </a:xfrm>
          <a:prstGeom prst="rect">
            <a:avLst/>
          </a:prstGeom>
          <a:noFill/>
          <a:ln/>
        </p:spPr>
        <p:txBody>
          <a:bodyPr wrap="square" lIns="0" tIns="0" rIns="0" bIns="0" rtlCol="0" anchor="ctr"/>
          <a:lstStyle/>
          <a:p>
            <a:pPr rtl="1" algn="r" indent="0" marL="0">
              <a:buNone/>
            </a:pPr>
            <a:r>
              <a:rPr lang="he-IL" altLang="en-US" sz="1600" b="1" dirty="0">
                <a:solidFill>
                  <a:srgbClr val="1B2A33"/>
                </a:solidFill>
                <a:latin typeface="Arial" pitchFamily="34" charset="0"/>
                <a:ea typeface="Arial" pitchFamily="34" charset="-122"/>
                <a:cs typeface="Arial" pitchFamily="34" charset="-120"/>
              </a:rPr>
              <a:t>העברת קבצים עכשיו</a:t>
            </a:r>
            <a:endParaRPr lang="he-IL" sz="1600" dirty="0"/>
          </a:p>
        </p:txBody>
      </p:sp>
      <p:sp>
        <p:nvSpPr>
          <p:cNvPr id="23" name="Text 21"/>
          <p:cNvSpPr txBox="1"/>
          <p:nvPr/>
        </p:nvSpPr>
        <p:spPr>
          <a:xfrm>
            <a:off x="731520" y="4498848"/>
            <a:ext cx="5029200" cy="1188720"/>
          </a:xfrm>
          <a:prstGeom prst="rect">
            <a:avLst/>
          </a:prstGeom>
          <a:noFill/>
          <a:ln/>
        </p:spPr>
        <p:txBody>
          <a:bodyPr wrap="square" lIns="0" tIns="0" rIns="0" bIns="0" rtlCol="0" anchor="t"/>
          <a:lstStyle/>
          <a:p>
            <a:pPr rtl="1" algn="r" indent="0" marL="0">
              <a:buNone/>
            </a:pPr>
            <a:r>
              <a:rPr lang="he-IL" altLang="en-US" sz="1300" dirty="0">
                <a:solidFill>
                  <a:srgbClr val="5D6F7A"/>
                </a:solidFill>
                <a:latin typeface="Arial" pitchFamily="34" charset="0"/>
                <a:ea typeface="Arial" pitchFamily="34" charset="-122"/>
                <a:cs typeface="Arial" pitchFamily="34" charset="-120"/>
              </a:rPr>
              <a:t>מריץ מיד את שירות ה-DMS שמעביר קבצים לפי הסטטוס, עם דוח.</a:t>
            </a:r>
            <a:endParaRPr lang="he-IL"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DMS pilot and user training</dc:title>
  <dc:subject>PptxGenJS Presentation</dc:subject>
  <dc:creator>PptxGenJS</dc:creator>
  <cp:lastModifiedBy>PptxGenJS</cp:lastModifiedBy>
  <cp:revision>1</cp:revision>
  <dcterms:created xsi:type="dcterms:W3CDTF">2026-10-03T14:14:35Z</dcterms:created>
  <dcterms:modified xsi:type="dcterms:W3CDTF">2026-10-03T14:14:35Z</dcterms:modified>
</cp:coreProperties>
</file>